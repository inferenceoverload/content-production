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4630400" cy="8229600"/>
  <p:notesSz cx="8229600" cy="14630400"/>
  <p:embeddedFontLst>
    <p:embeddedFont>
      <p:font typeface="Brygada 1918"/>
      <p:regular r:id="rId23"/>
    </p:embeddedFont>
    <p:embeddedFont>
      <p:font typeface="Brygada 1918"/>
      <p:regular r:id="rId24"/>
    </p:embeddedFont>
    <p:embeddedFont>
      <p:font typeface="Brygada 1918"/>
      <p:regular r:id="rId25"/>
    </p:embeddedFont>
    <p:embeddedFont>
      <p:font typeface="Brygada 1918"/>
      <p:regular r:id="rId26"/>
    </p:embeddedFont>
    <p:embeddedFont>
      <p:font typeface="Montserrat Medium"/>
      <p:regular r:id="rId27"/>
    </p:embeddedFont>
    <p:embeddedFont>
      <p:font typeface="Montserrat Medium"/>
      <p:regular r:id="rId28"/>
    </p:embeddedFont>
    <p:embeddedFont>
      <p:font typeface="Montserrat Medium"/>
      <p:regular r:id="rId29"/>
    </p:embeddedFont>
    <p:embeddedFont>
      <p:font typeface="Montserrat Medium"/>
      <p:regular r:id="rId3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 Id="rId27" Type="http://schemas.openxmlformats.org/officeDocument/2006/relationships/font" Target="fonts/font5.fntdata"/><Relationship Id="rId28" Type="http://schemas.openxmlformats.org/officeDocument/2006/relationships/font" Target="fonts/font6.fntdata"/><Relationship Id="rId29" Type="http://schemas.openxmlformats.org/officeDocument/2006/relationships/font" Target="fonts/font7.fntdata"/><Relationship Id="rId3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421424"/>
          </a:solidFill>
          <a:ln/>
        </p:spPr>
      </p:sp>
      <p:sp>
        <p:nvSpPr>
          <p:cNvPr id="3" name="Shape 1"/>
          <p:cNvSpPr/>
          <p:nvPr/>
        </p:nvSpPr>
        <p:spPr>
          <a:xfrm>
            <a:off x="0" y="0"/>
            <a:ext cx="14630400" cy="8229600"/>
          </a:xfrm>
          <a:prstGeom prst="rect">
            <a:avLst/>
          </a:prstGeom>
          <a:solidFill>
            <a:srgbClr val="5C2438"/>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7.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6.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7.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5660" y="3200043"/>
            <a:ext cx="7645479" cy="1248966"/>
          </a:xfrm>
          <a:prstGeom prst="rect">
            <a:avLst/>
          </a:prstGeom>
          <a:noFill/>
          <a:ln/>
        </p:spPr>
        <p:txBody>
          <a:bodyPr wrap="square" lIns="0" tIns="0" rIns="0" bIns="0" rtlCol="0" anchor="t"/>
          <a:lstStyle/>
          <a:p>
            <a:pPr algn="l" indent="0" marL="0">
              <a:lnSpc>
                <a:spcPts val="4900"/>
              </a:lnSpc>
              <a:buNone/>
            </a:pPr>
            <a:r>
              <a:rPr lang="en-US" sz="3900" b="1" dirty="0">
                <a:solidFill>
                  <a:srgbClr val="FFB393"/>
                </a:solidFill>
                <a:latin typeface="Brygada 1918 Bold" pitchFamily="34" charset="0"/>
                <a:ea typeface="Brygada 1918 Bold" pitchFamily="34" charset="-122"/>
                <a:cs typeface="Brygada 1918 Bold" pitchFamily="34" charset="-120"/>
              </a:rPr>
              <a:t>EDS AI Data Platform: Technical Architecture</a:t>
            </a:r>
            <a:endParaRPr lang="en-US" sz="3900" dirty="0"/>
          </a:p>
        </p:txBody>
      </p:sp>
      <p:sp>
        <p:nvSpPr>
          <p:cNvPr id="4" name="Text 1"/>
          <p:cNvSpPr/>
          <p:nvPr/>
        </p:nvSpPr>
        <p:spPr>
          <a:xfrm>
            <a:off x="6235660" y="4729996"/>
            <a:ext cx="7645479" cy="299561"/>
          </a:xfrm>
          <a:prstGeom prst="rect">
            <a:avLst/>
          </a:prstGeom>
          <a:noFill/>
          <a:ln/>
        </p:spPr>
        <p:txBody>
          <a:bodyPr wrap="none" lIns="0" tIns="0" rIns="0" bIns="0" rtlCol="0" anchor="t"/>
          <a:lstStyle/>
          <a:p>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Implementation Details and Operational Design</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9260" y="1443871"/>
            <a:ext cx="7779782" cy="624483"/>
          </a:xfrm>
          <a:prstGeom prst="rect">
            <a:avLst/>
          </a:prstGeom>
          <a:noFill/>
          <a:ln/>
        </p:spPr>
        <p:txBody>
          <a:bodyPr wrap="none" lIns="0" tIns="0" rIns="0" bIns="0" rtlCol="0" anchor="t"/>
          <a:lstStyle/>
          <a:p>
            <a:pPr algn="l" indent="0" marL="0">
              <a:lnSpc>
                <a:spcPts val="4900"/>
              </a:lnSpc>
              <a:buNone/>
            </a:pPr>
            <a:r>
              <a:rPr lang="en-US" sz="3900" b="1" dirty="0">
                <a:solidFill>
                  <a:srgbClr val="FFB393"/>
                </a:solidFill>
                <a:latin typeface="Brygada 1918 Bold" pitchFamily="34" charset="0"/>
                <a:ea typeface="Brygada 1918 Bold" pitchFamily="34" charset="-122"/>
                <a:cs typeface="Brygada 1918 Bold" pitchFamily="34" charset="-120"/>
              </a:rPr>
              <a:t>Complete Platform Architecture</a:t>
            </a:r>
            <a:endParaRPr lang="en-US" sz="3900" dirty="0"/>
          </a:p>
        </p:txBody>
      </p:sp>
      <p:sp>
        <p:nvSpPr>
          <p:cNvPr id="3" name="Text 1"/>
          <p:cNvSpPr/>
          <p:nvPr/>
        </p:nvSpPr>
        <p:spPr>
          <a:xfrm>
            <a:off x="749260" y="2442924"/>
            <a:ext cx="13131879" cy="599123"/>
          </a:xfrm>
          <a:prstGeom prst="rect">
            <a:avLst/>
          </a:prstGeom>
          <a:noFill/>
          <a:ln/>
        </p:spPr>
        <p:txBody>
          <a:bodyPr wrap="square" lIns="0" tIns="0" rIns="0" bIns="0" rtlCol="0" anchor="t"/>
          <a:lstStyle/>
          <a:p>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Our comprehensive architecture spans AWS and GCP, enabling seamless cross-cloud data processing and AI consumption. The platform orchestrates structured and unstructured data through sophisticated event-driven workflows.</a:t>
            </a:r>
            <a:endParaRPr lang="en-US" sz="1450" dirty="0"/>
          </a:p>
        </p:txBody>
      </p:sp>
      <p:sp>
        <p:nvSpPr>
          <p:cNvPr id="4" name="Shape 2"/>
          <p:cNvSpPr/>
          <p:nvPr/>
        </p:nvSpPr>
        <p:spPr>
          <a:xfrm>
            <a:off x="749260" y="3252787"/>
            <a:ext cx="4252436" cy="3532823"/>
          </a:xfrm>
          <a:prstGeom prst="roundRect">
            <a:avLst>
              <a:gd name="adj" fmla="val 795"/>
            </a:avLst>
          </a:prstGeom>
          <a:solidFill>
            <a:srgbClr val="4D1529"/>
          </a:solidFill>
          <a:ln/>
        </p:spPr>
      </p:sp>
      <p:sp>
        <p:nvSpPr>
          <p:cNvPr id="5" name="Text 3"/>
          <p:cNvSpPr/>
          <p:nvPr/>
        </p:nvSpPr>
        <p:spPr>
          <a:xfrm>
            <a:off x="936546" y="3440073"/>
            <a:ext cx="2636044" cy="312182"/>
          </a:xfrm>
          <a:prstGeom prst="rect">
            <a:avLst/>
          </a:prstGeom>
          <a:noFill/>
          <a:ln/>
        </p:spPr>
        <p:txBody>
          <a:bodyPr wrap="none" lIns="0" tIns="0" rIns="0" bIns="0" rtlCol="0" anchor="t"/>
          <a:lstStyle/>
          <a:p>
            <a:pPr algn="l" indent="0" marL="0">
              <a:lnSpc>
                <a:spcPts val="2450"/>
              </a:lnSpc>
              <a:buNone/>
            </a:pPr>
            <a:r>
              <a:rPr lang="en-US" sz="1950" b="1" dirty="0">
                <a:solidFill>
                  <a:srgbClr val="F4CAB8"/>
                </a:solidFill>
                <a:latin typeface="Brygada 1918 Bold" pitchFamily="34" charset="0"/>
                <a:ea typeface="Brygada 1918 Bold" pitchFamily="34" charset="-122"/>
                <a:cs typeface="Brygada 1918 Bold" pitchFamily="34" charset="-120"/>
              </a:rPr>
              <a:t>Source Systems (AWS)</a:t>
            </a:r>
            <a:endParaRPr lang="en-US" sz="1950" dirty="0"/>
          </a:p>
        </p:txBody>
      </p:sp>
      <p:sp>
        <p:nvSpPr>
          <p:cNvPr id="6" name="Text 4"/>
          <p:cNvSpPr/>
          <p:nvPr/>
        </p:nvSpPr>
        <p:spPr>
          <a:xfrm>
            <a:off x="936546" y="3864650"/>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Snowflake:</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Structured data including claims, policies, and customer records</a:t>
            </a:r>
            <a:endParaRPr lang="en-US" sz="1450" dirty="0"/>
          </a:p>
        </p:txBody>
      </p:sp>
      <p:sp>
        <p:nvSpPr>
          <p:cNvPr id="7" name="Text 5"/>
          <p:cNvSpPr/>
          <p:nvPr/>
        </p:nvSpPr>
        <p:spPr>
          <a:xfrm>
            <a:off x="936546" y="4576167"/>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S3:</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Document repository containing 20M+ files requiring AI processing</a:t>
            </a:r>
            <a:endParaRPr lang="en-US" sz="1450" dirty="0"/>
          </a:p>
        </p:txBody>
      </p:sp>
      <p:sp>
        <p:nvSpPr>
          <p:cNvPr id="8" name="Shape 6"/>
          <p:cNvSpPr/>
          <p:nvPr/>
        </p:nvSpPr>
        <p:spPr>
          <a:xfrm>
            <a:off x="5188982" y="3252787"/>
            <a:ext cx="4252436" cy="3532823"/>
          </a:xfrm>
          <a:prstGeom prst="roundRect">
            <a:avLst>
              <a:gd name="adj" fmla="val 795"/>
            </a:avLst>
          </a:prstGeom>
          <a:solidFill>
            <a:srgbClr val="4D1529"/>
          </a:solidFill>
          <a:ln/>
        </p:spPr>
      </p:sp>
      <p:sp>
        <p:nvSpPr>
          <p:cNvPr id="9" name="Text 7"/>
          <p:cNvSpPr/>
          <p:nvPr/>
        </p:nvSpPr>
        <p:spPr>
          <a:xfrm>
            <a:off x="5376267" y="3440073"/>
            <a:ext cx="2497812" cy="312182"/>
          </a:xfrm>
          <a:prstGeom prst="rect">
            <a:avLst/>
          </a:prstGeom>
          <a:noFill/>
          <a:ln/>
        </p:spPr>
        <p:txBody>
          <a:bodyPr wrap="none" lIns="0" tIns="0" rIns="0" bIns="0" rtlCol="0" anchor="t"/>
          <a:lstStyle/>
          <a:p>
            <a:pPr algn="l" indent="0" marL="0">
              <a:lnSpc>
                <a:spcPts val="2450"/>
              </a:lnSpc>
              <a:buNone/>
            </a:pPr>
            <a:r>
              <a:rPr lang="en-US" sz="1950" b="1" dirty="0">
                <a:solidFill>
                  <a:srgbClr val="F4CAB8"/>
                </a:solidFill>
                <a:latin typeface="Brygada 1918 Bold" pitchFamily="34" charset="0"/>
                <a:ea typeface="Brygada 1918 Bold" pitchFamily="34" charset="-122"/>
                <a:cs typeface="Brygada 1918 Bold" pitchFamily="34" charset="-120"/>
              </a:rPr>
              <a:t>EDS Platform Layer</a:t>
            </a:r>
            <a:endParaRPr lang="en-US" sz="1950" dirty="0"/>
          </a:p>
        </p:txBody>
      </p:sp>
      <p:sp>
        <p:nvSpPr>
          <p:cNvPr id="10" name="Text 8"/>
          <p:cNvSpPr/>
          <p:nvPr/>
        </p:nvSpPr>
        <p:spPr>
          <a:xfrm>
            <a:off x="5376267" y="3864650"/>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Event Detection:</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S3 events routed cross-cloud to GCP via EventBridge</a:t>
            </a:r>
            <a:endParaRPr lang="en-US" sz="1450" dirty="0"/>
          </a:p>
        </p:txBody>
      </p:sp>
      <p:sp>
        <p:nvSpPr>
          <p:cNvPr id="11" name="Text 9"/>
          <p:cNvSpPr/>
          <p:nvPr/>
        </p:nvSpPr>
        <p:spPr>
          <a:xfrm>
            <a:off x="5376267" y="4576167"/>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Document Processor:</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OCR, quality validation, and intelligent evaluation</a:t>
            </a:r>
            <a:endParaRPr lang="en-US" sz="1450" dirty="0"/>
          </a:p>
        </p:txBody>
      </p:sp>
      <p:sp>
        <p:nvSpPr>
          <p:cNvPr id="12" name="Text 10"/>
          <p:cNvSpPr/>
          <p:nvPr/>
        </p:nvSpPr>
        <p:spPr>
          <a:xfrm>
            <a:off x="5376267" y="5287685"/>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Lifecycle Manager:</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Automated tier transitions and retention policies</a:t>
            </a:r>
            <a:endParaRPr lang="en-US" sz="1450" dirty="0"/>
          </a:p>
        </p:txBody>
      </p:sp>
      <p:sp>
        <p:nvSpPr>
          <p:cNvPr id="13" name="Text 11"/>
          <p:cNvSpPr/>
          <p:nvPr/>
        </p:nvSpPr>
        <p:spPr>
          <a:xfrm>
            <a:off x="5376267" y="5999202"/>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Access Controller:</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Template-based IAM automation and security</a:t>
            </a:r>
            <a:endParaRPr lang="en-US" sz="1450" dirty="0"/>
          </a:p>
        </p:txBody>
      </p:sp>
      <p:sp>
        <p:nvSpPr>
          <p:cNvPr id="14" name="Shape 12"/>
          <p:cNvSpPr/>
          <p:nvPr/>
        </p:nvSpPr>
        <p:spPr>
          <a:xfrm>
            <a:off x="9628703" y="3252787"/>
            <a:ext cx="4252436" cy="3532823"/>
          </a:xfrm>
          <a:prstGeom prst="roundRect">
            <a:avLst>
              <a:gd name="adj" fmla="val 795"/>
            </a:avLst>
          </a:prstGeom>
          <a:solidFill>
            <a:srgbClr val="4D1529"/>
          </a:solidFill>
          <a:ln/>
        </p:spPr>
      </p:sp>
      <p:sp>
        <p:nvSpPr>
          <p:cNvPr id="15" name="Text 13"/>
          <p:cNvSpPr/>
          <p:nvPr/>
        </p:nvSpPr>
        <p:spPr>
          <a:xfrm>
            <a:off x="9815989" y="3440073"/>
            <a:ext cx="2497812" cy="312182"/>
          </a:xfrm>
          <a:prstGeom prst="rect">
            <a:avLst/>
          </a:prstGeom>
          <a:noFill/>
          <a:ln/>
        </p:spPr>
        <p:txBody>
          <a:bodyPr wrap="none" lIns="0" tIns="0" rIns="0" bIns="0" rtlCol="0" anchor="t"/>
          <a:lstStyle/>
          <a:p>
            <a:pPr algn="l" indent="0" marL="0">
              <a:lnSpc>
                <a:spcPts val="2450"/>
              </a:lnSpc>
              <a:buNone/>
            </a:pPr>
            <a:r>
              <a:rPr lang="en-US" sz="1950" b="1" dirty="0">
                <a:solidFill>
                  <a:srgbClr val="F4CAB8"/>
                </a:solidFill>
                <a:latin typeface="Brygada 1918 Bold" pitchFamily="34" charset="0"/>
                <a:ea typeface="Brygada 1918 Bold" pitchFamily="34" charset="-122"/>
                <a:cs typeface="Brygada 1918 Bold" pitchFamily="34" charset="-120"/>
              </a:rPr>
              <a:t>GCP Data Layer</a:t>
            </a:r>
            <a:endParaRPr lang="en-US" sz="1950" dirty="0"/>
          </a:p>
        </p:txBody>
      </p:sp>
      <p:sp>
        <p:nvSpPr>
          <p:cNvPr id="16" name="Text 14"/>
          <p:cNvSpPr/>
          <p:nvPr/>
        </p:nvSpPr>
        <p:spPr>
          <a:xfrm>
            <a:off x="9815989" y="3864650"/>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Snowflake Replica:</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Near real-time structured data replication</a:t>
            </a:r>
            <a:endParaRPr lang="en-US" sz="1450" dirty="0"/>
          </a:p>
        </p:txBody>
      </p:sp>
      <p:sp>
        <p:nvSpPr>
          <p:cNvPr id="17" name="Text 15"/>
          <p:cNvSpPr/>
          <p:nvPr/>
        </p:nvSpPr>
        <p:spPr>
          <a:xfrm>
            <a:off x="9815989" y="4576167"/>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Vertex AI Search:</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Multiple tiered data stores for document intelligence</a:t>
            </a:r>
            <a:endParaRPr lang="en-US" sz="1450" dirty="0"/>
          </a:p>
        </p:txBody>
      </p:sp>
      <p:sp>
        <p:nvSpPr>
          <p:cNvPr id="18" name="Text 16"/>
          <p:cNvSpPr/>
          <p:nvPr/>
        </p:nvSpPr>
        <p:spPr>
          <a:xfrm>
            <a:off x="9815989" y="5287685"/>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BigQuery:</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Metadata, reference data, and comprehensive audit logs</a:t>
            </a:r>
            <a:endParaRPr lang="en-US" sz="1450" dirty="0"/>
          </a:p>
        </p:txBody>
      </p:sp>
      <p:sp>
        <p:nvSpPr>
          <p:cNvPr id="19" name="Text 17"/>
          <p:cNvSpPr/>
          <p:nvPr/>
        </p:nvSpPr>
        <p:spPr>
          <a:xfrm>
            <a:off x="9815989" y="5999202"/>
            <a:ext cx="3877866" cy="599123"/>
          </a:xfrm>
          <a:prstGeom prst="rect">
            <a:avLst/>
          </a:prstGeom>
          <a:noFill/>
          <a:ln/>
        </p:spPr>
        <p:txBody>
          <a:bodyPr wrap="square" lIns="0" tIns="0" rIns="0" bIns="0" rtlCol="0" anchor="t"/>
          <a:lstStyle/>
          <a:p>
            <a:pPr algn="l" indent="0" marL="0">
              <a:lnSpc>
                <a:spcPts val="2350"/>
              </a:lnSpc>
              <a:buNone/>
            </a:pPr>
            <a:r>
              <a:rPr lang="en-US" sz="1450" b="1" dirty="0">
                <a:solidFill>
                  <a:srgbClr val="F4CAB8"/>
                </a:solidFill>
                <a:latin typeface="Montserrat Medium" pitchFamily="34" charset="0"/>
                <a:ea typeface="Montserrat Medium" pitchFamily="34" charset="-122"/>
                <a:cs typeface="Montserrat Medium" pitchFamily="34" charset="-120"/>
              </a:rPr>
              <a:t>Cloud Storage:</a:t>
            </a:r>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 Processing workspace and long-term archives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1039" y="612458"/>
            <a:ext cx="6955512" cy="575905"/>
          </a:xfrm>
          <a:prstGeom prst="rect">
            <a:avLst/>
          </a:prstGeom>
          <a:noFill/>
          <a:ln/>
        </p:spPr>
        <p:txBody>
          <a:bodyPr wrap="none" lIns="0" tIns="0" rIns="0" bIns="0" rtlCol="0" anchor="t"/>
          <a:lstStyle/>
          <a:p>
            <a:pPr algn="l" indent="0" marL="0">
              <a:lnSpc>
                <a:spcPts val="4500"/>
              </a:lnSpc>
              <a:buNone/>
            </a:pPr>
            <a:r>
              <a:rPr lang="en-US" sz="3600" b="1" dirty="0">
                <a:solidFill>
                  <a:srgbClr val="FFB393"/>
                </a:solidFill>
                <a:latin typeface="Brygada 1918 Bold" pitchFamily="34" charset="0"/>
                <a:ea typeface="Brygada 1918 Bold" pitchFamily="34" charset="-122"/>
                <a:cs typeface="Brygada 1918 Bold" pitchFamily="34" charset="-120"/>
              </a:rPr>
              <a:t>Snowflake Replication Strategy</a:t>
            </a:r>
            <a:endParaRPr lang="en-US" sz="3600" dirty="0"/>
          </a:p>
        </p:txBody>
      </p:sp>
      <p:sp>
        <p:nvSpPr>
          <p:cNvPr id="3" name="Text 1"/>
          <p:cNvSpPr/>
          <p:nvPr/>
        </p:nvSpPr>
        <p:spPr>
          <a:xfrm>
            <a:off x="691039" y="1533882"/>
            <a:ext cx="13248323" cy="829032"/>
          </a:xfrm>
          <a:prstGeom prst="rect">
            <a:avLst/>
          </a:prstGeom>
          <a:noFill/>
          <a:ln/>
        </p:spPr>
        <p:txBody>
          <a:bodyPr wrap="square" lIns="0" tIns="0" rIns="0" bIns="0" rtlCol="0" anchor="t"/>
          <a:lstStyle/>
          <a:p>
            <a:pPr algn="l" indent="0" marL="0">
              <a:lnSpc>
                <a:spcPts val="2150"/>
              </a:lnSpc>
              <a:buNone/>
            </a:pPr>
            <a:r>
              <a:rPr lang="en-US" sz="1350" dirty="0">
                <a:solidFill>
                  <a:srgbClr val="F4CAB8"/>
                </a:solidFill>
                <a:latin typeface="Montserrat Medium" pitchFamily="34" charset="0"/>
                <a:ea typeface="Montserrat Medium" pitchFamily="34" charset="-122"/>
                <a:cs typeface="Montserrat Medium" pitchFamily="34" charset="-120"/>
              </a:rPr>
              <a:t>Following Google Professional Services recommendations, our Phase 1 approach leverages Snowflake's native replication capabilities to establish reliable, low-latency data availability in GCP for immediate data enablement. This proven solution enables rapid implementation while maintaining enterprise-grade reliability, allowing for a gradual transition to a dual-platform strategy.</a:t>
            </a:r>
            <a:endParaRPr lang="en-US" sz="1350" dirty="0"/>
          </a:p>
        </p:txBody>
      </p:sp>
      <p:sp>
        <p:nvSpPr>
          <p:cNvPr id="4" name="Text 2"/>
          <p:cNvSpPr/>
          <p:nvPr/>
        </p:nvSpPr>
        <p:spPr>
          <a:xfrm>
            <a:off x="691039" y="2557224"/>
            <a:ext cx="172760" cy="215860"/>
          </a:xfrm>
          <a:prstGeom prst="rect">
            <a:avLst/>
          </a:prstGeom>
          <a:noFill/>
          <a:ln/>
        </p:spPr>
        <p:txBody>
          <a:bodyPr wrap="none" lIns="0" tIns="0" rIns="0" bIns="0" rtlCol="0" anchor="t"/>
          <a:lstStyle/>
          <a:p>
            <a:pPr algn="l" indent="0" marL="0">
              <a:lnSpc>
                <a:spcPts val="2150"/>
              </a:lnSpc>
              <a:buNone/>
            </a:pPr>
            <a:r>
              <a:rPr lang="en-US" sz="1350" dirty="0">
                <a:solidFill>
                  <a:srgbClr val="F4CAB8"/>
                </a:solidFill>
                <a:latin typeface="Brygada 1918 Light" pitchFamily="34" charset="0"/>
                <a:ea typeface="Brygada 1918 Light" pitchFamily="34" charset="-122"/>
                <a:cs typeface="Brygada 1918 Light" pitchFamily="34" charset="-120"/>
              </a:rPr>
              <a:t>01</a:t>
            </a:r>
            <a:endParaRPr lang="en-US" sz="1350" dirty="0"/>
          </a:p>
        </p:txBody>
      </p:sp>
      <p:sp>
        <p:nvSpPr>
          <p:cNvPr id="5" name="Shape 3"/>
          <p:cNvSpPr/>
          <p:nvPr/>
        </p:nvSpPr>
        <p:spPr>
          <a:xfrm>
            <a:off x="691039" y="2827853"/>
            <a:ext cx="6537722" cy="22860"/>
          </a:xfrm>
          <a:prstGeom prst="rect">
            <a:avLst/>
          </a:prstGeom>
          <a:solidFill>
            <a:srgbClr val="FFB393"/>
          </a:solidFill>
          <a:ln/>
        </p:spPr>
      </p:sp>
      <p:sp>
        <p:nvSpPr>
          <p:cNvPr id="6" name="Text 4"/>
          <p:cNvSpPr/>
          <p:nvPr/>
        </p:nvSpPr>
        <p:spPr>
          <a:xfrm>
            <a:off x="691039" y="2959894"/>
            <a:ext cx="2736771" cy="287893"/>
          </a:xfrm>
          <a:prstGeom prst="rect">
            <a:avLst/>
          </a:prstGeom>
          <a:noFill/>
          <a:ln/>
        </p:spPr>
        <p:txBody>
          <a:bodyPr wrap="none" lIns="0" tIns="0" rIns="0" bIns="0" rtlCol="0" anchor="t"/>
          <a:lstStyle/>
          <a:p>
            <a:pPr algn="l" indent="0" marL="0">
              <a:lnSpc>
                <a:spcPts val="2250"/>
              </a:lnSpc>
              <a:buNone/>
            </a:pPr>
            <a:r>
              <a:rPr lang="en-US" sz="1800" b="1" dirty="0">
                <a:solidFill>
                  <a:srgbClr val="F4CAB8"/>
                </a:solidFill>
                <a:latin typeface="Brygada 1918 Bold" pitchFamily="34" charset="0"/>
                <a:ea typeface="Brygada 1918 Bold" pitchFamily="34" charset="-122"/>
                <a:cs typeface="Brygada 1918 Bold" pitchFamily="34" charset="-120"/>
              </a:rPr>
              <a:t>Native Replication Setup</a:t>
            </a:r>
            <a:endParaRPr lang="en-US" sz="1800" dirty="0"/>
          </a:p>
        </p:txBody>
      </p:sp>
      <p:sp>
        <p:nvSpPr>
          <p:cNvPr id="7" name="Text 5"/>
          <p:cNvSpPr/>
          <p:nvPr/>
        </p:nvSpPr>
        <p:spPr>
          <a:xfrm>
            <a:off x="691039" y="3351371"/>
            <a:ext cx="6537722" cy="1381720"/>
          </a:xfrm>
          <a:prstGeom prst="rect">
            <a:avLst/>
          </a:prstGeom>
          <a:noFill/>
          <a:ln/>
        </p:spPr>
        <p:txBody>
          <a:bodyPr wrap="square" lIns="0" tIns="0" rIns="0" bIns="0" rtlCol="0" anchor="t"/>
          <a:lstStyle/>
          <a:p>
            <a:pPr algn="l" indent="0" marL="0">
              <a:lnSpc>
                <a:spcPts val="2150"/>
              </a:lnSpc>
              <a:buNone/>
            </a:pPr>
            <a:r>
              <a:rPr lang="en-US" sz="1350" dirty="0">
                <a:solidFill>
                  <a:srgbClr val="F4CAB8"/>
                </a:solidFill>
                <a:latin typeface="Montserrat Medium" pitchFamily="34" charset="0"/>
                <a:ea typeface="Montserrat Medium" pitchFamily="34" charset="-122"/>
                <a:cs typeface="Montserrat Medium" pitchFamily="34" charset="-120"/>
              </a:rPr>
              <a:t>As recommended by Google Professional Services, Snowflake's built-in database replication feature provides continuous AWS → GCP synchronization with sub-5-minute lag. This is fully managed by Snowflake infrastructure, not EDS resources, aligning with the strategy for immediate data enablement.</a:t>
            </a:r>
            <a:endParaRPr lang="en-US" sz="1350" dirty="0"/>
          </a:p>
        </p:txBody>
      </p:sp>
      <p:sp>
        <p:nvSpPr>
          <p:cNvPr id="8" name="Text 6"/>
          <p:cNvSpPr/>
          <p:nvPr/>
        </p:nvSpPr>
        <p:spPr>
          <a:xfrm>
            <a:off x="7401520" y="2557224"/>
            <a:ext cx="172760" cy="215860"/>
          </a:xfrm>
          <a:prstGeom prst="rect">
            <a:avLst/>
          </a:prstGeom>
          <a:noFill/>
          <a:ln/>
        </p:spPr>
        <p:txBody>
          <a:bodyPr wrap="none" lIns="0" tIns="0" rIns="0" bIns="0" rtlCol="0" anchor="t"/>
          <a:lstStyle/>
          <a:p>
            <a:pPr algn="l" indent="0" marL="0">
              <a:lnSpc>
                <a:spcPts val="2150"/>
              </a:lnSpc>
              <a:buNone/>
            </a:pPr>
            <a:r>
              <a:rPr lang="en-US" sz="1350" dirty="0">
                <a:solidFill>
                  <a:srgbClr val="F4CAB8"/>
                </a:solidFill>
                <a:latin typeface="Brygada 1918 Light" pitchFamily="34" charset="0"/>
                <a:ea typeface="Brygada 1918 Light" pitchFamily="34" charset="-122"/>
                <a:cs typeface="Brygada 1918 Light" pitchFamily="34" charset="-120"/>
              </a:rPr>
              <a:t>02</a:t>
            </a:r>
            <a:endParaRPr lang="en-US" sz="1350" dirty="0"/>
          </a:p>
        </p:txBody>
      </p:sp>
      <p:sp>
        <p:nvSpPr>
          <p:cNvPr id="9" name="Shape 7"/>
          <p:cNvSpPr/>
          <p:nvPr/>
        </p:nvSpPr>
        <p:spPr>
          <a:xfrm>
            <a:off x="7401520" y="2827853"/>
            <a:ext cx="6537841" cy="22860"/>
          </a:xfrm>
          <a:prstGeom prst="rect">
            <a:avLst/>
          </a:prstGeom>
          <a:solidFill>
            <a:srgbClr val="FFB393"/>
          </a:solidFill>
          <a:ln/>
        </p:spPr>
      </p:sp>
      <p:sp>
        <p:nvSpPr>
          <p:cNvPr id="10" name="Text 8"/>
          <p:cNvSpPr/>
          <p:nvPr/>
        </p:nvSpPr>
        <p:spPr>
          <a:xfrm>
            <a:off x="7401520" y="2959894"/>
            <a:ext cx="2303740" cy="287893"/>
          </a:xfrm>
          <a:prstGeom prst="rect">
            <a:avLst/>
          </a:prstGeom>
          <a:noFill/>
          <a:ln/>
        </p:spPr>
        <p:txBody>
          <a:bodyPr wrap="none" lIns="0" tIns="0" rIns="0" bIns="0" rtlCol="0" anchor="t"/>
          <a:lstStyle/>
          <a:p>
            <a:pPr algn="l" indent="0" marL="0">
              <a:lnSpc>
                <a:spcPts val="2250"/>
              </a:lnSpc>
              <a:buNone/>
            </a:pPr>
            <a:r>
              <a:rPr lang="en-US" sz="1800" b="1" dirty="0">
                <a:solidFill>
                  <a:srgbClr val="F4CAB8"/>
                </a:solidFill>
                <a:latin typeface="Brygada 1918 Bold" pitchFamily="34" charset="0"/>
                <a:ea typeface="Brygada 1918 Bold" pitchFamily="34" charset="-122"/>
                <a:cs typeface="Brygada 1918 Bold" pitchFamily="34" charset="-120"/>
              </a:rPr>
              <a:t>EDS Monitoring Role</a:t>
            </a:r>
            <a:endParaRPr lang="en-US" sz="1800" dirty="0"/>
          </a:p>
        </p:txBody>
      </p:sp>
      <p:sp>
        <p:nvSpPr>
          <p:cNvPr id="11" name="Text 9"/>
          <p:cNvSpPr/>
          <p:nvPr/>
        </p:nvSpPr>
        <p:spPr>
          <a:xfrm>
            <a:off x="7401520" y="3351371"/>
            <a:ext cx="6537841" cy="1105376"/>
          </a:xfrm>
          <a:prstGeom prst="rect">
            <a:avLst/>
          </a:prstGeom>
          <a:noFill/>
          <a:ln/>
        </p:spPr>
        <p:txBody>
          <a:bodyPr wrap="square" lIns="0" tIns="0" rIns="0" bIns="0" rtlCol="0" anchor="t"/>
          <a:lstStyle/>
          <a:p>
            <a:pPr algn="l" indent="0" marL="0">
              <a:lnSpc>
                <a:spcPts val="2150"/>
              </a:lnSpc>
              <a:buNone/>
            </a:pPr>
            <a:r>
              <a:rPr lang="en-US" sz="1350" dirty="0">
                <a:solidFill>
                  <a:srgbClr val="F4CAB8"/>
                </a:solidFill>
                <a:latin typeface="Montserrat Medium" pitchFamily="34" charset="0"/>
                <a:ea typeface="Montserrat Medium" pitchFamily="34" charset="-122"/>
                <a:cs typeface="Montserrat Medium" pitchFamily="34" charset="-120"/>
              </a:rPr>
              <a:t>EDS fulfills a monitoring role, overseeing replication lag, controlling access permissions, and creating curated views as needed, in line with Google PS guidance. Our focus remains on document intelligence rather than the complexity of data synchronization.</a:t>
            </a:r>
            <a:endParaRPr lang="en-US" sz="1350" dirty="0"/>
          </a:p>
        </p:txBody>
      </p:sp>
      <p:sp>
        <p:nvSpPr>
          <p:cNvPr id="12" name="Text 10"/>
          <p:cNvSpPr/>
          <p:nvPr/>
        </p:nvSpPr>
        <p:spPr>
          <a:xfrm>
            <a:off x="691039" y="5035391"/>
            <a:ext cx="172760" cy="215860"/>
          </a:xfrm>
          <a:prstGeom prst="rect">
            <a:avLst/>
          </a:prstGeom>
          <a:noFill/>
          <a:ln/>
        </p:spPr>
        <p:txBody>
          <a:bodyPr wrap="none" lIns="0" tIns="0" rIns="0" bIns="0" rtlCol="0" anchor="t"/>
          <a:lstStyle/>
          <a:p>
            <a:pPr algn="l" indent="0" marL="0">
              <a:lnSpc>
                <a:spcPts val="2150"/>
              </a:lnSpc>
              <a:buNone/>
            </a:pPr>
            <a:r>
              <a:rPr lang="en-US" sz="1350" dirty="0">
                <a:solidFill>
                  <a:srgbClr val="F4CAB8"/>
                </a:solidFill>
                <a:latin typeface="Brygada 1918 Light" pitchFamily="34" charset="0"/>
                <a:ea typeface="Brygada 1918 Light" pitchFamily="34" charset="-122"/>
                <a:cs typeface="Brygada 1918 Light" pitchFamily="34" charset="-120"/>
              </a:rPr>
              <a:t>03</a:t>
            </a:r>
            <a:endParaRPr lang="en-US" sz="1350" dirty="0"/>
          </a:p>
        </p:txBody>
      </p:sp>
      <p:sp>
        <p:nvSpPr>
          <p:cNvPr id="13" name="Shape 11"/>
          <p:cNvSpPr/>
          <p:nvPr/>
        </p:nvSpPr>
        <p:spPr>
          <a:xfrm>
            <a:off x="691039" y="5306020"/>
            <a:ext cx="6537722" cy="22860"/>
          </a:xfrm>
          <a:prstGeom prst="rect">
            <a:avLst/>
          </a:prstGeom>
          <a:solidFill>
            <a:srgbClr val="FFB393"/>
          </a:solidFill>
          <a:ln/>
        </p:spPr>
      </p:sp>
      <p:sp>
        <p:nvSpPr>
          <p:cNvPr id="14" name="Text 12"/>
          <p:cNvSpPr/>
          <p:nvPr/>
        </p:nvSpPr>
        <p:spPr>
          <a:xfrm>
            <a:off x="691039" y="5438061"/>
            <a:ext cx="2696289" cy="287893"/>
          </a:xfrm>
          <a:prstGeom prst="rect">
            <a:avLst/>
          </a:prstGeom>
          <a:noFill/>
          <a:ln/>
        </p:spPr>
        <p:txBody>
          <a:bodyPr wrap="none" lIns="0" tIns="0" rIns="0" bIns="0" rtlCol="0" anchor="t"/>
          <a:lstStyle/>
          <a:p>
            <a:pPr algn="l" indent="0" marL="0">
              <a:lnSpc>
                <a:spcPts val="2250"/>
              </a:lnSpc>
              <a:buNone/>
            </a:pPr>
            <a:r>
              <a:rPr lang="en-US" sz="1800" b="1" dirty="0">
                <a:solidFill>
                  <a:srgbClr val="F4CAB8"/>
                </a:solidFill>
                <a:latin typeface="Brygada 1918 Bold" pitchFamily="34" charset="0"/>
                <a:ea typeface="Brygada 1918 Bold" pitchFamily="34" charset="-122"/>
                <a:cs typeface="Brygada 1918 Bold" pitchFamily="34" charset="-120"/>
              </a:rPr>
              <a:t>DS Team Access Options</a:t>
            </a:r>
            <a:endParaRPr lang="en-US" sz="1800" dirty="0"/>
          </a:p>
        </p:txBody>
      </p:sp>
      <p:sp>
        <p:nvSpPr>
          <p:cNvPr id="15" name="Text 13"/>
          <p:cNvSpPr/>
          <p:nvPr/>
        </p:nvSpPr>
        <p:spPr>
          <a:xfrm>
            <a:off x="691039" y="5829538"/>
            <a:ext cx="6537722" cy="1105376"/>
          </a:xfrm>
          <a:prstGeom prst="rect">
            <a:avLst/>
          </a:prstGeom>
          <a:noFill/>
          <a:ln/>
        </p:spPr>
        <p:txBody>
          <a:bodyPr wrap="square" lIns="0" tIns="0" rIns="0" bIns="0" rtlCol="0" anchor="t"/>
          <a:lstStyle/>
          <a:p>
            <a:pPr algn="l" indent="0" marL="0">
              <a:lnSpc>
                <a:spcPts val="2150"/>
              </a:lnSpc>
              <a:buNone/>
            </a:pPr>
            <a:r>
              <a:rPr lang="en-US" sz="1350" dirty="0">
                <a:solidFill>
                  <a:srgbClr val="F4CAB8"/>
                </a:solidFill>
                <a:latin typeface="Montserrat Medium" pitchFamily="34" charset="0"/>
                <a:ea typeface="Montserrat Medium" pitchFamily="34" charset="-122"/>
                <a:cs typeface="Montserrat Medium" pitchFamily="34" charset="-120"/>
              </a:rPr>
              <a:t>As part of the dual-platform strategy endorsed by Google Professional Services, data science teams can query the Snowflake replica directly in GCP or access EDS-curated BigQuery views. This flexible consumption model supports varied analytical workflows.</a:t>
            </a:r>
            <a:endParaRPr lang="en-US" sz="1350" dirty="0"/>
          </a:p>
        </p:txBody>
      </p:sp>
      <p:sp>
        <p:nvSpPr>
          <p:cNvPr id="16" name="Text 14"/>
          <p:cNvSpPr/>
          <p:nvPr/>
        </p:nvSpPr>
        <p:spPr>
          <a:xfrm>
            <a:off x="7401520" y="5035391"/>
            <a:ext cx="172760" cy="215860"/>
          </a:xfrm>
          <a:prstGeom prst="rect">
            <a:avLst/>
          </a:prstGeom>
          <a:noFill/>
          <a:ln/>
        </p:spPr>
        <p:txBody>
          <a:bodyPr wrap="none" lIns="0" tIns="0" rIns="0" bIns="0" rtlCol="0" anchor="t"/>
          <a:lstStyle/>
          <a:p>
            <a:pPr algn="l" indent="0" marL="0">
              <a:lnSpc>
                <a:spcPts val="2150"/>
              </a:lnSpc>
              <a:buNone/>
            </a:pPr>
            <a:r>
              <a:rPr lang="en-US" sz="1350" dirty="0">
                <a:solidFill>
                  <a:srgbClr val="F4CAB8"/>
                </a:solidFill>
                <a:latin typeface="Brygada 1918 Light" pitchFamily="34" charset="0"/>
                <a:ea typeface="Brygada 1918 Light" pitchFamily="34" charset="-122"/>
                <a:cs typeface="Brygada 1918 Light" pitchFamily="34" charset="-120"/>
              </a:rPr>
              <a:t>04</a:t>
            </a:r>
            <a:endParaRPr lang="en-US" sz="1350" dirty="0"/>
          </a:p>
        </p:txBody>
      </p:sp>
      <p:sp>
        <p:nvSpPr>
          <p:cNvPr id="17" name="Shape 15"/>
          <p:cNvSpPr/>
          <p:nvPr/>
        </p:nvSpPr>
        <p:spPr>
          <a:xfrm>
            <a:off x="7401520" y="5306020"/>
            <a:ext cx="6537841" cy="22860"/>
          </a:xfrm>
          <a:prstGeom prst="rect">
            <a:avLst/>
          </a:prstGeom>
          <a:solidFill>
            <a:srgbClr val="FFB393"/>
          </a:solidFill>
          <a:ln/>
        </p:spPr>
      </p:sp>
      <p:sp>
        <p:nvSpPr>
          <p:cNvPr id="18" name="Text 16"/>
          <p:cNvSpPr/>
          <p:nvPr/>
        </p:nvSpPr>
        <p:spPr>
          <a:xfrm>
            <a:off x="7401520" y="5438061"/>
            <a:ext cx="2941439" cy="287893"/>
          </a:xfrm>
          <a:prstGeom prst="rect">
            <a:avLst/>
          </a:prstGeom>
          <a:noFill/>
          <a:ln/>
        </p:spPr>
        <p:txBody>
          <a:bodyPr wrap="none" lIns="0" tIns="0" rIns="0" bIns="0" rtlCol="0" anchor="t"/>
          <a:lstStyle/>
          <a:p>
            <a:pPr algn="l" indent="0" marL="0">
              <a:lnSpc>
                <a:spcPts val="2250"/>
              </a:lnSpc>
              <a:buNone/>
            </a:pPr>
            <a:r>
              <a:rPr lang="en-US" sz="1800" b="1" dirty="0">
                <a:solidFill>
                  <a:srgbClr val="F4CAB8"/>
                </a:solidFill>
                <a:latin typeface="Brygada 1918 Bold" pitchFamily="34" charset="0"/>
                <a:ea typeface="Brygada 1918 Bold" pitchFamily="34" charset="-122"/>
                <a:cs typeface="Brygada 1918 Bold" pitchFamily="34" charset="-120"/>
              </a:rPr>
              <a:t>Phase 2 Strategy Evolution</a:t>
            </a:r>
            <a:endParaRPr lang="en-US" sz="1800" dirty="0"/>
          </a:p>
        </p:txBody>
      </p:sp>
      <p:sp>
        <p:nvSpPr>
          <p:cNvPr id="19" name="Text 17"/>
          <p:cNvSpPr/>
          <p:nvPr/>
        </p:nvSpPr>
        <p:spPr>
          <a:xfrm>
            <a:off x="7401520" y="5829538"/>
            <a:ext cx="6537841" cy="1658064"/>
          </a:xfrm>
          <a:prstGeom prst="rect">
            <a:avLst/>
          </a:prstGeom>
          <a:noFill/>
          <a:ln/>
        </p:spPr>
        <p:txBody>
          <a:bodyPr wrap="square" lIns="0" tIns="0" rIns="0" bIns="0" rtlCol="0" anchor="t"/>
          <a:lstStyle/>
          <a:p>
            <a:pPr algn="l" indent="0" marL="0">
              <a:lnSpc>
                <a:spcPts val="2150"/>
              </a:lnSpc>
              <a:buNone/>
            </a:pPr>
            <a:r>
              <a:rPr lang="en-US" sz="1350" dirty="0">
                <a:solidFill>
                  <a:srgbClr val="F4CAB8"/>
                </a:solidFill>
                <a:latin typeface="Montserrat Medium" pitchFamily="34" charset="0"/>
                <a:ea typeface="Montserrat Medium" pitchFamily="34" charset="-122"/>
                <a:cs typeface="Montserrat Medium" pitchFamily="34" charset="-120"/>
              </a:rPr>
              <a:t>Google Professional Services recommended a Phase 2 strategy evolution: After 6 months of operational data, we will evaluate the BigQuery transition based on cost analysis, performance metrics, and data science team preferences. The recommended options emphasize a hybrid approach, maintaining both Snowflake and BigQuery in parallel, rather than a full migration, to ensure continued data enablement.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1863" y="429339"/>
            <a:ext cx="8456652" cy="518160"/>
          </a:xfrm>
          <a:prstGeom prst="rect">
            <a:avLst/>
          </a:prstGeom>
          <a:noFill/>
          <a:ln/>
        </p:spPr>
        <p:txBody>
          <a:bodyPr wrap="none" lIns="0" tIns="0" rIns="0" bIns="0" rtlCol="0" anchor="t"/>
          <a:lstStyle/>
          <a:p>
            <a:pPr algn="l" indent="0" marL="0">
              <a:lnSpc>
                <a:spcPts val="4050"/>
              </a:lnSpc>
              <a:buNone/>
            </a:pPr>
            <a:r>
              <a:rPr lang="en-US" sz="3250" b="1" dirty="0">
                <a:solidFill>
                  <a:srgbClr val="FFB393"/>
                </a:solidFill>
                <a:latin typeface="Brygada 1918 Bold" pitchFamily="34" charset="0"/>
                <a:ea typeface="Brygada 1918 Bold" pitchFamily="34" charset="-122"/>
                <a:cs typeface="Brygada 1918 Bold" pitchFamily="34" charset="-120"/>
              </a:rPr>
              <a:t>End-to-End Document Processing Pipeline</a:t>
            </a:r>
            <a:endParaRPr lang="en-US" sz="3250" dirty="0"/>
          </a:p>
        </p:txBody>
      </p:sp>
      <p:sp>
        <p:nvSpPr>
          <p:cNvPr id="3" name="Text 1"/>
          <p:cNvSpPr/>
          <p:nvPr/>
        </p:nvSpPr>
        <p:spPr>
          <a:xfrm>
            <a:off x="621863" y="1258372"/>
            <a:ext cx="13386673" cy="497443"/>
          </a:xfrm>
          <a:prstGeom prst="rect">
            <a:avLst/>
          </a:prstGeom>
          <a:noFill/>
          <a:ln/>
        </p:spPr>
        <p:txBody>
          <a:bodyPr wrap="square" lIns="0" tIns="0" rIns="0" bIns="0" rtlCol="0" anchor="t"/>
          <a:lstStyle/>
          <a:p>
            <a:pPr algn="l" indent="0" marL="0">
              <a:lnSpc>
                <a:spcPts val="1950"/>
              </a:lnSpc>
              <a:buNone/>
            </a:pPr>
            <a:r>
              <a:rPr lang="en-US" sz="1200" dirty="0">
                <a:solidFill>
                  <a:srgbClr val="F4CAB8"/>
                </a:solidFill>
                <a:latin typeface="Montserrat Medium" pitchFamily="34" charset="0"/>
                <a:ea typeface="Montserrat Medium" pitchFamily="34" charset="-122"/>
                <a:cs typeface="Montserrat Medium" pitchFamily="34" charset="-120"/>
              </a:rPr>
              <a:t>Our document pipeline transforms raw S3 uploads into AI-ready, searchable content within 5-8 minutes. Each stage employs specific GCP services optimized for performance and reliability at enterprise scale.</a:t>
            </a:r>
            <a:endParaRPr lang="en-US" sz="1200" dirty="0"/>
          </a:p>
        </p:txBody>
      </p:sp>
      <p:sp>
        <p:nvSpPr>
          <p:cNvPr id="4" name="Shape 2"/>
          <p:cNvSpPr/>
          <p:nvPr/>
        </p:nvSpPr>
        <p:spPr>
          <a:xfrm>
            <a:off x="7303770" y="1930718"/>
            <a:ext cx="22860" cy="5445919"/>
          </a:xfrm>
          <a:prstGeom prst="roundRect">
            <a:avLst>
              <a:gd name="adj" fmla="val 102016"/>
            </a:avLst>
          </a:prstGeom>
          <a:solidFill>
            <a:srgbClr val="662E42"/>
          </a:solidFill>
          <a:ln/>
        </p:spPr>
      </p:sp>
      <p:sp>
        <p:nvSpPr>
          <p:cNvPr id="5" name="Shape 3"/>
          <p:cNvSpPr/>
          <p:nvPr/>
        </p:nvSpPr>
        <p:spPr>
          <a:xfrm>
            <a:off x="6696789" y="2094190"/>
            <a:ext cx="466368" cy="22860"/>
          </a:xfrm>
          <a:prstGeom prst="roundRect">
            <a:avLst>
              <a:gd name="adj" fmla="val 102016"/>
            </a:avLst>
          </a:prstGeom>
          <a:solidFill>
            <a:srgbClr val="662E42"/>
          </a:solidFill>
          <a:ln/>
        </p:spPr>
      </p:sp>
      <p:sp>
        <p:nvSpPr>
          <p:cNvPr id="6" name="Shape 4"/>
          <p:cNvSpPr/>
          <p:nvPr/>
        </p:nvSpPr>
        <p:spPr>
          <a:xfrm>
            <a:off x="7140297" y="1930718"/>
            <a:ext cx="349806" cy="349806"/>
          </a:xfrm>
          <a:prstGeom prst="roundRect">
            <a:avLst>
              <a:gd name="adj" fmla="val 6667"/>
            </a:avLst>
          </a:prstGeom>
          <a:solidFill>
            <a:srgbClr val="4D1529"/>
          </a:solidFill>
          <a:ln/>
        </p:spPr>
      </p:sp>
      <p:sp>
        <p:nvSpPr>
          <p:cNvPr id="7" name="Text 5"/>
          <p:cNvSpPr/>
          <p:nvPr/>
        </p:nvSpPr>
        <p:spPr>
          <a:xfrm>
            <a:off x="7190839" y="1950184"/>
            <a:ext cx="248722" cy="310872"/>
          </a:xfrm>
          <a:prstGeom prst="rect">
            <a:avLst/>
          </a:prstGeom>
          <a:noFill/>
          <a:ln/>
        </p:spPr>
        <p:txBody>
          <a:bodyPr wrap="none" lIns="0" tIns="0" rIns="0" bIns="0" rtlCol="0" anchor="t"/>
          <a:lstStyle/>
          <a:p>
            <a:pPr algn="ctr"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1</a:t>
            </a:r>
            <a:endParaRPr lang="en-US" sz="1950" dirty="0"/>
          </a:p>
        </p:txBody>
      </p:sp>
      <p:sp>
        <p:nvSpPr>
          <p:cNvPr id="8" name="Text 6"/>
          <p:cNvSpPr/>
          <p:nvPr/>
        </p:nvSpPr>
        <p:spPr>
          <a:xfrm>
            <a:off x="4453414" y="1984058"/>
            <a:ext cx="2084427" cy="259080"/>
          </a:xfrm>
          <a:prstGeom prst="rect">
            <a:avLst/>
          </a:prstGeom>
          <a:noFill/>
          <a:ln/>
        </p:spPr>
        <p:txBody>
          <a:bodyPr wrap="none" lIns="0" tIns="0" rIns="0" bIns="0" rtlCol="0" anchor="t"/>
          <a:lstStyle/>
          <a:p>
            <a:pPr algn="r" indent="0" marL="0">
              <a:lnSpc>
                <a:spcPts val="2000"/>
              </a:lnSpc>
              <a:buNone/>
            </a:pPr>
            <a:r>
              <a:rPr lang="en-US" sz="1600" b="1" dirty="0">
                <a:solidFill>
                  <a:srgbClr val="F4CAB8"/>
                </a:solidFill>
                <a:latin typeface="Brygada 1918 Bold" pitchFamily="34" charset="0"/>
                <a:ea typeface="Brygada 1918 Bold" pitchFamily="34" charset="-122"/>
                <a:cs typeface="Brygada 1918 Bold" pitchFamily="34" charset="-120"/>
              </a:rPr>
              <a:t>Event Detection (15s)</a:t>
            </a:r>
            <a:endParaRPr lang="en-US" sz="1600" dirty="0"/>
          </a:p>
        </p:txBody>
      </p:sp>
      <p:sp>
        <p:nvSpPr>
          <p:cNvPr id="9" name="Text 7"/>
          <p:cNvSpPr/>
          <p:nvPr/>
        </p:nvSpPr>
        <p:spPr>
          <a:xfrm>
            <a:off x="621863" y="2336363"/>
            <a:ext cx="5915978" cy="497443"/>
          </a:xfrm>
          <a:prstGeom prst="rect">
            <a:avLst/>
          </a:prstGeom>
          <a:noFill/>
          <a:ln/>
        </p:spPr>
        <p:txBody>
          <a:bodyPr wrap="square" lIns="0" tIns="0" rIns="0" bIns="0" rtlCol="0" anchor="t"/>
          <a:lstStyle/>
          <a:p>
            <a:pPr algn="r" indent="0" marL="0">
              <a:lnSpc>
                <a:spcPts val="1950"/>
              </a:lnSpc>
              <a:buNone/>
            </a:pPr>
            <a:r>
              <a:rPr lang="en-US" sz="1200" dirty="0">
                <a:solidFill>
                  <a:srgbClr val="F4CAB8"/>
                </a:solidFill>
                <a:latin typeface="Montserrat Medium" pitchFamily="34" charset="0"/>
                <a:ea typeface="Montserrat Medium" pitchFamily="34" charset="-122"/>
                <a:cs typeface="Montserrat Medium" pitchFamily="34" charset="-120"/>
              </a:rPr>
              <a:t>S3 event triggers SNS → EventBridge → Pub/Sub → Cloud Function chain. Immediate detection when documents upload to S3 buckets.</a:t>
            </a:r>
            <a:endParaRPr lang="en-US" sz="1200" dirty="0"/>
          </a:p>
        </p:txBody>
      </p:sp>
      <p:sp>
        <p:nvSpPr>
          <p:cNvPr id="10" name="Shape 8"/>
          <p:cNvSpPr/>
          <p:nvPr/>
        </p:nvSpPr>
        <p:spPr>
          <a:xfrm>
            <a:off x="7467243" y="3026926"/>
            <a:ext cx="466368" cy="22860"/>
          </a:xfrm>
          <a:prstGeom prst="roundRect">
            <a:avLst>
              <a:gd name="adj" fmla="val 102016"/>
            </a:avLst>
          </a:prstGeom>
          <a:solidFill>
            <a:srgbClr val="662E42"/>
          </a:solidFill>
          <a:ln/>
        </p:spPr>
      </p:sp>
      <p:sp>
        <p:nvSpPr>
          <p:cNvPr id="11" name="Shape 9"/>
          <p:cNvSpPr/>
          <p:nvPr/>
        </p:nvSpPr>
        <p:spPr>
          <a:xfrm>
            <a:off x="7140297" y="2863453"/>
            <a:ext cx="349806" cy="349806"/>
          </a:xfrm>
          <a:prstGeom prst="roundRect">
            <a:avLst>
              <a:gd name="adj" fmla="val 6667"/>
            </a:avLst>
          </a:prstGeom>
          <a:solidFill>
            <a:srgbClr val="4D1529"/>
          </a:solidFill>
          <a:ln/>
        </p:spPr>
      </p:sp>
      <p:sp>
        <p:nvSpPr>
          <p:cNvPr id="12" name="Text 10"/>
          <p:cNvSpPr/>
          <p:nvPr/>
        </p:nvSpPr>
        <p:spPr>
          <a:xfrm>
            <a:off x="7190839" y="2882920"/>
            <a:ext cx="248722" cy="310872"/>
          </a:xfrm>
          <a:prstGeom prst="rect">
            <a:avLst/>
          </a:prstGeom>
          <a:noFill/>
          <a:ln/>
        </p:spPr>
        <p:txBody>
          <a:bodyPr wrap="none" lIns="0" tIns="0" rIns="0" bIns="0" rtlCol="0" anchor="t"/>
          <a:lstStyle/>
          <a:p>
            <a:pPr algn="ctr"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2</a:t>
            </a:r>
            <a:endParaRPr lang="en-US" sz="1950" dirty="0"/>
          </a:p>
        </p:txBody>
      </p:sp>
      <p:sp>
        <p:nvSpPr>
          <p:cNvPr id="13" name="Text 11"/>
          <p:cNvSpPr/>
          <p:nvPr/>
        </p:nvSpPr>
        <p:spPr>
          <a:xfrm>
            <a:off x="8092559" y="2916793"/>
            <a:ext cx="2072878" cy="259080"/>
          </a:xfrm>
          <a:prstGeom prst="rect">
            <a:avLst/>
          </a:prstGeom>
          <a:noFill/>
          <a:ln/>
        </p:spPr>
        <p:txBody>
          <a:bodyPr wrap="none" lIns="0" tIns="0" rIns="0" bIns="0" rtlCol="0" anchor="t"/>
          <a:lstStyle/>
          <a:p>
            <a:pPr algn="l" indent="0" marL="0">
              <a:lnSpc>
                <a:spcPts val="2000"/>
              </a:lnSpc>
              <a:buNone/>
            </a:pPr>
            <a:r>
              <a:rPr lang="en-US" sz="1600" b="1" dirty="0">
                <a:solidFill>
                  <a:srgbClr val="F4CAB8"/>
                </a:solidFill>
                <a:latin typeface="Brygada 1918 Bold" pitchFamily="34" charset="0"/>
                <a:ea typeface="Brygada 1918 Bold" pitchFamily="34" charset="-122"/>
                <a:cs typeface="Brygada 1918 Bold" pitchFamily="34" charset="-120"/>
              </a:rPr>
              <a:t>Evaluation (30s)</a:t>
            </a:r>
            <a:endParaRPr lang="en-US" sz="1600" dirty="0"/>
          </a:p>
        </p:txBody>
      </p:sp>
      <p:sp>
        <p:nvSpPr>
          <p:cNvPr id="14" name="Text 12"/>
          <p:cNvSpPr/>
          <p:nvPr/>
        </p:nvSpPr>
        <p:spPr>
          <a:xfrm>
            <a:off x="8092559" y="3269099"/>
            <a:ext cx="5915978" cy="746165"/>
          </a:xfrm>
          <a:prstGeom prst="rect">
            <a:avLst/>
          </a:prstGeom>
          <a:noFill/>
          <a:ln/>
        </p:spPr>
        <p:txBody>
          <a:bodyPr wrap="square" lIns="0" tIns="0" rIns="0" bIns="0" rtlCol="0" anchor="t"/>
          <a:lstStyle/>
          <a:p>
            <a:pPr algn="l" indent="0" marL="0">
              <a:lnSpc>
                <a:spcPts val="1950"/>
              </a:lnSpc>
              <a:buNone/>
            </a:pPr>
            <a:r>
              <a:rPr lang="en-US" sz="1200" dirty="0">
                <a:solidFill>
                  <a:srgbClr val="F4CAB8"/>
                </a:solidFill>
                <a:latin typeface="Montserrat Medium" pitchFamily="34" charset="0"/>
                <a:ea typeface="Montserrat Medium" pitchFamily="34" charset="-122"/>
                <a:cs typeface="Montserrat Medium" pitchFamily="34" charset="-120"/>
              </a:rPr>
              <a:t>Cloud Function evaluates document necessity, quality acceptance, and appropriate tier assignment. Routes to HOT/WARM/COLD or rejects based on business rules.</a:t>
            </a:r>
            <a:endParaRPr lang="en-US" sz="1200" dirty="0"/>
          </a:p>
        </p:txBody>
      </p:sp>
      <p:sp>
        <p:nvSpPr>
          <p:cNvPr id="15" name="Shape 13"/>
          <p:cNvSpPr/>
          <p:nvPr/>
        </p:nvSpPr>
        <p:spPr>
          <a:xfrm>
            <a:off x="6696789" y="3830836"/>
            <a:ext cx="466368" cy="22860"/>
          </a:xfrm>
          <a:prstGeom prst="roundRect">
            <a:avLst>
              <a:gd name="adj" fmla="val 102016"/>
            </a:avLst>
          </a:prstGeom>
          <a:solidFill>
            <a:srgbClr val="662E42"/>
          </a:solidFill>
          <a:ln/>
        </p:spPr>
      </p:sp>
      <p:sp>
        <p:nvSpPr>
          <p:cNvPr id="16" name="Shape 14"/>
          <p:cNvSpPr/>
          <p:nvPr/>
        </p:nvSpPr>
        <p:spPr>
          <a:xfrm>
            <a:off x="7140297" y="3667363"/>
            <a:ext cx="349806" cy="349806"/>
          </a:xfrm>
          <a:prstGeom prst="roundRect">
            <a:avLst>
              <a:gd name="adj" fmla="val 6667"/>
            </a:avLst>
          </a:prstGeom>
          <a:solidFill>
            <a:srgbClr val="4D1529"/>
          </a:solidFill>
          <a:ln/>
        </p:spPr>
      </p:sp>
      <p:sp>
        <p:nvSpPr>
          <p:cNvPr id="17" name="Text 15"/>
          <p:cNvSpPr/>
          <p:nvPr/>
        </p:nvSpPr>
        <p:spPr>
          <a:xfrm>
            <a:off x="7190839" y="3686830"/>
            <a:ext cx="248722" cy="310872"/>
          </a:xfrm>
          <a:prstGeom prst="rect">
            <a:avLst/>
          </a:prstGeom>
          <a:noFill/>
          <a:ln/>
        </p:spPr>
        <p:txBody>
          <a:bodyPr wrap="none" lIns="0" tIns="0" rIns="0" bIns="0" rtlCol="0" anchor="t"/>
          <a:lstStyle/>
          <a:p>
            <a:pPr algn="ctr"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3</a:t>
            </a:r>
            <a:endParaRPr lang="en-US" sz="1950" dirty="0"/>
          </a:p>
        </p:txBody>
      </p:sp>
      <p:sp>
        <p:nvSpPr>
          <p:cNvPr id="18" name="Text 16"/>
          <p:cNvSpPr/>
          <p:nvPr/>
        </p:nvSpPr>
        <p:spPr>
          <a:xfrm>
            <a:off x="4464963" y="3720703"/>
            <a:ext cx="2072878" cy="259080"/>
          </a:xfrm>
          <a:prstGeom prst="rect">
            <a:avLst/>
          </a:prstGeom>
          <a:noFill/>
          <a:ln/>
        </p:spPr>
        <p:txBody>
          <a:bodyPr wrap="none" lIns="0" tIns="0" rIns="0" bIns="0" rtlCol="0" anchor="t"/>
          <a:lstStyle/>
          <a:p>
            <a:pPr algn="r" indent="0" marL="0">
              <a:lnSpc>
                <a:spcPts val="2000"/>
              </a:lnSpc>
              <a:buNone/>
            </a:pPr>
            <a:r>
              <a:rPr lang="en-US" sz="1600" b="1" dirty="0">
                <a:solidFill>
                  <a:srgbClr val="F4CAB8"/>
                </a:solidFill>
                <a:latin typeface="Brygada 1918 Bold" pitchFamily="34" charset="0"/>
                <a:ea typeface="Brygada 1918 Bold" pitchFamily="34" charset="-122"/>
                <a:cs typeface="Brygada 1918 Bold" pitchFamily="34" charset="-120"/>
              </a:rPr>
              <a:t>Transfer (1-2min)</a:t>
            </a:r>
            <a:endParaRPr lang="en-US" sz="1600" dirty="0"/>
          </a:p>
        </p:txBody>
      </p:sp>
      <p:sp>
        <p:nvSpPr>
          <p:cNvPr id="19" name="Text 17"/>
          <p:cNvSpPr/>
          <p:nvPr/>
        </p:nvSpPr>
        <p:spPr>
          <a:xfrm>
            <a:off x="621863" y="4073009"/>
            <a:ext cx="5915978" cy="497443"/>
          </a:xfrm>
          <a:prstGeom prst="rect">
            <a:avLst/>
          </a:prstGeom>
          <a:noFill/>
          <a:ln/>
        </p:spPr>
        <p:txBody>
          <a:bodyPr wrap="square" lIns="0" tIns="0" rIns="0" bIns="0" rtlCol="0" anchor="t"/>
          <a:lstStyle/>
          <a:p>
            <a:pPr algn="r" indent="0" marL="0">
              <a:lnSpc>
                <a:spcPts val="1950"/>
              </a:lnSpc>
              <a:buNone/>
            </a:pPr>
            <a:r>
              <a:rPr lang="en-US" sz="1200" dirty="0">
                <a:solidFill>
                  <a:srgbClr val="F4CAB8"/>
                </a:solidFill>
                <a:latin typeface="Montserrat Medium" pitchFamily="34" charset="0"/>
                <a:ea typeface="Montserrat Medium" pitchFamily="34" charset="-122"/>
                <a:cs typeface="Montserrat Medium" pitchFamily="34" charset="-120"/>
              </a:rPr>
              <a:t>Storage Transfer Service efficiently copies accepted documents from S3 to GCS. Optimized cross-cloud bandwidth utilization.</a:t>
            </a:r>
            <a:endParaRPr lang="en-US" sz="1200" dirty="0"/>
          </a:p>
        </p:txBody>
      </p:sp>
      <p:sp>
        <p:nvSpPr>
          <p:cNvPr id="20" name="Shape 18"/>
          <p:cNvSpPr/>
          <p:nvPr/>
        </p:nvSpPr>
        <p:spPr>
          <a:xfrm>
            <a:off x="7467243" y="4634865"/>
            <a:ext cx="466368" cy="22860"/>
          </a:xfrm>
          <a:prstGeom prst="roundRect">
            <a:avLst>
              <a:gd name="adj" fmla="val 102016"/>
            </a:avLst>
          </a:prstGeom>
          <a:solidFill>
            <a:srgbClr val="662E42"/>
          </a:solidFill>
          <a:ln/>
        </p:spPr>
      </p:sp>
      <p:sp>
        <p:nvSpPr>
          <p:cNvPr id="21" name="Shape 19"/>
          <p:cNvSpPr/>
          <p:nvPr/>
        </p:nvSpPr>
        <p:spPr>
          <a:xfrm>
            <a:off x="7140297" y="4471392"/>
            <a:ext cx="349806" cy="349806"/>
          </a:xfrm>
          <a:prstGeom prst="roundRect">
            <a:avLst>
              <a:gd name="adj" fmla="val 6667"/>
            </a:avLst>
          </a:prstGeom>
          <a:solidFill>
            <a:srgbClr val="4D1529"/>
          </a:solidFill>
          <a:ln/>
        </p:spPr>
      </p:sp>
      <p:sp>
        <p:nvSpPr>
          <p:cNvPr id="22" name="Text 20"/>
          <p:cNvSpPr/>
          <p:nvPr/>
        </p:nvSpPr>
        <p:spPr>
          <a:xfrm>
            <a:off x="7190839" y="4490859"/>
            <a:ext cx="248722" cy="310872"/>
          </a:xfrm>
          <a:prstGeom prst="rect">
            <a:avLst/>
          </a:prstGeom>
          <a:noFill/>
          <a:ln/>
        </p:spPr>
        <p:txBody>
          <a:bodyPr wrap="none" lIns="0" tIns="0" rIns="0" bIns="0" rtlCol="0" anchor="t"/>
          <a:lstStyle/>
          <a:p>
            <a:pPr algn="ctr"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4</a:t>
            </a:r>
            <a:endParaRPr lang="en-US" sz="1950" dirty="0"/>
          </a:p>
        </p:txBody>
      </p:sp>
      <p:sp>
        <p:nvSpPr>
          <p:cNvPr id="23" name="Text 21"/>
          <p:cNvSpPr/>
          <p:nvPr/>
        </p:nvSpPr>
        <p:spPr>
          <a:xfrm>
            <a:off x="8092559" y="4524732"/>
            <a:ext cx="2072878" cy="259080"/>
          </a:xfrm>
          <a:prstGeom prst="rect">
            <a:avLst/>
          </a:prstGeom>
          <a:noFill/>
          <a:ln/>
        </p:spPr>
        <p:txBody>
          <a:bodyPr wrap="none" lIns="0" tIns="0" rIns="0" bIns="0" rtlCol="0" anchor="t"/>
          <a:lstStyle/>
          <a:p>
            <a:pPr algn="l" indent="0" marL="0">
              <a:lnSpc>
                <a:spcPts val="2000"/>
              </a:lnSpc>
              <a:buNone/>
            </a:pPr>
            <a:r>
              <a:rPr lang="en-US" sz="1600" b="1" dirty="0">
                <a:solidFill>
                  <a:srgbClr val="F4CAB8"/>
                </a:solidFill>
                <a:latin typeface="Brygada 1918 Bold" pitchFamily="34" charset="0"/>
                <a:ea typeface="Brygada 1918 Bold" pitchFamily="34" charset="-122"/>
                <a:cs typeface="Brygada 1918 Bold" pitchFamily="34" charset="-120"/>
              </a:rPr>
              <a:t>Processing (1-3min)</a:t>
            </a:r>
            <a:endParaRPr lang="en-US" sz="1600" dirty="0"/>
          </a:p>
        </p:txBody>
      </p:sp>
      <p:sp>
        <p:nvSpPr>
          <p:cNvPr id="24" name="Text 22"/>
          <p:cNvSpPr/>
          <p:nvPr/>
        </p:nvSpPr>
        <p:spPr>
          <a:xfrm>
            <a:off x="8092559" y="4877038"/>
            <a:ext cx="5915978" cy="497443"/>
          </a:xfrm>
          <a:prstGeom prst="rect">
            <a:avLst/>
          </a:prstGeom>
          <a:noFill/>
          <a:ln/>
        </p:spPr>
        <p:txBody>
          <a:bodyPr wrap="square" lIns="0" tIns="0" rIns="0" bIns="0" rtlCol="0" anchor="t"/>
          <a:lstStyle/>
          <a:p>
            <a:pPr algn="l" indent="0" marL="0">
              <a:lnSpc>
                <a:spcPts val="1950"/>
              </a:lnSpc>
              <a:buNone/>
            </a:pPr>
            <a:r>
              <a:rPr lang="en-US" sz="1200" dirty="0">
                <a:solidFill>
                  <a:srgbClr val="F4CAB8"/>
                </a:solidFill>
                <a:latin typeface="Montserrat Medium" pitchFamily="34" charset="0"/>
                <a:ea typeface="Montserrat Medium" pitchFamily="34" charset="-122"/>
                <a:cs typeface="Montserrat Medium" pitchFamily="34" charset="-120"/>
              </a:rPr>
              <a:t>Cloud Run services handle format conversion, Document AI OCR, quality validation, and entity extraction. Output: searchable, AI-ready documents.</a:t>
            </a:r>
            <a:endParaRPr lang="en-US" sz="1200" dirty="0"/>
          </a:p>
        </p:txBody>
      </p:sp>
      <p:sp>
        <p:nvSpPr>
          <p:cNvPr id="25" name="Shape 23"/>
          <p:cNvSpPr/>
          <p:nvPr/>
        </p:nvSpPr>
        <p:spPr>
          <a:xfrm>
            <a:off x="6696789" y="5438894"/>
            <a:ext cx="466368" cy="22860"/>
          </a:xfrm>
          <a:prstGeom prst="roundRect">
            <a:avLst>
              <a:gd name="adj" fmla="val 102016"/>
            </a:avLst>
          </a:prstGeom>
          <a:solidFill>
            <a:srgbClr val="662E42"/>
          </a:solidFill>
          <a:ln/>
        </p:spPr>
      </p:sp>
      <p:sp>
        <p:nvSpPr>
          <p:cNvPr id="26" name="Shape 24"/>
          <p:cNvSpPr/>
          <p:nvPr/>
        </p:nvSpPr>
        <p:spPr>
          <a:xfrm>
            <a:off x="7140297" y="5275421"/>
            <a:ext cx="349806" cy="349806"/>
          </a:xfrm>
          <a:prstGeom prst="roundRect">
            <a:avLst>
              <a:gd name="adj" fmla="val 6667"/>
            </a:avLst>
          </a:prstGeom>
          <a:solidFill>
            <a:srgbClr val="4D1529"/>
          </a:solidFill>
          <a:ln/>
        </p:spPr>
      </p:sp>
      <p:sp>
        <p:nvSpPr>
          <p:cNvPr id="27" name="Text 25"/>
          <p:cNvSpPr/>
          <p:nvPr/>
        </p:nvSpPr>
        <p:spPr>
          <a:xfrm>
            <a:off x="7190839" y="5294888"/>
            <a:ext cx="248722" cy="310872"/>
          </a:xfrm>
          <a:prstGeom prst="rect">
            <a:avLst/>
          </a:prstGeom>
          <a:noFill/>
          <a:ln/>
        </p:spPr>
        <p:txBody>
          <a:bodyPr wrap="none" lIns="0" tIns="0" rIns="0" bIns="0" rtlCol="0" anchor="t"/>
          <a:lstStyle/>
          <a:p>
            <a:pPr algn="ctr"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5</a:t>
            </a:r>
            <a:endParaRPr lang="en-US" sz="1950" dirty="0"/>
          </a:p>
        </p:txBody>
      </p:sp>
      <p:sp>
        <p:nvSpPr>
          <p:cNvPr id="28" name="Text 26"/>
          <p:cNvSpPr/>
          <p:nvPr/>
        </p:nvSpPr>
        <p:spPr>
          <a:xfrm>
            <a:off x="4464963" y="5328761"/>
            <a:ext cx="2072878" cy="259080"/>
          </a:xfrm>
          <a:prstGeom prst="rect">
            <a:avLst/>
          </a:prstGeom>
          <a:noFill/>
          <a:ln/>
        </p:spPr>
        <p:txBody>
          <a:bodyPr wrap="none" lIns="0" tIns="0" rIns="0" bIns="0" rtlCol="0" anchor="t"/>
          <a:lstStyle/>
          <a:p>
            <a:pPr algn="r" indent="0" marL="0">
              <a:lnSpc>
                <a:spcPts val="2000"/>
              </a:lnSpc>
              <a:buNone/>
            </a:pPr>
            <a:r>
              <a:rPr lang="en-US" sz="1600" b="1" dirty="0">
                <a:solidFill>
                  <a:srgbClr val="F4CAB8"/>
                </a:solidFill>
                <a:latin typeface="Brygada 1918 Bold" pitchFamily="34" charset="0"/>
                <a:ea typeface="Brygada 1918 Bold" pitchFamily="34" charset="-122"/>
                <a:cs typeface="Brygada 1918 Bold" pitchFamily="34" charset="-120"/>
              </a:rPr>
              <a:t>Ingestion (1-2min)</a:t>
            </a:r>
            <a:endParaRPr lang="en-US" sz="1600" dirty="0"/>
          </a:p>
        </p:txBody>
      </p:sp>
      <p:sp>
        <p:nvSpPr>
          <p:cNvPr id="29" name="Text 27"/>
          <p:cNvSpPr/>
          <p:nvPr/>
        </p:nvSpPr>
        <p:spPr>
          <a:xfrm>
            <a:off x="621863" y="5681067"/>
            <a:ext cx="5915978" cy="497443"/>
          </a:xfrm>
          <a:prstGeom prst="rect">
            <a:avLst/>
          </a:prstGeom>
          <a:noFill/>
          <a:ln/>
        </p:spPr>
        <p:txBody>
          <a:bodyPr wrap="square" lIns="0" tIns="0" rIns="0" bIns="0" rtlCol="0" anchor="t"/>
          <a:lstStyle/>
          <a:p>
            <a:pPr algn="r" indent="0" marL="0">
              <a:lnSpc>
                <a:spcPts val="1950"/>
              </a:lnSpc>
              <a:buNone/>
            </a:pPr>
            <a:r>
              <a:rPr lang="en-US" sz="1200" dirty="0">
                <a:solidFill>
                  <a:srgbClr val="F4CAB8"/>
                </a:solidFill>
                <a:latin typeface="Montserrat Medium" pitchFamily="34" charset="0"/>
                <a:ea typeface="Montserrat Medium" pitchFamily="34" charset="-122"/>
                <a:cs typeface="Montserrat Medium" pitchFamily="34" charset="-120"/>
              </a:rPr>
              <a:t>Documents ingested to appropriate Vertex AI Search data stores with semantic indexing. Enables sophisticated AI agent queries.</a:t>
            </a:r>
            <a:endParaRPr lang="en-US" sz="1200" dirty="0"/>
          </a:p>
        </p:txBody>
      </p:sp>
      <p:sp>
        <p:nvSpPr>
          <p:cNvPr id="30" name="Shape 28"/>
          <p:cNvSpPr/>
          <p:nvPr/>
        </p:nvSpPr>
        <p:spPr>
          <a:xfrm>
            <a:off x="7467243" y="6242923"/>
            <a:ext cx="466368" cy="22860"/>
          </a:xfrm>
          <a:prstGeom prst="roundRect">
            <a:avLst>
              <a:gd name="adj" fmla="val 102016"/>
            </a:avLst>
          </a:prstGeom>
          <a:solidFill>
            <a:srgbClr val="662E42"/>
          </a:solidFill>
          <a:ln/>
        </p:spPr>
      </p:sp>
      <p:sp>
        <p:nvSpPr>
          <p:cNvPr id="31" name="Shape 29"/>
          <p:cNvSpPr/>
          <p:nvPr/>
        </p:nvSpPr>
        <p:spPr>
          <a:xfrm>
            <a:off x="7140297" y="6079450"/>
            <a:ext cx="349806" cy="349806"/>
          </a:xfrm>
          <a:prstGeom prst="roundRect">
            <a:avLst>
              <a:gd name="adj" fmla="val 6667"/>
            </a:avLst>
          </a:prstGeom>
          <a:solidFill>
            <a:srgbClr val="4D1529"/>
          </a:solidFill>
          <a:ln/>
        </p:spPr>
      </p:sp>
      <p:sp>
        <p:nvSpPr>
          <p:cNvPr id="32" name="Text 30"/>
          <p:cNvSpPr/>
          <p:nvPr/>
        </p:nvSpPr>
        <p:spPr>
          <a:xfrm>
            <a:off x="7190839" y="6098917"/>
            <a:ext cx="248722" cy="310872"/>
          </a:xfrm>
          <a:prstGeom prst="rect">
            <a:avLst/>
          </a:prstGeom>
          <a:noFill/>
          <a:ln/>
        </p:spPr>
        <p:txBody>
          <a:bodyPr wrap="none" lIns="0" tIns="0" rIns="0" bIns="0" rtlCol="0" anchor="t"/>
          <a:lstStyle/>
          <a:p>
            <a:pPr algn="ctr"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6</a:t>
            </a:r>
            <a:endParaRPr lang="en-US" sz="1950" dirty="0"/>
          </a:p>
        </p:txBody>
      </p:sp>
      <p:sp>
        <p:nvSpPr>
          <p:cNvPr id="33" name="Text 31"/>
          <p:cNvSpPr/>
          <p:nvPr/>
        </p:nvSpPr>
        <p:spPr>
          <a:xfrm>
            <a:off x="8092559" y="6132790"/>
            <a:ext cx="2072878" cy="259080"/>
          </a:xfrm>
          <a:prstGeom prst="rect">
            <a:avLst/>
          </a:prstGeom>
          <a:noFill/>
          <a:ln/>
        </p:spPr>
        <p:txBody>
          <a:bodyPr wrap="none" lIns="0" tIns="0" rIns="0" bIns="0" rtlCol="0" anchor="t"/>
          <a:lstStyle/>
          <a:p>
            <a:pPr algn="l" indent="0" marL="0">
              <a:lnSpc>
                <a:spcPts val="2000"/>
              </a:lnSpc>
              <a:buNone/>
            </a:pPr>
            <a:r>
              <a:rPr lang="en-US" sz="1600" b="1" dirty="0">
                <a:solidFill>
                  <a:srgbClr val="F4CAB8"/>
                </a:solidFill>
                <a:latin typeface="Brygada 1918 Bold" pitchFamily="34" charset="0"/>
                <a:ea typeface="Brygada 1918 Bold" pitchFamily="34" charset="-122"/>
                <a:cs typeface="Brygada 1918 Bold" pitchFamily="34" charset="-120"/>
              </a:rPr>
              <a:t>Metadata (seconds)</a:t>
            </a:r>
            <a:endParaRPr lang="en-US" sz="1600" dirty="0"/>
          </a:p>
        </p:txBody>
      </p:sp>
      <p:sp>
        <p:nvSpPr>
          <p:cNvPr id="34" name="Text 32"/>
          <p:cNvSpPr/>
          <p:nvPr/>
        </p:nvSpPr>
        <p:spPr>
          <a:xfrm>
            <a:off x="8092559" y="6485096"/>
            <a:ext cx="5915978" cy="497443"/>
          </a:xfrm>
          <a:prstGeom prst="rect">
            <a:avLst/>
          </a:prstGeom>
          <a:noFill/>
          <a:ln/>
        </p:spPr>
        <p:txBody>
          <a:bodyPr wrap="square" lIns="0" tIns="0" rIns="0" bIns="0" rtlCol="0" anchor="t"/>
          <a:lstStyle/>
          <a:p>
            <a:pPr algn="l" indent="0" marL="0">
              <a:lnSpc>
                <a:spcPts val="1950"/>
              </a:lnSpc>
              <a:buNone/>
            </a:pPr>
            <a:r>
              <a:rPr lang="en-US" sz="1200" dirty="0">
                <a:solidFill>
                  <a:srgbClr val="F4CAB8"/>
                </a:solidFill>
                <a:latin typeface="Montserrat Medium" pitchFamily="34" charset="0"/>
                <a:ea typeface="Montserrat Medium" pitchFamily="34" charset="-122"/>
                <a:cs typeface="Montserrat Medium" pitchFamily="34" charset="-120"/>
              </a:rPr>
              <a:t>BigQuery updated with document location, processing metadata, and routing information. Enables intelligent query direction for AI agents.</a:t>
            </a:r>
            <a:endParaRPr lang="en-US" sz="1200" dirty="0"/>
          </a:p>
        </p:txBody>
      </p:sp>
      <p:sp>
        <p:nvSpPr>
          <p:cNvPr id="35" name="Text 33"/>
          <p:cNvSpPr/>
          <p:nvPr/>
        </p:nvSpPr>
        <p:spPr>
          <a:xfrm>
            <a:off x="621863" y="7551539"/>
            <a:ext cx="13386673" cy="248722"/>
          </a:xfrm>
          <a:prstGeom prst="rect">
            <a:avLst/>
          </a:prstGeom>
          <a:noFill/>
          <a:ln/>
        </p:spPr>
        <p:txBody>
          <a:bodyPr wrap="none" lIns="0" tIns="0" rIns="0" bIns="0" rtlCol="0" anchor="t"/>
          <a:lstStyle/>
          <a:p>
            <a:pPr algn="l" indent="0" marL="0">
              <a:lnSpc>
                <a:spcPts val="1950"/>
              </a:lnSpc>
              <a:buNone/>
            </a:pPr>
            <a:r>
              <a:rPr lang="en-US" sz="1200" b="1" dirty="0">
                <a:solidFill>
                  <a:srgbClr val="FFB393"/>
                </a:solidFill>
                <a:latin typeface="Montserrat Medium" pitchFamily="34" charset="0"/>
                <a:ea typeface="Montserrat Medium" pitchFamily="34" charset="-122"/>
                <a:cs typeface="Montserrat Medium" pitchFamily="34" charset="-120"/>
              </a:rPr>
              <a:t>Total Processing Time:</a:t>
            </a:r>
            <a:pPr algn="l" indent="0" marL="0">
              <a:lnSpc>
                <a:spcPts val="1950"/>
              </a:lnSpc>
              <a:buNone/>
            </a:pPr>
            <a:r>
              <a:rPr lang="en-US" sz="1200" dirty="0">
                <a:solidFill>
                  <a:srgbClr val="F4CAB8"/>
                </a:solidFill>
                <a:latin typeface="Montserrat Medium" pitchFamily="34" charset="0"/>
                <a:ea typeface="Montserrat Medium" pitchFamily="34" charset="-122"/>
                <a:cs typeface="Montserrat Medium" pitchFamily="34" charset="-120"/>
              </a:rPr>
              <a:t> 5-8 minutes from S3 upload to fully searchable document ready for AI consumption.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10910" y="463272"/>
            <a:ext cx="9883854" cy="509111"/>
          </a:xfrm>
          <a:prstGeom prst="rect">
            <a:avLst/>
          </a:prstGeom>
          <a:noFill/>
          <a:ln/>
        </p:spPr>
        <p:txBody>
          <a:bodyPr wrap="none" lIns="0" tIns="0" rIns="0" bIns="0" rtlCol="0" anchor="t"/>
          <a:lstStyle/>
          <a:p>
            <a:pPr algn="l" indent="0" marL="0">
              <a:lnSpc>
                <a:spcPts val="4000"/>
              </a:lnSpc>
              <a:buNone/>
            </a:pPr>
            <a:r>
              <a:rPr lang="en-US" sz="3200" b="1" dirty="0">
                <a:solidFill>
                  <a:srgbClr val="FFB393"/>
                </a:solidFill>
                <a:latin typeface="Brygada 1918 Bold" pitchFamily="34" charset="0"/>
                <a:ea typeface="Brygada 1918 Bold" pitchFamily="34" charset="-122"/>
                <a:cs typeface="Brygada 1918 Bold" pitchFamily="34" charset="-120"/>
              </a:rPr>
              <a:t>HOT/WARM/COLD Tiered Storage Implementation</a:t>
            </a:r>
            <a:endParaRPr lang="en-US" sz="3200" dirty="0"/>
          </a:p>
        </p:txBody>
      </p:sp>
      <p:sp>
        <p:nvSpPr>
          <p:cNvPr id="3" name="Text 1"/>
          <p:cNvSpPr/>
          <p:nvPr/>
        </p:nvSpPr>
        <p:spPr>
          <a:xfrm>
            <a:off x="610910" y="1277779"/>
            <a:ext cx="13408581" cy="488633"/>
          </a:xfrm>
          <a:prstGeom prst="rect">
            <a:avLst/>
          </a:prstGeom>
          <a:noFill/>
          <a:ln/>
        </p:spPr>
        <p:txBody>
          <a:bodyPr wrap="square" lIns="0" tIns="0" rIns="0" bIns="0" rtlCol="0" anchor="t"/>
          <a:lstStyle/>
          <a:p>
            <a:pPr algn="l" indent="0" marL="0">
              <a:lnSpc>
                <a:spcPts val="1900"/>
              </a:lnSpc>
              <a:buNone/>
            </a:pPr>
            <a:r>
              <a:rPr lang="en-US" sz="1200" dirty="0">
                <a:solidFill>
                  <a:srgbClr val="F4CAB8"/>
                </a:solidFill>
                <a:latin typeface="Montserrat Medium" pitchFamily="34" charset="0"/>
                <a:ea typeface="Montserrat Medium" pitchFamily="34" charset="-122"/>
                <a:cs typeface="Montserrat Medium" pitchFamily="34" charset="-120"/>
              </a:rPr>
              <a:t>Our intelligent tiering strategy maintains optimal performance while controlling costs. Active claims remain in high-performance HOT tier, while older documents move through WARM and COLD tiers based on access patterns and business rules.</a:t>
            </a:r>
            <a:endParaRPr lang="en-US" sz="1200" dirty="0"/>
          </a:p>
        </p:txBody>
      </p:sp>
      <p:pic>
        <p:nvPicPr>
          <p:cNvPr id="4" name="Image 0" descr="preencoded.png">    </p:cNvPr>
          <p:cNvPicPr>
            <a:picLocks noChangeAspect="1"/>
          </p:cNvPicPr>
          <p:nvPr/>
        </p:nvPicPr>
        <p:blipFill>
          <a:blip r:embed="rId1"/>
          <a:stretch>
            <a:fillRect/>
          </a:stretch>
        </p:blipFill>
        <p:spPr>
          <a:xfrm>
            <a:off x="2856786" y="1938218"/>
            <a:ext cx="2212300" cy="895588"/>
          </a:xfrm>
          <a:prstGeom prst="rect">
            <a:avLst/>
          </a:prstGeom>
        </p:spPr>
      </p:pic>
      <p:sp>
        <p:nvSpPr>
          <p:cNvPr id="5" name="Text 2"/>
          <p:cNvSpPr/>
          <p:nvPr/>
        </p:nvSpPr>
        <p:spPr>
          <a:xfrm>
            <a:off x="3855482" y="2363272"/>
            <a:ext cx="214670" cy="268367"/>
          </a:xfrm>
          <a:prstGeom prst="rect">
            <a:avLst/>
          </a:prstGeom>
          <a:noFill/>
          <a:ln/>
        </p:spPr>
        <p:txBody>
          <a:bodyPr wrap="none" lIns="0" tIns="0" rIns="0" bIns="0" rtlCol="0" anchor="t"/>
          <a:lstStyle/>
          <a:p>
            <a:pPr algn="ctr" indent="0" marL="0">
              <a:lnSpc>
                <a:spcPts val="2700"/>
              </a:lnSpc>
              <a:buNone/>
            </a:pPr>
            <a:r>
              <a:rPr lang="en-US" sz="1650" b="1" dirty="0">
                <a:solidFill>
                  <a:srgbClr val="F4CAB8"/>
                </a:solidFill>
                <a:latin typeface="Brygada 1918 Bold" pitchFamily="34" charset="0"/>
                <a:ea typeface="Brygada 1918 Bold" pitchFamily="34" charset="-122"/>
                <a:cs typeface="Brygada 1918 Bold" pitchFamily="34" charset="-120"/>
              </a:rPr>
              <a:t>1</a:t>
            </a:r>
            <a:endParaRPr lang="en-US" sz="1650" dirty="0"/>
          </a:p>
        </p:txBody>
      </p:sp>
      <p:sp>
        <p:nvSpPr>
          <p:cNvPr id="6" name="Text 3"/>
          <p:cNvSpPr/>
          <p:nvPr/>
        </p:nvSpPr>
        <p:spPr>
          <a:xfrm>
            <a:off x="5221724" y="2090857"/>
            <a:ext cx="2036445" cy="254437"/>
          </a:xfrm>
          <a:prstGeom prst="rect">
            <a:avLst/>
          </a:prstGeom>
          <a:noFill/>
          <a:ln/>
        </p:spPr>
        <p:txBody>
          <a:bodyPr wrap="none" lIns="0" tIns="0" rIns="0" bIns="0" rtlCol="0" anchor="t"/>
          <a:lstStyle/>
          <a:p>
            <a:pPr algn="l" indent="0" marL="0">
              <a:lnSpc>
                <a:spcPts val="2000"/>
              </a:lnSpc>
              <a:buNone/>
            </a:pPr>
            <a:r>
              <a:rPr lang="en-US" sz="1600" b="1" dirty="0">
                <a:solidFill>
                  <a:srgbClr val="F4CAB8"/>
                </a:solidFill>
                <a:latin typeface="Brygada 1918 Bold" pitchFamily="34" charset="0"/>
                <a:ea typeface="Brygada 1918 Bold" pitchFamily="34" charset="-122"/>
                <a:cs typeface="Brygada 1918 Bold" pitchFamily="34" charset="-120"/>
              </a:rPr>
              <a:t>HOT Tier (Active)</a:t>
            </a:r>
            <a:endParaRPr lang="en-US" sz="1600" dirty="0"/>
          </a:p>
        </p:txBody>
      </p:sp>
      <p:sp>
        <p:nvSpPr>
          <p:cNvPr id="7" name="Text 4"/>
          <p:cNvSpPr/>
          <p:nvPr/>
        </p:nvSpPr>
        <p:spPr>
          <a:xfrm>
            <a:off x="5221724" y="2436852"/>
            <a:ext cx="3004899" cy="244316"/>
          </a:xfrm>
          <a:prstGeom prst="rect">
            <a:avLst/>
          </a:prstGeom>
          <a:noFill/>
          <a:ln/>
        </p:spPr>
        <p:txBody>
          <a:bodyPr wrap="none" lIns="0" tIns="0" rIns="0" bIns="0" rtlCol="0" anchor="t"/>
          <a:lstStyle/>
          <a:p>
            <a:pPr algn="l" indent="0" marL="0">
              <a:lnSpc>
                <a:spcPts val="1900"/>
              </a:lnSpc>
              <a:buNone/>
            </a:pPr>
            <a:r>
              <a:rPr lang="en-US" sz="1200" dirty="0">
                <a:solidFill>
                  <a:srgbClr val="F4CAB8"/>
                </a:solidFill>
                <a:latin typeface="Montserrat Medium" pitchFamily="34" charset="0"/>
                <a:ea typeface="Montserrat Medium" pitchFamily="34" charset="-122"/>
                <a:cs typeface="Montserrat Medium" pitchFamily="34" charset="-120"/>
              </a:rPr>
              <a:t>50K docs per store, Sub-200ms latency</a:t>
            </a:r>
            <a:endParaRPr lang="en-US" sz="1200" dirty="0"/>
          </a:p>
        </p:txBody>
      </p:sp>
      <p:sp>
        <p:nvSpPr>
          <p:cNvPr id="8" name="Shape 5"/>
          <p:cNvSpPr/>
          <p:nvPr/>
        </p:nvSpPr>
        <p:spPr>
          <a:xfrm>
            <a:off x="5107186" y="2843332"/>
            <a:ext cx="8874204" cy="11430"/>
          </a:xfrm>
          <a:prstGeom prst="roundRect">
            <a:avLst>
              <a:gd name="adj" fmla="val 200442"/>
            </a:avLst>
          </a:prstGeom>
          <a:solidFill>
            <a:srgbClr val="662E42"/>
          </a:solidFill>
          <a:ln/>
        </p:spPr>
      </p:sp>
      <p:pic>
        <p:nvPicPr>
          <p:cNvPr id="9" name="Image 1" descr="preencoded.png">    </p:cNvPr>
          <p:cNvPicPr>
            <a:picLocks noChangeAspect="1"/>
          </p:cNvPicPr>
          <p:nvPr/>
        </p:nvPicPr>
        <p:blipFill>
          <a:blip r:embed="rId2"/>
          <a:stretch>
            <a:fillRect/>
          </a:stretch>
        </p:blipFill>
        <p:spPr>
          <a:xfrm>
            <a:off x="1750576" y="2871907"/>
            <a:ext cx="4424720" cy="895588"/>
          </a:xfrm>
          <a:prstGeom prst="rect">
            <a:avLst/>
          </a:prstGeom>
        </p:spPr>
      </p:pic>
      <p:sp>
        <p:nvSpPr>
          <p:cNvPr id="10" name="Text 6"/>
          <p:cNvSpPr/>
          <p:nvPr/>
        </p:nvSpPr>
        <p:spPr>
          <a:xfrm>
            <a:off x="3855482" y="3185517"/>
            <a:ext cx="214670" cy="268367"/>
          </a:xfrm>
          <a:prstGeom prst="rect">
            <a:avLst/>
          </a:prstGeom>
          <a:noFill/>
          <a:ln/>
        </p:spPr>
        <p:txBody>
          <a:bodyPr wrap="none" lIns="0" tIns="0" rIns="0" bIns="0" rtlCol="0" anchor="t"/>
          <a:lstStyle/>
          <a:p>
            <a:pPr algn="ctr" indent="0" marL="0">
              <a:lnSpc>
                <a:spcPts val="2700"/>
              </a:lnSpc>
              <a:buNone/>
            </a:pPr>
            <a:r>
              <a:rPr lang="en-US" sz="1650" b="1" dirty="0">
                <a:solidFill>
                  <a:srgbClr val="F4CAB8"/>
                </a:solidFill>
                <a:latin typeface="Brygada 1918 Bold" pitchFamily="34" charset="0"/>
                <a:ea typeface="Brygada 1918 Bold" pitchFamily="34" charset="-122"/>
                <a:cs typeface="Brygada 1918 Bold" pitchFamily="34" charset="-120"/>
              </a:rPr>
              <a:t>2</a:t>
            </a:r>
            <a:endParaRPr lang="en-US" sz="1650" dirty="0"/>
          </a:p>
        </p:txBody>
      </p:sp>
      <p:sp>
        <p:nvSpPr>
          <p:cNvPr id="11" name="Text 7"/>
          <p:cNvSpPr/>
          <p:nvPr/>
        </p:nvSpPr>
        <p:spPr>
          <a:xfrm>
            <a:off x="6327934" y="3024545"/>
            <a:ext cx="2036445" cy="254437"/>
          </a:xfrm>
          <a:prstGeom prst="rect">
            <a:avLst/>
          </a:prstGeom>
          <a:noFill/>
          <a:ln/>
        </p:spPr>
        <p:txBody>
          <a:bodyPr wrap="none" lIns="0" tIns="0" rIns="0" bIns="0" rtlCol="0" anchor="t"/>
          <a:lstStyle/>
          <a:p>
            <a:pPr algn="l" indent="0" marL="0">
              <a:lnSpc>
                <a:spcPts val="2000"/>
              </a:lnSpc>
              <a:buNone/>
            </a:pPr>
            <a:r>
              <a:rPr lang="en-US" sz="1600" b="1" dirty="0">
                <a:solidFill>
                  <a:srgbClr val="F4CAB8"/>
                </a:solidFill>
                <a:latin typeface="Brygada 1918 Bold" pitchFamily="34" charset="0"/>
                <a:ea typeface="Brygada 1918 Bold" pitchFamily="34" charset="-122"/>
                <a:cs typeface="Brygada 1918 Bold" pitchFamily="34" charset="-120"/>
              </a:rPr>
              <a:t>WARM Tier (Recent)</a:t>
            </a:r>
            <a:endParaRPr lang="en-US" sz="1600" dirty="0"/>
          </a:p>
        </p:txBody>
      </p:sp>
      <p:sp>
        <p:nvSpPr>
          <p:cNvPr id="12" name="Text 8"/>
          <p:cNvSpPr/>
          <p:nvPr/>
        </p:nvSpPr>
        <p:spPr>
          <a:xfrm>
            <a:off x="6327934" y="3370540"/>
            <a:ext cx="3108841" cy="244316"/>
          </a:xfrm>
          <a:prstGeom prst="rect">
            <a:avLst/>
          </a:prstGeom>
          <a:noFill/>
          <a:ln/>
        </p:spPr>
        <p:txBody>
          <a:bodyPr wrap="none" lIns="0" tIns="0" rIns="0" bIns="0" rtlCol="0" anchor="t"/>
          <a:lstStyle/>
          <a:p>
            <a:pPr algn="l" indent="0" marL="0">
              <a:lnSpc>
                <a:spcPts val="1900"/>
              </a:lnSpc>
              <a:buNone/>
            </a:pPr>
            <a:r>
              <a:rPr lang="en-US" sz="1200" dirty="0">
                <a:solidFill>
                  <a:srgbClr val="F4CAB8"/>
                </a:solidFill>
                <a:latin typeface="Montserrat Medium" pitchFamily="34" charset="0"/>
                <a:ea typeface="Montserrat Medium" pitchFamily="34" charset="-122"/>
                <a:cs typeface="Montserrat Medium" pitchFamily="34" charset="-120"/>
              </a:rPr>
              <a:t>500K docs per store, Sub-500ms latency</a:t>
            </a:r>
            <a:endParaRPr lang="en-US" sz="1200" dirty="0"/>
          </a:p>
        </p:txBody>
      </p:sp>
      <p:sp>
        <p:nvSpPr>
          <p:cNvPr id="13" name="Shape 9"/>
          <p:cNvSpPr/>
          <p:nvPr/>
        </p:nvSpPr>
        <p:spPr>
          <a:xfrm>
            <a:off x="6213396" y="3777020"/>
            <a:ext cx="7767995" cy="11430"/>
          </a:xfrm>
          <a:prstGeom prst="roundRect">
            <a:avLst>
              <a:gd name="adj" fmla="val 200442"/>
            </a:avLst>
          </a:prstGeom>
          <a:solidFill>
            <a:srgbClr val="662E42"/>
          </a:solidFill>
          <a:ln/>
        </p:spPr>
      </p:sp>
      <p:pic>
        <p:nvPicPr>
          <p:cNvPr id="14" name="Image 2" descr="preencoded.png">    </p:cNvPr>
          <p:cNvPicPr>
            <a:picLocks noChangeAspect="1"/>
          </p:cNvPicPr>
          <p:nvPr/>
        </p:nvPicPr>
        <p:blipFill>
          <a:blip r:embed="rId3"/>
          <a:stretch>
            <a:fillRect/>
          </a:stretch>
        </p:blipFill>
        <p:spPr>
          <a:xfrm>
            <a:off x="644366" y="3805595"/>
            <a:ext cx="6637139" cy="895588"/>
          </a:xfrm>
          <a:prstGeom prst="rect">
            <a:avLst/>
          </a:prstGeom>
        </p:spPr>
      </p:pic>
      <p:sp>
        <p:nvSpPr>
          <p:cNvPr id="15" name="Text 10"/>
          <p:cNvSpPr/>
          <p:nvPr/>
        </p:nvSpPr>
        <p:spPr>
          <a:xfrm>
            <a:off x="3855601" y="4119205"/>
            <a:ext cx="214670" cy="268367"/>
          </a:xfrm>
          <a:prstGeom prst="rect">
            <a:avLst/>
          </a:prstGeom>
          <a:noFill/>
          <a:ln/>
        </p:spPr>
        <p:txBody>
          <a:bodyPr wrap="none" lIns="0" tIns="0" rIns="0" bIns="0" rtlCol="0" anchor="t"/>
          <a:lstStyle/>
          <a:p>
            <a:pPr algn="ctr" indent="0" marL="0">
              <a:lnSpc>
                <a:spcPts val="2700"/>
              </a:lnSpc>
              <a:buNone/>
            </a:pPr>
            <a:r>
              <a:rPr lang="en-US" sz="1650" b="1" dirty="0">
                <a:solidFill>
                  <a:srgbClr val="F4CAB8"/>
                </a:solidFill>
                <a:latin typeface="Brygada 1918 Bold" pitchFamily="34" charset="0"/>
                <a:ea typeface="Brygada 1918 Bold" pitchFamily="34" charset="-122"/>
                <a:cs typeface="Brygada 1918 Bold" pitchFamily="34" charset="-120"/>
              </a:rPr>
              <a:t>3</a:t>
            </a:r>
            <a:endParaRPr lang="en-US" sz="1650" dirty="0"/>
          </a:p>
        </p:txBody>
      </p:sp>
      <p:sp>
        <p:nvSpPr>
          <p:cNvPr id="16" name="Text 11"/>
          <p:cNvSpPr/>
          <p:nvPr/>
        </p:nvSpPr>
        <p:spPr>
          <a:xfrm>
            <a:off x="7434143" y="3958233"/>
            <a:ext cx="2036445" cy="254437"/>
          </a:xfrm>
          <a:prstGeom prst="rect">
            <a:avLst/>
          </a:prstGeom>
          <a:noFill/>
          <a:ln/>
        </p:spPr>
        <p:txBody>
          <a:bodyPr wrap="none" lIns="0" tIns="0" rIns="0" bIns="0" rtlCol="0" anchor="t"/>
          <a:lstStyle/>
          <a:p>
            <a:pPr algn="l" indent="0" marL="0">
              <a:lnSpc>
                <a:spcPts val="2000"/>
              </a:lnSpc>
              <a:buNone/>
            </a:pPr>
            <a:r>
              <a:rPr lang="en-US" sz="1600" b="1" dirty="0">
                <a:solidFill>
                  <a:srgbClr val="F4CAB8"/>
                </a:solidFill>
                <a:latin typeface="Brygada 1918 Bold" pitchFamily="34" charset="0"/>
                <a:ea typeface="Brygada 1918 Bold" pitchFamily="34" charset="-122"/>
                <a:cs typeface="Brygada 1918 Bold" pitchFamily="34" charset="-120"/>
              </a:rPr>
              <a:t>COLD Tier (Archive)</a:t>
            </a:r>
            <a:endParaRPr lang="en-US" sz="1600" dirty="0"/>
          </a:p>
        </p:txBody>
      </p:sp>
      <p:sp>
        <p:nvSpPr>
          <p:cNvPr id="17" name="Text 12"/>
          <p:cNvSpPr/>
          <p:nvPr/>
        </p:nvSpPr>
        <p:spPr>
          <a:xfrm>
            <a:off x="7434143" y="4304228"/>
            <a:ext cx="3009186" cy="244316"/>
          </a:xfrm>
          <a:prstGeom prst="rect">
            <a:avLst/>
          </a:prstGeom>
          <a:noFill/>
          <a:ln/>
        </p:spPr>
        <p:txBody>
          <a:bodyPr wrap="none" lIns="0" tIns="0" rIns="0" bIns="0" rtlCol="0" anchor="t"/>
          <a:lstStyle/>
          <a:p>
            <a:pPr algn="l" indent="0" marL="0">
              <a:lnSpc>
                <a:spcPts val="1900"/>
              </a:lnSpc>
              <a:buNone/>
            </a:pPr>
            <a:r>
              <a:rPr lang="en-US" sz="1200" dirty="0">
                <a:solidFill>
                  <a:srgbClr val="F4CAB8"/>
                </a:solidFill>
                <a:latin typeface="Montserrat Medium" pitchFamily="34" charset="0"/>
                <a:ea typeface="Montserrat Medium" pitchFamily="34" charset="-122"/>
                <a:cs typeface="Montserrat Medium" pitchFamily="34" charset="-120"/>
              </a:rPr>
              <a:t>2M docs per store, Sub-1000ms latency</a:t>
            </a:r>
            <a:endParaRPr lang="en-US" sz="1200" dirty="0"/>
          </a:p>
        </p:txBody>
      </p:sp>
      <p:sp>
        <p:nvSpPr>
          <p:cNvPr id="18" name="Text 13"/>
          <p:cNvSpPr/>
          <p:nvPr/>
        </p:nvSpPr>
        <p:spPr>
          <a:xfrm>
            <a:off x="610910" y="5025628"/>
            <a:ext cx="2872502" cy="305514"/>
          </a:xfrm>
          <a:prstGeom prst="rect">
            <a:avLst/>
          </a:prstGeom>
          <a:noFill/>
          <a:ln/>
        </p:spPr>
        <p:txBody>
          <a:bodyPr wrap="none" lIns="0" tIns="0" rIns="0" bIns="0" rtlCol="0" anchor="t"/>
          <a:lstStyle/>
          <a:p>
            <a:pPr algn="l" indent="0" marL="0">
              <a:lnSpc>
                <a:spcPts val="2400"/>
              </a:lnSpc>
              <a:buNone/>
            </a:pPr>
            <a:r>
              <a:rPr lang="en-US" sz="1900" b="1" dirty="0">
                <a:solidFill>
                  <a:srgbClr val="FFB393"/>
                </a:solidFill>
                <a:latin typeface="Brygada 1918 Bold" pitchFamily="34" charset="0"/>
                <a:ea typeface="Brygada 1918 Bold" pitchFamily="34" charset="-122"/>
                <a:cs typeface="Brygada 1918 Bold" pitchFamily="34" charset="-120"/>
              </a:rPr>
              <a:t>Data Store Organization</a:t>
            </a:r>
            <a:endParaRPr lang="en-US" sz="1900" dirty="0"/>
          </a:p>
        </p:txBody>
      </p:sp>
      <p:sp>
        <p:nvSpPr>
          <p:cNvPr id="19" name="Text 14"/>
          <p:cNvSpPr/>
          <p:nvPr/>
        </p:nvSpPr>
        <p:spPr>
          <a:xfrm>
            <a:off x="610910" y="5483781"/>
            <a:ext cx="7895987" cy="732949"/>
          </a:xfrm>
          <a:prstGeom prst="rect">
            <a:avLst/>
          </a:prstGeom>
          <a:noFill/>
          <a:ln/>
        </p:spPr>
        <p:txBody>
          <a:bodyPr wrap="square" lIns="0" tIns="0" rIns="0" bIns="0" rtlCol="0" anchor="t"/>
          <a:lstStyle/>
          <a:p>
            <a:pPr algn="l" indent="0" marL="0">
              <a:lnSpc>
                <a:spcPts val="1900"/>
              </a:lnSpc>
              <a:buNone/>
            </a:pPr>
            <a:r>
              <a:rPr lang="en-US" sz="1200" b="1" dirty="0">
                <a:solidFill>
                  <a:srgbClr val="F4CAB8"/>
                </a:solidFill>
                <a:latin typeface="Montserrat Medium" pitchFamily="34" charset="0"/>
                <a:ea typeface="Montserrat Medium" pitchFamily="34" charset="-122"/>
                <a:cs typeface="Montserrat Medium" pitchFamily="34" charset="-120"/>
              </a:rPr>
              <a:t>HOT Tier:</a:t>
            </a:r>
            <a:pPr algn="l" indent="0" marL="0">
              <a:lnSpc>
                <a:spcPts val="1900"/>
              </a:lnSpc>
              <a:buNone/>
            </a:pPr>
            <a:r>
              <a:rPr lang="en-US" sz="1200" dirty="0">
                <a:solidFill>
                  <a:srgbClr val="F4CAB8"/>
                </a:solidFill>
                <a:latin typeface="Montserrat Medium" pitchFamily="34" charset="0"/>
                <a:ea typeface="Montserrat Medium" pitchFamily="34" charset="-122"/>
                <a:cs typeface="Montserrat Medium" pitchFamily="34" charset="-120"/>
              </a:rPr>
              <a:t> Active claims and recently uploaded documents (last 30 days). Stores like liability-docs-active, fraud-docs-active, property-docs-active deliver sub-200ms query performance for real-time AI decisions.</a:t>
            </a:r>
            <a:endParaRPr lang="en-US" sz="1200" dirty="0"/>
          </a:p>
        </p:txBody>
      </p:sp>
      <p:sp>
        <p:nvSpPr>
          <p:cNvPr id="20" name="Text 15"/>
          <p:cNvSpPr/>
          <p:nvPr/>
        </p:nvSpPr>
        <p:spPr>
          <a:xfrm>
            <a:off x="610910" y="6354128"/>
            <a:ext cx="7895987" cy="488633"/>
          </a:xfrm>
          <a:prstGeom prst="rect">
            <a:avLst/>
          </a:prstGeom>
          <a:noFill/>
          <a:ln/>
        </p:spPr>
        <p:txBody>
          <a:bodyPr wrap="square" lIns="0" tIns="0" rIns="0" bIns="0" rtlCol="0" anchor="t"/>
          <a:lstStyle/>
          <a:p>
            <a:pPr algn="l" indent="0" marL="0">
              <a:lnSpc>
                <a:spcPts val="1900"/>
              </a:lnSpc>
              <a:buNone/>
            </a:pPr>
            <a:r>
              <a:rPr lang="en-US" sz="1200" b="1" dirty="0">
                <a:solidFill>
                  <a:srgbClr val="F4CAB8"/>
                </a:solidFill>
                <a:latin typeface="Montserrat Medium" pitchFamily="34" charset="0"/>
                <a:ea typeface="Montserrat Medium" pitchFamily="34" charset="-122"/>
                <a:cs typeface="Montserrat Medium" pitchFamily="34" charset="-120"/>
              </a:rPr>
              <a:t>WARM Tier:</a:t>
            </a:r>
            <a:pPr algn="l" indent="0" marL="0">
              <a:lnSpc>
                <a:spcPts val="1900"/>
              </a:lnSpc>
              <a:buNone/>
            </a:pPr>
            <a:r>
              <a:rPr lang="en-US" sz="1200" dirty="0">
                <a:solidFill>
                  <a:srgbClr val="F4CAB8"/>
                </a:solidFill>
                <a:latin typeface="Montserrat Medium" pitchFamily="34" charset="0"/>
                <a:ea typeface="Montserrat Medium" pitchFamily="34" charset="-122"/>
                <a:cs typeface="Montserrat Medium" pitchFamily="34" charset="-120"/>
              </a:rPr>
              <a:t> Recently closed claims (last 2 years) and training data. Recent stores provide sub-500ms performance for model training and reference lookups with 500K documents per specialized store.</a:t>
            </a:r>
            <a:endParaRPr lang="en-US" sz="1200" dirty="0"/>
          </a:p>
        </p:txBody>
      </p:sp>
      <p:sp>
        <p:nvSpPr>
          <p:cNvPr id="21" name="Text 16"/>
          <p:cNvSpPr/>
          <p:nvPr/>
        </p:nvSpPr>
        <p:spPr>
          <a:xfrm>
            <a:off x="610910" y="6980158"/>
            <a:ext cx="7895987" cy="488633"/>
          </a:xfrm>
          <a:prstGeom prst="rect">
            <a:avLst/>
          </a:prstGeom>
          <a:noFill/>
          <a:ln/>
        </p:spPr>
        <p:txBody>
          <a:bodyPr wrap="square" lIns="0" tIns="0" rIns="0" bIns="0" rtlCol="0" anchor="t"/>
          <a:lstStyle/>
          <a:p>
            <a:pPr algn="l" indent="0" marL="0">
              <a:lnSpc>
                <a:spcPts val="1900"/>
              </a:lnSpc>
              <a:buNone/>
            </a:pPr>
            <a:r>
              <a:rPr lang="en-US" sz="1200" b="1" dirty="0">
                <a:solidFill>
                  <a:srgbClr val="F4CAB8"/>
                </a:solidFill>
                <a:latin typeface="Montserrat Medium" pitchFamily="34" charset="0"/>
                <a:ea typeface="Montserrat Medium" pitchFamily="34" charset="-122"/>
                <a:cs typeface="Montserrat Medium" pitchFamily="34" charset="-120"/>
              </a:rPr>
              <a:t>COLD Tier:</a:t>
            </a:r>
            <a:pPr algn="l" indent="0" marL="0">
              <a:lnSpc>
                <a:spcPts val="1900"/>
              </a:lnSpc>
              <a:buNone/>
            </a:pPr>
            <a:r>
              <a:rPr lang="en-US" sz="1200" dirty="0">
                <a:solidFill>
                  <a:srgbClr val="F4CAB8"/>
                </a:solidFill>
                <a:latin typeface="Montserrat Medium" pitchFamily="34" charset="0"/>
                <a:ea typeface="Montserrat Medium" pitchFamily="34" charset="-122"/>
                <a:cs typeface="Montserrat Medium" pitchFamily="34" charset="-120"/>
              </a:rPr>
              <a:t> Historical claims (2-7 years) for compliance retention. Archive stores handle sub-1000ms queries acceptable for audit and compliance scenarios, supporting up to 2M documents each.</a:t>
            </a:r>
            <a:endParaRPr lang="en-US" sz="1200" dirty="0"/>
          </a:p>
        </p:txBody>
      </p:sp>
      <p:sp>
        <p:nvSpPr>
          <p:cNvPr id="22" name="Text 17"/>
          <p:cNvSpPr/>
          <p:nvPr/>
        </p:nvSpPr>
        <p:spPr>
          <a:xfrm>
            <a:off x="8887182" y="5025628"/>
            <a:ext cx="2736413" cy="305514"/>
          </a:xfrm>
          <a:prstGeom prst="rect">
            <a:avLst/>
          </a:prstGeom>
          <a:noFill/>
          <a:ln/>
        </p:spPr>
        <p:txBody>
          <a:bodyPr wrap="none" lIns="0" tIns="0" rIns="0" bIns="0" rtlCol="0" anchor="t"/>
          <a:lstStyle/>
          <a:p>
            <a:pPr algn="l" indent="0" marL="0">
              <a:lnSpc>
                <a:spcPts val="2400"/>
              </a:lnSpc>
              <a:buNone/>
            </a:pPr>
            <a:r>
              <a:rPr lang="en-US" sz="1900" b="1" dirty="0">
                <a:solidFill>
                  <a:srgbClr val="FFB393"/>
                </a:solidFill>
                <a:latin typeface="Brygada 1918 Bold" pitchFamily="34" charset="0"/>
                <a:ea typeface="Brygada 1918 Bold" pitchFamily="34" charset="-122"/>
                <a:cs typeface="Brygada 1918 Bold" pitchFamily="34" charset="-120"/>
              </a:rPr>
              <a:t>Automated Transitions</a:t>
            </a:r>
            <a:endParaRPr lang="en-US" sz="1900" dirty="0"/>
          </a:p>
        </p:txBody>
      </p:sp>
      <p:sp>
        <p:nvSpPr>
          <p:cNvPr id="23" name="Text 18"/>
          <p:cNvSpPr/>
          <p:nvPr/>
        </p:nvSpPr>
        <p:spPr>
          <a:xfrm>
            <a:off x="8887182" y="5483781"/>
            <a:ext cx="5139809" cy="244316"/>
          </a:xfrm>
          <a:prstGeom prst="rect">
            <a:avLst/>
          </a:prstGeom>
          <a:noFill/>
          <a:ln/>
        </p:spPr>
        <p:txBody>
          <a:bodyPr wrap="none" lIns="0" tIns="0" rIns="0" bIns="0" rtlCol="0" anchor="t"/>
          <a:lstStyle/>
          <a:p>
            <a:pPr algn="l" indent="0" marL="0">
              <a:lnSpc>
                <a:spcPts val="1900"/>
              </a:lnSpc>
              <a:buNone/>
            </a:pPr>
            <a:r>
              <a:rPr lang="en-US" sz="1200" dirty="0">
                <a:solidFill>
                  <a:srgbClr val="F4CAB8"/>
                </a:solidFill>
                <a:latin typeface="Montserrat Medium" pitchFamily="34" charset="0"/>
                <a:ea typeface="Montserrat Medium" pitchFamily="34" charset="-122"/>
                <a:cs typeface="Montserrat Medium" pitchFamily="34" charset="-120"/>
              </a:rPr>
              <a:t>Cloud Composer DAGs execute daily tier management:</a:t>
            </a:r>
            <a:endParaRPr lang="en-US" sz="1200" dirty="0"/>
          </a:p>
        </p:txBody>
      </p:sp>
      <p:sp>
        <p:nvSpPr>
          <p:cNvPr id="24" name="Text 19"/>
          <p:cNvSpPr/>
          <p:nvPr/>
        </p:nvSpPr>
        <p:spPr>
          <a:xfrm>
            <a:off x="8887182" y="5865495"/>
            <a:ext cx="5139809" cy="244316"/>
          </a:xfrm>
          <a:prstGeom prst="rect">
            <a:avLst/>
          </a:prstGeom>
          <a:noFill/>
          <a:ln/>
        </p:spPr>
        <p:txBody>
          <a:bodyPr wrap="none" lIns="0" tIns="0" rIns="0" bIns="0" rtlCol="0" anchor="t"/>
          <a:lstStyle/>
          <a:p>
            <a:pPr algn="l" marL="342900" indent="-342900">
              <a:lnSpc>
                <a:spcPts val="1900"/>
              </a:lnSpc>
              <a:buSzPct val="100000"/>
              <a:buChar char="•"/>
            </a:pPr>
            <a:r>
              <a:rPr lang="en-US" sz="1200" dirty="0">
                <a:solidFill>
                  <a:srgbClr val="F4CAB8"/>
                </a:solidFill>
                <a:latin typeface="Montserrat Medium" pitchFamily="34" charset="0"/>
                <a:ea typeface="Montserrat Medium" pitchFamily="34" charset="-122"/>
                <a:cs typeface="Montserrat Medium" pitchFamily="34" charset="-120"/>
              </a:rPr>
              <a:t>Claim closure + 7 days → HOT to WARM</a:t>
            </a:r>
            <a:endParaRPr lang="en-US" sz="1200" dirty="0"/>
          </a:p>
        </p:txBody>
      </p:sp>
      <p:sp>
        <p:nvSpPr>
          <p:cNvPr id="25" name="Text 20"/>
          <p:cNvSpPr/>
          <p:nvPr/>
        </p:nvSpPr>
        <p:spPr>
          <a:xfrm>
            <a:off x="8887182" y="6163151"/>
            <a:ext cx="5139809" cy="244316"/>
          </a:xfrm>
          <a:prstGeom prst="rect">
            <a:avLst/>
          </a:prstGeom>
          <a:noFill/>
          <a:ln/>
        </p:spPr>
        <p:txBody>
          <a:bodyPr wrap="none" lIns="0" tIns="0" rIns="0" bIns="0" rtlCol="0" anchor="t"/>
          <a:lstStyle/>
          <a:p>
            <a:pPr algn="l" marL="342900" indent="-342900">
              <a:lnSpc>
                <a:spcPts val="1900"/>
              </a:lnSpc>
              <a:buSzPct val="100000"/>
              <a:buChar char="•"/>
            </a:pPr>
            <a:r>
              <a:rPr lang="en-US" sz="1200" dirty="0">
                <a:solidFill>
                  <a:srgbClr val="F4CAB8"/>
                </a:solidFill>
                <a:latin typeface="Montserrat Medium" pitchFamily="34" charset="0"/>
                <a:ea typeface="Montserrat Medium" pitchFamily="34" charset="-122"/>
                <a:cs typeface="Montserrat Medium" pitchFamily="34" charset="-120"/>
              </a:rPr>
              <a:t>Document age &gt; 2 years → WARM to COLD</a:t>
            </a:r>
            <a:endParaRPr lang="en-US" sz="1200" dirty="0"/>
          </a:p>
        </p:txBody>
      </p:sp>
      <p:sp>
        <p:nvSpPr>
          <p:cNvPr id="26" name="Text 21"/>
          <p:cNvSpPr/>
          <p:nvPr/>
        </p:nvSpPr>
        <p:spPr>
          <a:xfrm>
            <a:off x="8887182" y="6460807"/>
            <a:ext cx="5139809" cy="244316"/>
          </a:xfrm>
          <a:prstGeom prst="rect">
            <a:avLst/>
          </a:prstGeom>
          <a:noFill/>
          <a:ln/>
        </p:spPr>
        <p:txBody>
          <a:bodyPr wrap="none" lIns="0" tIns="0" rIns="0" bIns="0" rtlCol="0" anchor="t"/>
          <a:lstStyle/>
          <a:p>
            <a:pPr algn="l" marL="342900" indent="-342900">
              <a:lnSpc>
                <a:spcPts val="1900"/>
              </a:lnSpc>
              <a:buSzPct val="100000"/>
              <a:buChar char="•"/>
            </a:pPr>
            <a:r>
              <a:rPr lang="en-US" sz="1200" dirty="0">
                <a:solidFill>
                  <a:srgbClr val="F4CAB8"/>
                </a:solidFill>
                <a:latin typeface="Montserrat Medium" pitchFamily="34" charset="0"/>
                <a:ea typeface="Montserrat Medium" pitchFamily="34" charset="-122"/>
                <a:cs typeface="Montserrat Medium" pitchFamily="34" charset="-120"/>
              </a:rPr>
              <a:t>Document age &gt; 7 years → DELETE (retention met)</a:t>
            </a:r>
            <a:endParaRPr lang="en-US" sz="1200" dirty="0"/>
          </a:p>
        </p:txBody>
      </p:sp>
      <p:sp>
        <p:nvSpPr>
          <p:cNvPr id="27" name="Text 22"/>
          <p:cNvSpPr/>
          <p:nvPr/>
        </p:nvSpPr>
        <p:spPr>
          <a:xfrm>
            <a:off x="8887182" y="6758464"/>
            <a:ext cx="5139809" cy="244316"/>
          </a:xfrm>
          <a:prstGeom prst="rect">
            <a:avLst/>
          </a:prstGeom>
          <a:noFill/>
          <a:ln/>
        </p:spPr>
        <p:txBody>
          <a:bodyPr wrap="none" lIns="0" tIns="0" rIns="0" bIns="0" rtlCol="0" anchor="t"/>
          <a:lstStyle/>
          <a:p>
            <a:pPr algn="l" marL="342900" indent="-342900">
              <a:lnSpc>
                <a:spcPts val="1900"/>
              </a:lnSpc>
              <a:buSzPct val="100000"/>
              <a:buChar char="•"/>
            </a:pPr>
            <a:r>
              <a:rPr lang="en-US" sz="1200" dirty="0">
                <a:solidFill>
                  <a:srgbClr val="F4CAB8"/>
                </a:solidFill>
                <a:latin typeface="Montserrat Medium" pitchFamily="34" charset="0"/>
                <a:ea typeface="Montserrat Medium" pitchFamily="34" charset="-122"/>
                <a:cs typeface="Montserrat Medium" pitchFamily="34" charset="-120"/>
              </a:rPr>
              <a:t>Litigation holds prevent automated deletion</a:t>
            </a:r>
            <a:endParaRPr lang="en-US" sz="1200" dirty="0"/>
          </a:p>
        </p:txBody>
      </p:sp>
      <p:sp>
        <p:nvSpPr>
          <p:cNvPr id="28" name="Text 23"/>
          <p:cNvSpPr/>
          <p:nvPr/>
        </p:nvSpPr>
        <p:spPr>
          <a:xfrm>
            <a:off x="8887182" y="7140178"/>
            <a:ext cx="5139809" cy="488633"/>
          </a:xfrm>
          <a:prstGeom prst="rect">
            <a:avLst/>
          </a:prstGeom>
          <a:noFill/>
          <a:ln/>
        </p:spPr>
        <p:txBody>
          <a:bodyPr wrap="square" lIns="0" tIns="0" rIns="0" bIns="0" rtlCol="0" anchor="t"/>
          <a:lstStyle/>
          <a:p>
            <a:pPr algn="l" indent="0" marL="0">
              <a:lnSpc>
                <a:spcPts val="1900"/>
              </a:lnSpc>
              <a:buNone/>
            </a:pPr>
            <a:r>
              <a:rPr lang="en-US" sz="1200" dirty="0">
                <a:solidFill>
                  <a:srgbClr val="F4CAB8"/>
                </a:solidFill>
                <a:latin typeface="Montserrat Medium" pitchFamily="34" charset="0"/>
                <a:ea typeface="Montserrat Medium" pitchFamily="34" charset="-122"/>
                <a:cs typeface="Montserrat Medium" pitchFamily="34" charset="-120"/>
              </a:rPr>
              <a:t>This approach keeps HOT tier small and fast while optimizing costs through appropriate storage classes.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9235" y="378500"/>
            <a:ext cx="5906929" cy="457795"/>
          </a:xfrm>
          <a:prstGeom prst="rect">
            <a:avLst/>
          </a:prstGeom>
          <a:noFill/>
          <a:ln/>
        </p:spPr>
        <p:txBody>
          <a:bodyPr wrap="none" lIns="0" tIns="0" rIns="0" bIns="0" rtlCol="0" anchor="t"/>
          <a:lstStyle/>
          <a:p>
            <a:pPr algn="l" indent="0" marL="0">
              <a:lnSpc>
                <a:spcPts val="3600"/>
              </a:lnSpc>
              <a:buNone/>
            </a:pPr>
            <a:r>
              <a:rPr lang="en-US" sz="2850" b="1" dirty="0">
                <a:solidFill>
                  <a:srgbClr val="FFB393"/>
                </a:solidFill>
                <a:latin typeface="Brygada 1918 Bold" pitchFamily="34" charset="0"/>
                <a:ea typeface="Brygada 1918 Bold" pitchFamily="34" charset="-122"/>
                <a:cs typeface="Brygada 1918 Bold" pitchFamily="34" charset="-120"/>
              </a:rPr>
              <a:t>Vertex AI Search Scaling Strategy</a:t>
            </a:r>
            <a:endParaRPr lang="en-US" sz="2850" dirty="0"/>
          </a:p>
        </p:txBody>
      </p:sp>
      <p:sp>
        <p:nvSpPr>
          <p:cNvPr id="3" name="Text 1"/>
          <p:cNvSpPr/>
          <p:nvPr/>
        </p:nvSpPr>
        <p:spPr>
          <a:xfrm>
            <a:off x="549235" y="1110853"/>
            <a:ext cx="13531929" cy="439102"/>
          </a:xfrm>
          <a:prstGeom prst="rect">
            <a:avLst/>
          </a:prstGeom>
          <a:noFill/>
          <a:ln/>
        </p:spPr>
        <p:txBody>
          <a:bodyPr wrap="square" lIns="0" tIns="0" rIns="0" bIns="0" rtlCol="0" anchor="t"/>
          <a:lstStyle/>
          <a:p>
            <a:pPr algn="l" indent="0" marL="0">
              <a:lnSpc>
                <a:spcPts val="1700"/>
              </a:lnSpc>
              <a:buNone/>
            </a:pPr>
            <a:r>
              <a:rPr lang="en-US" sz="1050" dirty="0">
                <a:solidFill>
                  <a:srgbClr val="F4CAB8"/>
                </a:solidFill>
                <a:latin typeface="Montserrat Medium" pitchFamily="34" charset="0"/>
                <a:ea typeface="Montserrat Medium" pitchFamily="34" charset="-122"/>
                <a:cs typeface="Montserrat Medium" pitchFamily="34" charset="-120"/>
              </a:rPr>
              <a:t>Managing 20M+ documents requires sophisticated data store partitioning to maintain optimal performance. Our metadata-first routing approach ensures AI agents query only relevant stores while automated capacity management prevents performance degradation.</a:t>
            </a:r>
            <a:endParaRPr lang="en-US" sz="1050" dirty="0"/>
          </a:p>
        </p:txBody>
      </p:sp>
      <p:sp>
        <p:nvSpPr>
          <p:cNvPr id="4" name="Shape 2"/>
          <p:cNvSpPr/>
          <p:nvPr/>
        </p:nvSpPr>
        <p:spPr>
          <a:xfrm>
            <a:off x="549235" y="1704380"/>
            <a:ext cx="4419124" cy="2013228"/>
          </a:xfrm>
          <a:prstGeom prst="roundRect">
            <a:avLst>
              <a:gd name="adj" fmla="val 1023"/>
            </a:avLst>
          </a:prstGeom>
          <a:solidFill>
            <a:srgbClr val="4D1529"/>
          </a:solidFill>
          <a:ln/>
        </p:spPr>
      </p:sp>
      <p:sp>
        <p:nvSpPr>
          <p:cNvPr id="5" name="Shape 3"/>
          <p:cNvSpPr/>
          <p:nvPr/>
        </p:nvSpPr>
        <p:spPr>
          <a:xfrm>
            <a:off x="686514" y="1841659"/>
            <a:ext cx="411956" cy="411956"/>
          </a:xfrm>
          <a:prstGeom prst="roundRect">
            <a:avLst>
              <a:gd name="adj" fmla="val 22194326"/>
            </a:avLst>
          </a:prstGeom>
          <a:solidFill>
            <a:srgbClr val="FFB393"/>
          </a:solidFill>
          <a:ln/>
        </p:spPr>
      </p:sp>
      <p:pic>
        <p:nvPicPr>
          <p:cNvPr id="6" name="Image 0" descr="preencoded.png">    </p:cNvPr>
          <p:cNvPicPr>
            <a:picLocks noChangeAspect="1"/>
          </p:cNvPicPr>
          <p:nvPr/>
        </p:nvPicPr>
        <p:blipFill>
          <a:blip r:embed="rId1"/>
          <a:stretch>
            <a:fillRect/>
          </a:stretch>
        </p:blipFill>
        <p:spPr>
          <a:xfrm>
            <a:off x="799743" y="1931789"/>
            <a:ext cx="185380" cy="231696"/>
          </a:xfrm>
          <a:prstGeom prst="rect">
            <a:avLst/>
          </a:prstGeom>
        </p:spPr>
      </p:pic>
      <p:sp>
        <p:nvSpPr>
          <p:cNvPr id="7" name="Text 4"/>
          <p:cNvSpPr/>
          <p:nvPr/>
        </p:nvSpPr>
        <p:spPr>
          <a:xfrm>
            <a:off x="686514" y="2390894"/>
            <a:ext cx="2935010" cy="228838"/>
          </a:xfrm>
          <a:prstGeom prst="rect">
            <a:avLst/>
          </a:prstGeom>
          <a:noFill/>
          <a:ln/>
        </p:spPr>
        <p:txBody>
          <a:bodyPr wrap="none" lIns="0" tIns="0" rIns="0" bIns="0" rtlCol="0" anchor="t"/>
          <a:lstStyle/>
          <a:p>
            <a:pPr algn="l" indent="0" marL="0">
              <a:lnSpc>
                <a:spcPts val="1800"/>
              </a:lnSpc>
              <a:buNone/>
            </a:pPr>
            <a:r>
              <a:rPr lang="en-US" sz="1400" b="1" dirty="0">
                <a:solidFill>
                  <a:srgbClr val="F4CAB8"/>
                </a:solidFill>
                <a:latin typeface="Brygada 1918 Bold" pitchFamily="34" charset="0"/>
                <a:ea typeface="Brygada 1918 Bold" pitchFamily="34" charset="-122"/>
                <a:cs typeface="Brygada 1918 Bold" pitchFamily="34" charset="-120"/>
              </a:rPr>
              <a:t>Multiple Data Store Organization</a:t>
            </a:r>
            <a:endParaRPr lang="en-US" sz="1400" dirty="0"/>
          </a:p>
        </p:txBody>
      </p:sp>
      <p:sp>
        <p:nvSpPr>
          <p:cNvPr id="8" name="Text 5"/>
          <p:cNvSpPr/>
          <p:nvPr/>
        </p:nvSpPr>
        <p:spPr>
          <a:xfrm>
            <a:off x="686514" y="2702123"/>
            <a:ext cx="4144566" cy="878205"/>
          </a:xfrm>
          <a:prstGeom prst="rect">
            <a:avLst/>
          </a:prstGeom>
          <a:noFill/>
          <a:ln/>
        </p:spPr>
        <p:txBody>
          <a:bodyPr wrap="square" lIns="0" tIns="0" rIns="0" bIns="0" rtlCol="0" anchor="t"/>
          <a:lstStyle/>
          <a:p>
            <a:pPr algn="l" indent="0" marL="0">
              <a:lnSpc>
                <a:spcPts val="1700"/>
              </a:lnSpc>
              <a:buNone/>
            </a:pPr>
            <a:r>
              <a:rPr lang="en-US" sz="1050" dirty="0">
                <a:solidFill>
                  <a:srgbClr val="F4CAB8"/>
                </a:solidFill>
                <a:latin typeface="Montserrat Medium" pitchFamily="34" charset="0"/>
                <a:ea typeface="Montserrat Medium" pitchFamily="34" charset="-122"/>
                <a:cs typeface="Montserrat Medium" pitchFamily="34" charset="-120"/>
              </a:rPr>
              <a:t>Partition by use case (liability, fraud, property) and tier (active, recent, archive). Example: liability-docs-active contains 50K documents, liability-docs-recent holds 500K documents.</a:t>
            </a:r>
            <a:endParaRPr lang="en-US" sz="1050" dirty="0"/>
          </a:p>
        </p:txBody>
      </p:sp>
      <p:sp>
        <p:nvSpPr>
          <p:cNvPr id="9" name="Shape 6"/>
          <p:cNvSpPr/>
          <p:nvPr/>
        </p:nvSpPr>
        <p:spPr>
          <a:xfrm>
            <a:off x="5105638" y="1704380"/>
            <a:ext cx="4419124" cy="2013228"/>
          </a:xfrm>
          <a:prstGeom prst="roundRect">
            <a:avLst>
              <a:gd name="adj" fmla="val 1023"/>
            </a:avLst>
          </a:prstGeom>
          <a:solidFill>
            <a:srgbClr val="4D1529"/>
          </a:solidFill>
          <a:ln/>
        </p:spPr>
      </p:sp>
      <p:sp>
        <p:nvSpPr>
          <p:cNvPr id="10" name="Shape 7"/>
          <p:cNvSpPr/>
          <p:nvPr/>
        </p:nvSpPr>
        <p:spPr>
          <a:xfrm>
            <a:off x="5242917" y="1841659"/>
            <a:ext cx="411956" cy="411956"/>
          </a:xfrm>
          <a:prstGeom prst="roundRect">
            <a:avLst>
              <a:gd name="adj" fmla="val 22194326"/>
            </a:avLst>
          </a:prstGeom>
          <a:solidFill>
            <a:srgbClr val="FFB393"/>
          </a:solidFill>
          <a:ln/>
        </p:spPr>
      </p:sp>
      <p:pic>
        <p:nvPicPr>
          <p:cNvPr id="11" name="Image 1" descr="preencoded.png">    </p:cNvPr>
          <p:cNvPicPr>
            <a:picLocks noChangeAspect="1"/>
          </p:cNvPicPr>
          <p:nvPr/>
        </p:nvPicPr>
        <p:blipFill>
          <a:blip r:embed="rId2"/>
          <a:stretch>
            <a:fillRect/>
          </a:stretch>
        </p:blipFill>
        <p:spPr>
          <a:xfrm>
            <a:off x="5356146" y="1931789"/>
            <a:ext cx="185380" cy="231696"/>
          </a:xfrm>
          <a:prstGeom prst="rect">
            <a:avLst/>
          </a:prstGeom>
        </p:spPr>
      </p:pic>
      <p:sp>
        <p:nvSpPr>
          <p:cNvPr id="12" name="Text 8"/>
          <p:cNvSpPr/>
          <p:nvPr/>
        </p:nvSpPr>
        <p:spPr>
          <a:xfrm>
            <a:off x="5242917" y="2390894"/>
            <a:ext cx="2077045" cy="228838"/>
          </a:xfrm>
          <a:prstGeom prst="rect">
            <a:avLst/>
          </a:prstGeom>
          <a:noFill/>
          <a:ln/>
        </p:spPr>
        <p:txBody>
          <a:bodyPr wrap="none" lIns="0" tIns="0" rIns="0" bIns="0" rtlCol="0" anchor="t"/>
          <a:lstStyle/>
          <a:p>
            <a:pPr algn="l" indent="0" marL="0">
              <a:lnSpc>
                <a:spcPts val="1800"/>
              </a:lnSpc>
              <a:buNone/>
            </a:pPr>
            <a:r>
              <a:rPr lang="en-US" sz="1400" b="1" dirty="0">
                <a:solidFill>
                  <a:srgbClr val="F4CAB8"/>
                </a:solidFill>
                <a:latin typeface="Brygada 1918 Bold" pitchFamily="34" charset="0"/>
                <a:ea typeface="Brygada 1918 Bold" pitchFamily="34" charset="-122"/>
                <a:cs typeface="Brygada 1918 Bold" pitchFamily="34" charset="-120"/>
              </a:rPr>
              <a:t>Metadata-First Routing</a:t>
            </a:r>
            <a:endParaRPr lang="en-US" sz="1400" dirty="0"/>
          </a:p>
        </p:txBody>
      </p:sp>
      <p:sp>
        <p:nvSpPr>
          <p:cNvPr id="13" name="Text 9"/>
          <p:cNvSpPr/>
          <p:nvPr/>
        </p:nvSpPr>
        <p:spPr>
          <a:xfrm>
            <a:off x="5242917" y="2702123"/>
            <a:ext cx="4144566" cy="658654"/>
          </a:xfrm>
          <a:prstGeom prst="rect">
            <a:avLst/>
          </a:prstGeom>
          <a:noFill/>
          <a:ln/>
        </p:spPr>
        <p:txBody>
          <a:bodyPr wrap="square" lIns="0" tIns="0" rIns="0" bIns="0" rtlCol="0" anchor="t"/>
          <a:lstStyle/>
          <a:p>
            <a:pPr algn="l" indent="0" marL="0">
              <a:lnSpc>
                <a:spcPts val="1700"/>
              </a:lnSpc>
              <a:buNone/>
            </a:pPr>
            <a:r>
              <a:rPr lang="en-US" sz="1050" dirty="0">
                <a:solidFill>
                  <a:srgbClr val="F4CAB8"/>
                </a:solidFill>
                <a:latin typeface="Montserrat Medium" pitchFamily="34" charset="0"/>
                <a:ea typeface="Montserrat Medium" pitchFamily="34" charset="-122"/>
                <a:cs typeface="Montserrat Medium" pitchFamily="34" charset="-120"/>
              </a:rPr>
              <a:t>AI agents query BigQuery metadata first to identify relevant data stores for each claim. This targeted approach eliminates unnecessary searches across irrelevant stores.</a:t>
            </a:r>
            <a:endParaRPr lang="en-US" sz="1050" dirty="0"/>
          </a:p>
        </p:txBody>
      </p:sp>
      <p:sp>
        <p:nvSpPr>
          <p:cNvPr id="14" name="Shape 10"/>
          <p:cNvSpPr/>
          <p:nvPr/>
        </p:nvSpPr>
        <p:spPr>
          <a:xfrm>
            <a:off x="9662041" y="1704380"/>
            <a:ext cx="4419124" cy="2013228"/>
          </a:xfrm>
          <a:prstGeom prst="roundRect">
            <a:avLst>
              <a:gd name="adj" fmla="val 1023"/>
            </a:avLst>
          </a:prstGeom>
          <a:solidFill>
            <a:srgbClr val="4D1529"/>
          </a:solidFill>
          <a:ln/>
        </p:spPr>
      </p:sp>
      <p:sp>
        <p:nvSpPr>
          <p:cNvPr id="15" name="Shape 11"/>
          <p:cNvSpPr/>
          <p:nvPr/>
        </p:nvSpPr>
        <p:spPr>
          <a:xfrm>
            <a:off x="9799320" y="1841659"/>
            <a:ext cx="411956" cy="411956"/>
          </a:xfrm>
          <a:prstGeom prst="roundRect">
            <a:avLst>
              <a:gd name="adj" fmla="val 22194326"/>
            </a:avLst>
          </a:prstGeom>
          <a:solidFill>
            <a:srgbClr val="FFB393"/>
          </a:solidFill>
          <a:ln/>
        </p:spPr>
      </p:sp>
      <p:pic>
        <p:nvPicPr>
          <p:cNvPr id="16" name="Image 2" descr="preencoded.png">    </p:cNvPr>
          <p:cNvPicPr>
            <a:picLocks noChangeAspect="1"/>
          </p:cNvPicPr>
          <p:nvPr/>
        </p:nvPicPr>
        <p:blipFill>
          <a:blip r:embed="rId3"/>
          <a:stretch>
            <a:fillRect/>
          </a:stretch>
        </p:blipFill>
        <p:spPr>
          <a:xfrm>
            <a:off x="9912548" y="1931789"/>
            <a:ext cx="185380" cy="231696"/>
          </a:xfrm>
          <a:prstGeom prst="rect">
            <a:avLst/>
          </a:prstGeom>
        </p:spPr>
      </p:pic>
      <p:sp>
        <p:nvSpPr>
          <p:cNvPr id="17" name="Text 12"/>
          <p:cNvSpPr/>
          <p:nvPr/>
        </p:nvSpPr>
        <p:spPr>
          <a:xfrm>
            <a:off x="9799320" y="2390894"/>
            <a:ext cx="3013472" cy="228838"/>
          </a:xfrm>
          <a:prstGeom prst="rect">
            <a:avLst/>
          </a:prstGeom>
          <a:noFill/>
          <a:ln/>
        </p:spPr>
        <p:txBody>
          <a:bodyPr wrap="none" lIns="0" tIns="0" rIns="0" bIns="0" rtlCol="0" anchor="t"/>
          <a:lstStyle/>
          <a:p>
            <a:pPr algn="l" indent="0" marL="0">
              <a:lnSpc>
                <a:spcPts val="1800"/>
              </a:lnSpc>
              <a:buNone/>
            </a:pPr>
            <a:r>
              <a:rPr lang="en-US" sz="1400" b="1" dirty="0">
                <a:solidFill>
                  <a:srgbClr val="F4CAB8"/>
                </a:solidFill>
                <a:latin typeface="Brygada 1918 Bold" pitchFamily="34" charset="0"/>
                <a:ea typeface="Brygada 1918 Bold" pitchFamily="34" charset="-122"/>
                <a:cs typeface="Brygada 1918 Bold" pitchFamily="34" charset="-120"/>
              </a:rPr>
              <a:t>Automated Capacity Management</a:t>
            </a:r>
            <a:endParaRPr lang="en-US" sz="1400" dirty="0"/>
          </a:p>
        </p:txBody>
      </p:sp>
      <p:sp>
        <p:nvSpPr>
          <p:cNvPr id="18" name="Text 13"/>
          <p:cNvSpPr/>
          <p:nvPr/>
        </p:nvSpPr>
        <p:spPr>
          <a:xfrm>
            <a:off x="9799320" y="2702123"/>
            <a:ext cx="4144566" cy="658654"/>
          </a:xfrm>
          <a:prstGeom prst="rect">
            <a:avLst/>
          </a:prstGeom>
          <a:noFill/>
          <a:ln/>
        </p:spPr>
        <p:txBody>
          <a:bodyPr wrap="square" lIns="0" tIns="0" rIns="0" bIns="0" rtlCol="0" anchor="t"/>
          <a:lstStyle/>
          <a:p>
            <a:pPr algn="l" indent="0" marL="0">
              <a:lnSpc>
                <a:spcPts val="1700"/>
              </a:lnSpc>
              <a:buNone/>
            </a:pPr>
            <a:r>
              <a:rPr lang="en-US" sz="1050" dirty="0">
                <a:solidFill>
                  <a:srgbClr val="F4CAB8"/>
                </a:solidFill>
                <a:latin typeface="Montserrat Medium" pitchFamily="34" charset="0"/>
                <a:ea typeface="Montserrat Medium" pitchFamily="34" charset="-122"/>
                <a:cs typeface="Montserrat Medium" pitchFamily="34" charset="-120"/>
              </a:rPr>
              <a:t>Daily monitoring tracks document counts per store. At 80% capacity (800K documents), automated Terraform provisioning creates new stores and updates routing logic.</a:t>
            </a:r>
            <a:endParaRPr lang="en-US" sz="1050" dirty="0"/>
          </a:p>
        </p:txBody>
      </p:sp>
      <p:sp>
        <p:nvSpPr>
          <p:cNvPr id="19" name="Text 14"/>
          <p:cNvSpPr/>
          <p:nvPr/>
        </p:nvSpPr>
        <p:spPr>
          <a:xfrm>
            <a:off x="549235" y="3923586"/>
            <a:ext cx="3643908" cy="274558"/>
          </a:xfrm>
          <a:prstGeom prst="rect">
            <a:avLst/>
          </a:prstGeom>
          <a:noFill/>
          <a:ln/>
        </p:spPr>
        <p:txBody>
          <a:bodyPr wrap="none" lIns="0" tIns="0" rIns="0" bIns="0" rtlCol="0" anchor="t"/>
          <a:lstStyle/>
          <a:p>
            <a:pPr algn="l" indent="0" marL="0">
              <a:lnSpc>
                <a:spcPts val="2150"/>
              </a:lnSpc>
              <a:buNone/>
            </a:pPr>
            <a:r>
              <a:rPr lang="en-US" sz="1700" b="1" dirty="0">
                <a:solidFill>
                  <a:srgbClr val="FFB393"/>
                </a:solidFill>
                <a:latin typeface="Brygada 1918 Bold" pitchFamily="34" charset="0"/>
                <a:ea typeface="Brygada 1918 Bold" pitchFamily="34" charset="-122"/>
                <a:cs typeface="Brygada 1918 Bold" pitchFamily="34" charset="-120"/>
              </a:rPr>
              <a:t>Automated Provisioning Workflow</a:t>
            </a:r>
            <a:endParaRPr lang="en-US" sz="1700" dirty="0"/>
          </a:p>
        </p:txBody>
      </p:sp>
      <p:pic>
        <p:nvPicPr>
          <p:cNvPr id="20" name="Image 3" descr="preencoded.png">    </p:cNvPr>
          <p:cNvPicPr>
            <a:picLocks noChangeAspect="1"/>
          </p:cNvPicPr>
          <p:nvPr/>
        </p:nvPicPr>
        <p:blipFill>
          <a:blip r:embed="rId4"/>
          <a:stretch>
            <a:fillRect/>
          </a:stretch>
        </p:blipFill>
        <p:spPr>
          <a:xfrm>
            <a:off x="549235" y="4404122"/>
            <a:ext cx="6765965" cy="549235"/>
          </a:xfrm>
          <a:prstGeom prst="rect">
            <a:avLst/>
          </a:prstGeom>
        </p:spPr>
      </p:pic>
      <p:sp>
        <p:nvSpPr>
          <p:cNvPr id="21" name="Text 15"/>
          <p:cNvSpPr/>
          <p:nvPr/>
        </p:nvSpPr>
        <p:spPr>
          <a:xfrm>
            <a:off x="686514" y="5090636"/>
            <a:ext cx="1830943" cy="228838"/>
          </a:xfrm>
          <a:prstGeom prst="rect">
            <a:avLst/>
          </a:prstGeom>
          <a:noFill/>
          <a:ln/>
        </p:spPr>
        <p:txBody>
          <a:bodyPr wrap="none" lIns="0" tIns="0" rIns="0" bIns="0" rtlCol="0" anchor="t"/>
          <a:lstStyle/>
          <a:p>
            <a:pPr algn="l" indent="0" marL="0">
              <a:lnSpc>
                <a:spcPts val="1800"/>
              </a:lnSpc>
              <a:buNone/>
            </a:pPr>
            <a:r>
              <a:rPr lang="en-US" sz="1400" b="1" dirty="0">
                <a:solidFill>
                  <a:srgbClr val="F4CAB8"/>
                </a:solidFill>
                <a:latin typeface="Brygada 1918 Bold" pitchFamily="34" charset="0"/>
                <a:ea typeface="Brygada 1918 Bold" pitchFamily="34" charset="-122"/>
                <a:cs typeface="Brygada 1918 Bold" pitchFamily="34" charset="-120"/>
              </a:rPr>
              <a:t>Capacity Alert</a:t>
            </a:r>
            <a:endParaRPr lang="en-US" sz="1400" dirty="0"/>
          </a:p>
        </p:txBody>
      </p:sp>
      <p:sp>
        <p:nvSpPr>
          <p:cNvPr id="22" name="Text 16"/>
          <p:cNvSpPr/>
          <p:nvPr/>
        </p:nvSpPr>
        <p:spPr>
          <a:xfrm>
            <a:off x="686514" y="5401866"/>
            <a:ext cx="6491407" cy="219551"/>
          </a:xfrm>
          <a:prstGeom prst="rect">
            <a:avLst/>
          </a:prstGeom>
          <a:noFill/>
          <a:ln/>
        </p:spPr>
        <p:txBody>
          <a:bodyPr wrap="none" lIns="0" tIns="0" rIns="0" bIns="0" rtlCol="0" anchor="t"/>
          <a:lstStyle/>
          <a:p>
            <a:pPr algn="l" indent="0" marL="0">
              <a:lnSpc>
                <a:spcPts val="1700"/>
              </a:lnSpc>
              <a:buNone/>
            </a:pPr>
            <a:r>
              <a:rPr lang="en-US" sz="1050" dirty="0">
                <a:solidFill>
                  <a:srgbClr val="F4CAB8"/>
                </a:solidFill>
                <a:latin typeface="Montserrat Medium" pitchFamily="34" charset="0"/>
                <a:ea typeface="Montserrat Medium" pitchFamily="34" charset="-122"/>
                <a:cs typeface="Montserrat Medium" pitchFamily="34" charset="-120"/>
              </a:rPr>
              <a:t>EDS detects store at 85% capacity (850K documents)</a:t>
            </a:r>
            <a:endParaRPr lang="en-US" sz="1050" dirty="0"/>
          </a:p>
        </p:txBody>
      </p:sp>
      <p:pic>
        <p:nvPicPr>
          <p:cNvPr id="23" name="Image 4" descr="preencoded.png">    </p:cNvPr>
          <p:cNvPicPr>
            <a:picLocks noChangeAspect="1"/>
          </p:cNvPicPr>
          <p:nvPr/>
        </p:nvPicPr>
        <p:blipFill>
          <a:blip r:embed="rId5"/>
          <a:stretch>
            <a:fillRect/>
          </a:stretch>
        </p:blipFill>
        <p:spPr>
          <a:xfrm>
            <a:off x="7315200" y="4404122"/>
            <a:ext cx="6765965" cy="549235"/>
          </a:xfrm>
          <a:prstGeom prst="rect">
            <a:avLst/>
          </a:prstGeom>
        </p:spPr>
      </p:pic>
      <p:sp>
        <p:nvSpPr>
          <p:cNvPr id="24" name="Text 17"/>
          <p:cNvSpPr/>
          <p:nvPr/>
        </p:nvSpPr>
        <p:spPr>
          <a:xfrm>
            <a:off x="7452479" y="5090636"/>
            <a:ext cx="1962864" cy="228838"/>
          </a:xfrm>
          <a:prstGeom prst="rect">
            <a:avLst/>
          </a:prstGeom>
          <a:noFill/>
          <a:ln/>
        </p:spPr>
        <p:txBody>
          <a:bodyPr wrap="none" lIns="0" tIns="0" rIns="0" bIns="0" rtlCol="0" anchor="t"/>
          <a:lstStyle/>
          <a:p>
            <a:pPr algn="l" indent="0" marL="0">
              <a:lnSpc>
                <a:spcPts val="1800"/>
              </a:lnSpc>
              <a:buNone/>
            </a:pPr>
            <a:r>
              <a:rPr lang="en-US" sz="1400" b="1" dirty="0">
                <a:solidFill>
                  <a:srgbClr val="F4CAB8"/>
                </a:solidFill>
                <a:latin typeface="Brygada 1918 Bold" pitchFamily="34" charset="0"/>
                <a:ea typeface="Brygada 1918 Bold" pitchFamily="34" charset="-122"/>
                <a:cs typeface="Brygada 1918 Bold" pitchFamily="34" charset="-120"/>
              </a:rPr>
              <a:t>Terraform Generation</a:t>
            </a:r>
            <a:endParaRPr lang="en-US" sz="1400" dirty="0"/>
          </a:p>
        </p:txBody>
      </p:sp>
      <p:sp>
        <p:nvSpPr>
          <p:cNvPr id="25" name="Text 18"/>
          <p:cNvSpPr/>
          <p:nvPr/>
        </p:nvSpPr>
        <p:spPr>
          <a:xfrm>
            <a:off x="7452479" y="5401866"/>
            <a:ext cx="6491407" cy="219551"/>
          </a:xfrm>
          <a:prstGeom prst="rect">
            <a:avLst/>
          </a:prstGeom>
          <a:noFill/>
          <a:ln/>
        </p:spPr>
        <p:txBody>
          <a:bodyPr wrap="none" lIns="0" tIns="0" rIns="0" bIns="0" rtlCol="0" anchor="t"/>
          <a:lstStyle/>
          <a:p>
            <a:pPr algn="l" indent="0" marL="0">
              <a:lnSpc>
                <a:spcPts val="1700"/>
              </a:lnSpc>
              <a:buNone/>
            </a:pPr>
            <a:r>
              <a:rPr lang="en-US" sz="1050" dirty="0">
                <a:solidFill>
                  <a:srgbClr val="F4CAB8"/>
                </a:solidFill>
                <a:latin typeface="Montserrat Medium" pitchFamily="34" charset="0"/>
                <a:ea typeface="Montserrat Medium" pitchFamily="34" charset="-122"/>
                <a:cs typeface="Montserrat Medium" pitchFamily="34" charset="-120"/>
              </a:rPr>
              <a:t>Automation generates config for new data store</a:t>
            </a:r>
            <a:endParaRPr lang="en-US" sz="1050" dirty="0"/>
          </a:p>
        </p:txBody>
      </p:sp>
      <p:pic>
        <p:nvPicPr>
          <p:cNvPr id="26" name="Image 5" descr="preencoded.png">    </p:cNvPr>
          <p:cNvPicPr>
            <a:picLocks noChangeAspect="1"/>
          </p:cNvPicPr>
          <p:nvPr/>
        </p:nvPicPr>
        <p:blipFill>
          <a:blip r:embed="rId6"/>
          <a:stretch>
            <a:fillRect/>
          </a:stretch>
        </p:blipFill>
        <p:spPr>
          <a:xfrm>
            <a:off x="549235" y="5758696"/>
            <a:ext cx="6765965" cy="549235"/>
          </a:xfrm>
          <a:prstGeom prst="rect">
            <a:avLst/>
          </a:prstGeom>
        </p:spPr>
      </p:pic>
      <p:sp>
        <p:nvSpPr>
          <p:cNvPr id="27" name="Text 19"/>
          <p:cNvSpPr/>
          <p:nvPr/>
        </p:nvSpPr>
        <p:spPr>
          <a:xfrm>
            <a:off x="686514" y="6445210"/>
            <a:ext cx="1830943" cy="228838"/>
          </a:xfrm>
          <a:prstGeom prst="rect">
            <a:avLst/>
          </a:prstGeom>
          <a:noFill/>
          <a:ln/>
        </p:spPr>
        <p:txBody>
          <a:bodyPr wrap="none" lIns="0" tIns="0" rIns="0" bIns="0" rtlCol="0" anchor="t"/>
          <a:lstStyle/>
          <a:p>
            <a:pPr algn="l" indent="0" marL="0">
              <a:lnSpc>
                <a:spcPts val="1800"/>
              </a:lnSpc>
              <a:buNone/>
            </a:pPr>
            <a:r>
              <a:rPr lang="en-US" sz="1400" b="1" dirty="0">
                <a:solidFill>
                  <a:srgbClr val="F4CAB8"/>
                </a:solidFill>
                <a:latin typeface="Brygada 1918 Bold" pitchFamily="34" charset="0"/>
                <a:ea typeface="Brygada 1918 Bold" pitchFamily="34" charset="-122"/>
                <a:cs typeface="Brygada 1918 Bold" pitchFamily="34" charset="-120"/>
              </a:rPr>
              <a:t>Git PR Creation</a:t>
            </a:r>
            <a:endParaRPr lang="en-US" sz="1400" dirty="0"/>
          </a:p>
        </p:txBody>
      </p:sp>
      <p:sp>
        <p:nvSpPr>
          <p:cNvPr id="28" name="Text 20"/>
          <p:cNvSpPr/>
          <p:nvPr/>
        </p:nvSpPr>
        <p:spPr>
          <a:xfrm>
            <a:off x="686514" y="6756440"/>
            <a:ext cx="6491407" cy="219551"/>
          </a:xfrm>
          <a:prstGeom prst="rect">
            <a:avLst/>
          </a:prstGeom>
          <a:noFill/>
          <a:ln/>
        </p:spPr>
        <p:txBody>
          <a:bodyPr wrap="none" lIns="0" tIns="0" rIns="0" bIns="0" rtlCol="0" anchor="t"/>
          <a:lstStyle/>
          <a:p>
            <a:pPr algn="l" indent="0" marL="0">
              <a:lnSpc>
                <a:spcPts val="1700"/>
              </a:lnSpc>
              <a:buNone/>
            </a:pPr>
            <a:r>
              <a:rPr lang="en-US" sz="1050" dirty="0">
                <a:solidFill>
                  <a:srgbClr val="F4CAB8"/>
                </a:solidFill>
                <a:latin typeface="Montserrat Medium" pitchFamily="34" charset="0"/>
                <a:ea typeface="Montserrat Medium" pitchFamily="34" charset="-122"/>
                <a:cs typeface="Montserrat Medium" pitchFamily="34" charset="-120"/>
              </a:rPr>
              <a:t>Pull request created for platform review</a:t>
            </a:r>
            <a:endParaRPr lang="en-US" sz="1050" dirty="0"/>
          </a:p>
        </p:txBody>
      </p:sp>
      <p:pic>
        <p:nvPicPr>
          <p:cNvPr id="29" name="Image 6" descr="preencoded.png">    </p:cNvPr>
          <p:cNvPicPr>
            <a:picLocks noChangeAspect="1"/>
          </p:cNvPicPr>
          <p:nvPr/>
        </p:nvPicPr>
        <p:blipFill>
          <a:blip r:embed="rId7"/>
          <a:stretch>
            <a:fillRect/>
          </a:stretch>
        </p:blipFill>
        <p:spPr>
          <a:xfrm>
            <a:off x="7315200" y="5758696"/>
            <a:ext cx="6765965" cy="549235"/>
          </a:xfrm>
          <a:prstGeom prst="rect">
            <a:avLst/>
          </a:prstGeom>
        </p:spPr>
      </p:pic>
      <p:sp>
        <p:nvSpPr>
          <p:cNvPr id="30" name="Text 21"/>
          <p:cNvSpPr/>
          <p:nvPr/>
        </p:nvSpPr>
        <p:spPr>
          <a:xfrm>
            <a:off x="7452479" y="6445210"/>
            <a:ext cx="2082760" cy="228838"/>
          </a:xfrm>
          <a:prstGeom prst="rect">
            <a:avLst/>
          </a:prstGeom>
          <a:noFill/>
          <a:ln/>
        </p:spPr>
        <p:txBody>
          <a:bodyPr wrap="none" lIns="0" tIns="0" rIns="0" bIns="0" rtlCol="0" anchor="t"/>
          <a:lstStyle/>
          <a:p>
            <a:pPr algn="l" indent="0" marL="0">
              <a:lnSpc>
                <a:spcPts val="1800"/>
              </a:lnSpc>
              <a:buNone/>
            </a:pPr>
            <a:r>
              <a:rPr lang="en-US" sz="1400" b="1" dirty="0">
                <a:solidFill>
                  <a:srgbClr val="F4CAB8"/>
                </a:solidFill>
                <a:latin typeface="Brygada 1918 Bold" pitchFamily="34" charset="0"/>
                <a:ea typeface="Brygada 1918 Bold" pitchFamily="34" charset="-122"/>
                <a:cs typeface="Brygada 1918 Bold" pitchFamily="34" charset="-120"/>
              </a:rPr>
              <a:t>Automatic Provisioning</a:t>
            </a:r>
            <a:endParaRPr lang="en-US" sz="1400" dirty="0"/>
          </a:p>
        </p:txBody>
      </p:sp>
      <p:sp>
        <p:nvSpPr>
          <p:cNvPr id="31" name="Text 22"/>
          <p:cNvSpPr/>
          <p:nvPr/>
        </p:nvSpPr>
        <p:spPr>
          <a:xfrm>
            <a:off x="7452479" y="6756440"/>
            <a:ext cx="6491407" cy="219551"/>
          </a:xfrm>
          <a:prstGeom prst="rect">
            <a:avLst/>
          </a:prstGeom>
          <a:noFill/>
          <a:ln/>
        </p:spPr>
        <p:txBody>
          <a:bodyPr wrap="none" lIns="0" tIns="0" rIns="0" bIns="0" rtlCol="0" anchor="t"/>
          <a:lstStyle/>
          <a:p>
            <a:pPr algn="l" indent="0" marL="0">
              <a:lnSpc>
                <a:spcPts val="1700"/>
              </a:lnSpc>
              <a:buNone/>
            </a:pPr>
            <a:r>
              <a:rPr lang="en-US" sz="1050" dirty="0">
                <a:solidFill>
                  <a:srgbClr val="F4CAB8"/>
                </a:solidFill>
                <a:latin typeface="Montserrat Medium" pitchFamily="34" charset="0"/>
                <a:ea typeface="Montserrat Medium" pitchFamily="34" charset="-122"/>
                <a:cs typeface="Montserrat Medium" pitchFamily="34" charset="-120"/>
              </a:rPr>
              <a:t>New Vertex data store deployed and routing updated</a:t>
            </a:r>
            <a:endParaRPr lang="en-US" sz="1050" dirty="0"/>
          </a:p>
        </p:txBody>
      </p:sp>
      <p:sp>
        <p:nvSpPr>
          <p:cNvPr id="32" name="Shape 23"/>
          <p:cNvSpPr/>
          <p:nvPr/>
        </p:nvSpPr>
        <p:spPr>
          <a:xfrm>
            <a:off x="549235" y="7267694"/>
            <a:ext cx="13531929" cy="583287"/>
          </a:xfrm>
          <a:prstGeom prst="roundRect">
            <a:avLst>
              <a:gd name="adj" fmla="val 3532"/>
            </a:avLst>
          </a:prstGeom>
          <a:solidFill>
            <a:srgbClr val="4D1700"/>
          </a:solidFill>
          <a:ln/>
        </p:spPr>
      </p:sp>
      <p:pic>
        <p:nvPicPr>
          <p:cNvPr id="33" name="Image 7" descr="preencoded.png">    </p:cNvPr>
          <p:cNvPicPr>
            <a:picLocks noChangeAspect="1"/>
          </p:cNvPicPr>
          <p:nvPr/>
        </p:nvPicPr>
        <p:blipFill>
          <a:blip r:embed="rId8"/>
          <a:stretch>
            <a:fillRect/>
          </a:stretch>
        </p:blipFill>
        <p:spPr>
          <a:xfrm>
            <a:off x="686514" y="7471529"/>
            <a:ext cx="171569" cy="137279"/>
          </a:xfrm>
          <a:prstGeom prst="rect">
            <a:avLst/>
          </a:prstGeom>
        </p:spPr>
      </p:pic>
      <p:sp>
        <p:nvSpPr>
          <p:cNvPr id="34" name="Text 24"/>
          <p:cNvSpPr/>
          <p:nvPr/>
        </p:nvSpPr>
        <p:spPr>
          <a:xfrm>
            <a:off x="995363" y="7439263"/>
            <a:ext cx="12948523" cy="219551"/>
          </a:xfrm>
          <a:prstGeom prst="rect">
            <a:avLst/>
          </a:prstGeom>
          <a:noFill/>
          <a:ln/>
        </p:spPr>
        <p:txBody>
          <a:bodyPr wrap="none" lIns="0" tIns="0" rIns="0" bIns="0" rtlCol="0" anchor="t"/>
          <a:lstStyle/>
          <a:p>
            <a:pPr algn="l" indent="0" marL="0">
              <a:lnSpc>
                <a:spcPts val="1700"/>
              </a:lnSpc>
              <a:buNone/>
            </a:pPr>
            <a:r>
              <a:rPr lang="en-US" sz="1050" b="1" dirty="0">
                <a:solidFill>
                  <a:srgbClr val="FFB393"/>
                </a:solidFill>
                <a:latin typeface="Montserrat Medium" pitchFamily="34" charset="0"/>
                <a:ea typeface="Montserrat Medium" pitchFamily="34" charset="-122"/>
                <a:cs typeface="Montserrat Medium" pitchFamily="34" charset="-120"/>
              </a:rPr>
              <a:t>DS Team Experience:</a:t>
            </a:r>
            <a:pPr algn="l" indent="0" marL="0">
              <a:lnSpc>
                <a:spcPts val="1700"/>
              </a:lnSpc>
              <a:buNone/>
            </a:pPr>
            <a:r>
              <a:rPr lang="en-US" sz="1050" dirty="0">
                <a:solidFill>
                  <a:srgbClr val="FFFFFF"/>
                </a:solidFill>
                <a:latin typeface="Montserrat Medium" pitchFamily="34" charset="0"/>
                <a:ea typeface="Montserrat Medium" pitchFamily="34" charset="-122"/>
                <a:cs typeface="Montserrat Medium" pitchFamily="34" charset="-120"/>
              </a:rPr>
              <a:t> Completely transparent scaling with no code changes required. Query performance maintained automatically regardless of total data volume growth.</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70560" y="466011"/>
            <a:ext cx="8355568" cy="558760"/>
          </a:xfrm>
          <a:prstGeom prst="rect">
            <a:avLst/>
          </a:prstGeom>
          <a:noFill/>
          <a:ln/>
        </p:spPr>
        <p:txBody>
          <a:bodyPr wrap="none" lIns="0" tIns="0" rIns="0" bIns="0" rtlCol="0" anchor="t"/>
          <a:lstStyle/>
          <a:p>
            <a:pPr algn="l" indent="0" marL="0">
              <a:lnSpc>
                <a:spcPts val="4400"/>
              </a:lnSpc>
              <a:buNone/>
            </a:pPr>
            <a:r>
              <a:rPr lang="en-US" sz="3500" b="1" dirty="0">
                <a:solidFill>
                  <a:srgbClr val="FFB393"/>
                </a:solidFill>
                <a:latin typeface="Brygada 1918 Bold" pitchFamily="34" charset="0"/>
                <a:ea typeface="Brygada 1918 Bold" pitchFamily="34" charset="-122"/>
                <a:cs typeface="Brygada 1918 Bold" pitchFamily="34" charset="-120"/>
              </a:rPr>
              <a:t>BigQuery Metadata Layer Architecture</a:t>
            </a:r>
            <a:endParaRPr lang="en-US" sz="3500" dirty="0"/>
          </a:p>
        </p:txBody>
      </p:sp>
      <p:sp>
        <p:nvSpPr>
          <p:cNvPr id="3" name="Text 1"/>
          <p:cNvSpPr/>
          <p:nvPr/>
        </p:nvSpPr>
        <p:spPr>
          <a:xfrm>
            <a:off x="670560" y="1360051"/>
            <a:ext cx="13289280" cy="536258"/>
          </a:xfrm>
          <a:prstGeom prst="rect">
            <a:avLst/>
          </a:prstGeom>
          <a:noFill/>
          <a:ln/>
        </p:spPr>
        <p:txBody>
          <a:bodyPr wrap="square" lIns="0" tIns="0" rIns="0" bIns="0" rtlCol="0" anchor="t"/>
          <a:lstStyle/>
          <a:p>
            <a:pPr algn="l" indent="0" marL="0">
              <a:lnSpc>
                <a:spcPts val="2100"/>
              </a:lnSpc>
              <a:buNone/>
            </a:pPr>
            <a:r>
              <a:rPr lang="en-US" sz="1300" dirty="0">
                <a:solidFill>
                  <a:srgbClr val="F4CAB8"/>
                </a:solidFill>
                <a:latin typeface="Montserrat Medium" pitchFamily="34" charset="0"/>
                <a:ea typeface="Montserrat Medium" pitchFamily="34" charset="-122"/>
                <a:cs typeface="Montserrat Medium" pitchFamily="34" charset="-120"/>
              </a:rPr>
              <a:t>Our metadata architecture provides intelligent routing for AI agents while maintaining comprehensive audit trails and compliance capabilities. Strategic partitioning and clustering optimize query performance across millions of document records.</a:t>
            </a:r>
            <a:endParaRPr lang="en-US" sz="1300" dirty="0"/>
          </a:p>
        </p:txBody>
      </p:sp>
      <p:sp>
        <p:nvSpPr>
          <p:cNvPr id="4" name="Shape 2"/>
          <p:cNvSpPr/>
          <p:nvPr/>
        </p:nvSpPr>
        <p:spPr>
          <a:xfrm>
            <a:off x="670560" y="2084903"/>
            <a:ext cx="6560820" cy="2068235"/>
          </a:xfrm>
          <a:prstGeom prst="roundRect">
            <a:avLst>
              <a:gd name="adj" fmla="val 1216"/>
            </a:avLst>
          </a:prstGeom>
          <a:solidFill>
            <a:srgbClr val="5C2438"/>
          </a:solidFill>
          <a:ln w="22860">
            <a:solidFill>
              <a:srgbClr val="662E42"/>
            </a:solidFill>
            <a:prstDash val="solid"/>
          </a:ln>
        </p:spPr>
      </p:sp>
      <p:sp>
        <p:nvSpPr>
          <p:cNvPr id="5" name="Shape 3"/>
          <p:cNvSpPr/>
          <p:nvPr/>
        </p:nvSpPr>
        <p:spPr>
          <a:xfrm>
            <a:off x="693420" y="2107763"/>
            <a:ext cx="6515100" cy="502920"/>
          </a:xfrm>
          <a:prstGeom prst="rect">
            <a:avLst/>
          </a:prstGeom>
          <a:solidFill>
            <a:srgbClr val="4D1529"/>
          </a:solidFill>
          <a:ln/>
        </p:spPr>
      </p:sp>
      <p:sp>
        <p:nvSpPr>
          <p:cNvPr id="6" name="Text 4"/>
          <p:cNvSpPr/>
          <p:nvPr/>
        </p:nvSpPr>
        <p:spPr>
          <a:xfrm>
            <a:off x="3825240" y="2202061"/>
            <a:ext cx="251460" cy="314325"/>
          </a:xfrm>
          <a:prstGeom prst="rect">
            <a:avLst/>
          </a:prstGeom>
          <a:noFill/>
          <a:ln/>
        </p:spPr>
        <p:txBody>
          <a:bodyPr wrap="none" lIns="0" tIns="0" rIns="0" bIns="0" rtlCol="0" anchor="t"/>
          <a:lstStyle/>
          <a:p>
            <a:pPr algn="l"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1</a:t>
            </a:r>
            <a:endParaRPr lang="en-US" sz="1950" dirty="0"/>
          </a:p>
        </p:txBody>
      </p:sp>
      <p:sp>
        <p:nvSpPr>
          <p:cNvPr id="7" name="Text 5"/>
          <p:cNvSpPr/>
          <p:nvPr/>
        </p:nvSpPr>
        <p:spPr>
          <a:xfrm>
            <a:off x="861060" y="2778323"/>
            <a:ext cx="3776901" cy="279440"/>
          </a:xfrm>
          <a:prstGeom prst="rect">
            <a:avLst/>
          </a:prstGeom>
          <a:noFill/>
          <a:ln/>
        </p:spPr>
        <p:txBody>
          <a:bodyPr wrap="none" lIns="0" tIns="0" rIns="0" bIns="0" rtlCol="0" anchor="t"/>
          <a:lstStyle/>
          <a:p>
            <a:pPr algn="l" indent="0" marL="0">
              <a:lnSpc>
                <a:spcPts val="2200"/>
              </a:lnSpc>
              <a:buNone/>
            </a:pPr>
            <a:r>
              <a:rPr lang="en-US" sz="1750" b="1" dirty="0">
                <a:solidFill>
                  <a:srgbClr val="F4CAB8"/>
                </a:solidFill>
                <a:latin typeface="Brygada 1918 Bold" pitchFamily="34" charset="0"/>
                <a:ea typeface="Brygada 1918 Bold" pitchFamily="34" charset="-122"/>
                <a:cs typeface="Brygada 1918 Bold" pitchFamily="34" charset="-120"/>
              </a:rPr>
              <a:t>document_index (Primary Routing)</a:t>
            </a:r>
            <a:endParaRPr lang="en-US" sz="1750" dirty="0"/>
          </a:p>
        </p:txBody>
      </p:sp>
      <p:sp>
        <p:nvSpPr>
          <p:cNvPr id="8" name="Text 6"/>
          <p:cNvSpPr/>
          <p:nvPr/>
        </p:nvSpPr>
        <p:spPr>
          <a:xfrm>
            <a:off x="861060" y="3158252"/>
            <a:ext cx="6179820" cy="804386"/>
          </a:xfrm>
          <a:prstGeom prst="rect">
            <a:avLst/>
          </a:prstGeom>
          <a:noFill/>
          <a:ln/>
        </p:spPr>
        <p:txBody>
          <a:bodyPr wrap="square" lIns="0" tIns="0" rIns="0" bIns="0" rtlCol="0" anchor="t"/>
          <a:lstStyle/>
          <a:p>
            <a:pPr algn="l" indent="0" marL="0">
              <a:lnSpc>
                <a:spcPts val="2100"/>
              </a:lnSpc>
              <a:buNone/>
            </a:pPr>
            <a:r>
              <a:rPr lang="en-US" sz="1300" dirty="0">
                <a:solidFill>
                  <a:srgbClr val="F4CAB8"/>
                </a:solidFill>
                <a:latin typeface="Montserrat Medium" pitchFamily="34" charset="0"/>
                <a:ea typeface="Montserrat Medium" pitchFamily="34" charset="-122"/>
                <a:cs typeface="Montserrat Medium" pitchFamily="34" charset="-120"/>
              </a:rPr>
              <a:t>Core routing table with document_id, claim_id, vertex_data_store_name, data_store_tier, quality_score. Partitioned by creation date, clustered by claim_id and document_type for sub-50ms routing queries.</a:t>
            </a:r>
            <a:endParaRPr lang="en-US" sz="1300" dirty="0"/>
          </a:p>
        </p:txBody>
      </p:sp>
      <p:sp>
        <p:nvSpPr>
          <p:cNvPr id="9" name="Shape 7"/>
          <p:cNvSpPr/>
          <p:nvPr/>
        </p:nvSpPr>
        <p:spPr>
          <a:xfrm>
            <a:off x="7399020" y="2084903"/>
            <a:ext cx="6560820" cy="2068235"/>
          </a:xfrm>
          <a:prstGeom prst="roundRect">
            <a:avLst>
              <a:gd name="adj" fmla="val 1216"/>
            </a:avLst>
          </a:prstGeom>
          <a:solidFill>
            <a:srgbClr val="5C2438"/>
          </a:solidFill>
          <a:ln w="22860">
            <a:solidFill>
              <a:srgbClr val="662E42"/>
            </a:solidFill>
            <a:prstDash val="solid"/>
          </a:ln>
        </p:spPr>
      </p:sp>
      <p:sp>
        <p:nvSpPr>
          <p:cNvPr id="10" name="Shape 8"/>
          <p:cNvSpPr/>
          <p:nvPr/>
        </p:nvSpPr>
        <p:spPr>
          <a:xfrm>
            <a:off x="7421880" y="2107763"/>
            <a:ext cx="6515100" cy="502920"/>
          </a:xfrm>
          <a:prstGeom prst="rect">
            <a:avLst/>
          </a:prstGeom>
          <a:solidFill>
            <a:srgbClr val="4D1529"/>
          </a:solidFill>
          <a:ln/>
        </p:spPr>
      </p:sp>
      <p:sp>
        <p:nvSpPr>
          <p:cNvPr id="11" name="Text 9"/>
          <p:cNvSpPr/>
          <p:nvPr/>
        </p:nvSpPr>
        <p:spPr>
          <a:xfrm>
            <a:off x="10553700" y="2202061"/>
            <a:ext cx="251460" cy="314325"/>
          </a:xfrm>
          <a:prstGeom prst="rect">
            <a:avLst/>
          </a:prstGeom>
          <a:noFill/>
          <a:ln/>
        </p:spPr>
        <p:txBody>
          <a:bodyPr wrap="none" lIns="0" tIns="0" rIns="0" bIns="0" rtlCol="0" anchor="t"/>
          <a:lstStyle/>
          <a:p>
            <a:pPr algn="l"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2</a:t>
            </a:r>
            <a:endParaRPr lang="en-US" sz="1950" dirty="0"/>
          </a:p>
        </p:txBody>
      </p:sp>
      <p:sp>
        <p:nvSpPr>
          <p:cNvPr id="12" name="Text 10"/>
          <p:cNvSpPr/>
          <p:nvPr/>
        </p:nvSpPr>
        <p:spPr>
          <a:xfrm>
            <a:off x="7589520" y="2778323"/>
            <a:ext cx="4234339" cy="279440"/>
          </a:xfrm>
          <a:prstGeom prst="rect">
            <a:avLst/>
          </a:prstGeom>
          <a:noFill/>
          <a:ln/>
        </p:spPr>
        <p:txBody>
          <a:bodyPr wrap="none" lIns="0" tIns="0" rIns="0" bIns="0" rtlCol="0" anchor="t"/>
          <a:lstStyle/>
          <a:p>
            <a:pPr algn="l" indent="0" marL="0">
              <a:lnSpc>
                <a:spcPts val="2200"/>
              </a:lnSpc>
              <a:buNone/>
            </a:pPr>
            <a:r>
              <a:rPr lang="en-US" sz="1750" b="1" dirty="0">
                <a:solidFill>
                  <a:srgbClr val="F4CAB8"/>
                </a:solidFill>
                <a:latin typeface="Brygada 1918 Bold" pitchFamily="34" charset="0"/>
                <a:ea typeface="Brygada 1918 Bold" pitchFamily="34" charset="-122"/>
                <a:cs typeface="Brygada 1918 Bold" pitchFamily="34" charset="-120"/>
              </a:rPr>
              <a:t>data_store_registry (Capacity Tracking)</a:t>
            </a:r>
            <a:endParaRPr lang="en-US" sz="1750" dirty="0"/>
          </a:p>
        </p:txBody>
      </p:sp>
      <p:sp>
        <p:nvSpPr>
          <p:cNvPr id="13" name="Text 11"/>
          <p:cNvSpPr/>
          <p:nvPr/>
        </p:nvSpPr>
        <p:spPr>
          <a:xfrm>
            <a:off x="7589520" y="3158252"/>
            <a:ext cx="6179820" cy="804386"/>
          </a:xfrm>
          <a:prstGeom prst="rect">
            <a:avLst/>
          </a:prstGeom>
          <a:noFill/>
          <a:ln/>
        </p:spPr>
        <p:txBody>
          <a:bodyPr wrap="square" lIns="0" tIns="0" rIns="0" bIns="0" rtlCol="0" anchor="t"/>
          <a:lstStyle/>
          <a:p>
            <a:pPr algn="l" indent="0" marL="0">
              <a:lnSpc>
                <a:spcPts val="2100"/>
              </a:lnSpc>
              <a:buNone/>
            </a:pPr>
            <a:r>
              <a:rPr lang="en-US" sz="1300" dirty="0">
                <a:solidFill>
                  <a:srgbClr val="F4CAB8"/>
                </a:solidFill>
                <a:latin typeface="Montserrat Medium" pitchFamily="34" charset="0"/>
                <a:ea typeface="Montserrat Medium" pitchFamily="34" charset="-122"/>
                <a:cs typeface="Montserrat Medium" pitchFamily="34" charset="-120"/>
              </a:rPr>
              <a:t>Operational table tracking store_name, tier, use_case, document_count, capacity_threshold. Updated daily by monitoring jobs to enable automated capacity management and scaling decisions.</a:t>
            </a:r>
            <a:endParaRPr lang="en-US" sz="1300" dirty="0"/>
          </a:p>
        </p:txBody>
      </p:sp>
      <p:sp>
        <p:nvSpPr>
          <p:cNvPr id="14" name="Shape 12"/>
          <p:cNvSpPr/>
          <p:nvPr/>
        </p:nvSpPr>
        <p:spPr>
          <a:xfrm>
            <a:off x="670560" y="4320778"/>
            <a:ext cx="6560820" cy="2068235"/>
          </a:xfrm>
          <a:prstGeom prst="roundRect">
            <a:avLst>
              <a:gd name="adj" fmla="val 1216"/>
            </a:avLst>
          </a:prstGeom>
          <a:solidFill>
            <a:srgbClr val="5C2438"/>
          </a:solidFill>
          <a:ln w="22860">
            <a:solidFill>
              <a:srgbClr val="662E42"/>
            </a:solidFill>
            <a:prstDash val="solid"/>
          </a:ln>
        </p:spPr>
      </p:sp>
      <p:sp>
        <p:nvSpPr>
          <p:cNvPr id="15" name="Shape 13"/>
          <p:cNvSpPr/>
          <p:nvPr/>
        </p:nvSpPr>
        <p:spPr>
          <a:xfrm>
            <a:off x="693420" y="4343638"/>
            <a:ext cx="6515100" cy="502920"/>
          </a:xfrm>
          <a:prstGeom prst="rect">
            <a:avLst/>
          </a:prstGeom>
          <a:solidFill>
            <a:srgbClr val="4D1529"/>
          </a:solidFill>
          <a:ln/>
        </p:spPr>
      </p:sp>
      <p:sp>
        <p:nvSpPr>
          <p:cNvPr id="16" name="Text 14"/>
          <p:cNvSpPr/>
          <p:nvPr/>
        </p:nvSpPr>
        <p:spPr>
          <a:xfrm>
            <a:off x="3825240" y="4437936"/>
            <a:ext cx="251460" cy="314325"/>
          </a:xfrm>
          <a:prstGeom prst="rect">
            <a:avLst/>
          </a:prstGeom>
          <a:noFill/>
          <a:ln/>
        </p:spPr>
        <p:txBody>
          <a:bodyPr wrap="none" lIns="0" tIns="0" rIns="0" bIns="0" rtlCol="0" anchor="t"/>
          <a:lstStyle/>
          <a:p>
            <a:pPr algn="l"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3</a:t>
            </a:r>
            <a:endParaRPr lang="en-US" sz="1950" dirty="0"/>
          </a:p>
        </p:txBody>
      </p:sp>
      <p:sp>
        <p:nvSpPr>
          <p:cNvPr id="17" name="Text 15"/>
          <p:cNvSpPr/>
          <p:nvPr/>
        </p:nvSpPr>
        <p:spPr>
          <a:xfrm>
            <a:off x="861060" y="5014198"/>
            <a:ext cx="3808214" cy="279440"/>
          </a:xfrm>
          <a:prstGeom prst="rect">
            <a:avLst/>
          </a:prstGeom>
          <a:noFill/>
          <a:ln/>
        </p:spPr>
        <p:txBody>
          <a:bodyPr wrap="none" lIns="0" tIns="0" rIns="0" bIns="0" rtlCol="0" anchor="t"/>
          <a:lstStyle/>
          <a:p>
            <a:pPr algn="l" indent="0" marL="0">
              <a:lnSpc>
                <a:spcPts val="2200"/>
              </a:lnSpc>
              <a:buNone/>
            </a:pPr>
            <a:r>
              <a:rPr lang="en-US" sz="1750" b="1" dirty="0">
                <a:solidFill>
                  <a:srgbClr val="F4CAB8"/>
                </a:solidFill>
                <a:latin typeface="Brygada 1918 Bold" pitchFamily="34" charset="0"/>
                <a:ea typeface="Brygada 1918 Bold" pitchFamily="34" charset="-122"/>
                <a:cs typeface="Brygada 1918 Bold" pitchFamily="34" charset="-120"/>
              </a:rPr>
              <a:t>access_audit_log (Compliance Trail)</a:t>
            </a:r>
            <a:endParaRPr lang="en-US" sz="1750" dirty="0"/>
          </a:p>
        </p:txBody>
      </p:sp>
      <p:sp>
        <p:nvSpPr>
          <p:cNvPr id="18" name="Text 16"/>
          <p:cNvSpPr/>
          <p:nvPr/>
        </p:nvSpPr>
        <p:spPr>
          <a:xfrm>
            <a:off x="861060" y="5394127"/>
            <a:ext cx="6179820" cy="804386"/>
          </a:xfrm>
          <a:prstGeom prst="rect">
            <a:avLst/>
          </a:prstGeom>
          <a:noFill/>
          <a:ln/>
        </p:spPr>
        <p:txBody>
          <a:bodyPr wrap="square" lIns="0" tIns="0" rIns="0" bIns="0" rtlCol="0" anchor="t"/>
          <a:lstStyle/>
          <a:p>
            <a:pPr algn="l" indent="0" marL="0">
              <a:lnSpc>
                <a:spcPts val="2100"/>
              </a:lnSpc>
              <a:buNone/>
            </a:pPr>
            <a:r>
              <a:rPr lang="en-US" sz="1300" dirty="0">
                <a:solidFill>
                  <a:srgbClr val="F4CAB8"/>
                </a:solidFill>
                <a:latin typeface="Montserrat Medium" pitchFamily="34" charset="0"/>
                <a:ea typeface="Montserrat Medium" pitchFamily="34" charset="-122"/>
                <a:cs typeface="Montserrat Medium" pitchFamily="34" charset="-120"/>
              </a:rPr>
              <a:t>Complete audit trail with timestamp, service_account, resource_name, action, query_hash. 10-year retention for regulatory compliance with automatic logging of every platform access.</a:t>
            </a:r>
            <a:endParaRPr lang="en-US" sz="1300" dirty="0"/>
          </a:p>
        </p:txBody>
      </p:sp>
      <p:sp>
        <p:nvSpPr>
          <p:cNvPr id="19" name="Shape 17"/>
          <p:cNvSpPr/>
          <p:nvPr/>
        </p:nvSpPr>
        <p:spPr>
          <a:xfrm>
            <a:off x="7399020" y="4320778"/>
            <a:ext cx="6560820" cy="2068235"/>
          </a:xfrm>
          <a:prstGeom prst="roundRect">
            <a:avLst>
              <a:gd name="adj" fmla="val 1216"/>
            </a:avLst>
          </a:prstGeom>
          <a:solidFill>
            <a:srgbClr val="5C2438"/>
          </a:solidFill>
          <a:ln w="22860">
            <a:solidFill>
              <a:srgbClr val="662E42"/>
            </a:solidFill>
            <a:prstDash val="solid"/>
          </a:ln>
        </p:spPr>
      </p:sp>
      <p:sp>
        <p:nvSpPr>
          <p:cNvPr id="20" name="Shape 18"/>
          <p:cNvSpPr/>
          <p:nvPr/>
        </p:nvSpPr>
        <p:spPr>
          <a:xfrm>
            <a:off x="7421880" y="4343638"/>
            <a:ext cx="6515100" cy="502920"/>
          </a:xfrm>
          <a:prstGeom prst="rect">
            <a:avLst/>
          </a:prstGeom>
          <a:solidFill>
            <a:srgbClr val="4D1529"/>
          </a:solidFill>
          <a:ln/>
        </p:spPr>
      </p:sp>
      <p:sp>
        <p:nvSpPr>
          <p:cNvPr id="21" name="Text 19"/>
          <p:cNvSpPr/>
          <p:nvPr/>
        </p:nvSpPr>
        <p:spPr>
          <a:xfrm>
            <a:off x="10553700" y="4437936"/>
            <a:ext cx="251460" cy="314325"/>
          </a:xfrm>
          <a:prstGeom prst="rect">
            <a:avLst/>
          </a:prstGeom>
          <a:noFill/>
          <a:ln/>
        </p:spPr>
        <p:txBody>
          <a:bodyPr wrap="none" lIns="0" tIns="0" rIns="0" bIns="0" rtlCol="0" anchor="t"/>
          <a:lstStyle/>
          <a:p>
            <a:pPr algn="l" indent="0" marL="0">
              <a:lnSpc>
                <a:spcPts val="1950"/>
              </a:lnSpc>
              <a:buNone/>
            </a:pPr>
            <a:r>
              <a:rPr lang="en-US" sz="1950" b="1" dirty="0">
                <a:solidFill>
                  <a:srgbClr val="F4CAB8"/>
                </a:solidFill>
                <a:latin typeface="Brygada 1918 Bold" pitchFamily="34" charset="0"/>
                <a:ea typeface="Brygada 1918 Bold" pitchFamily="34" charset="-122"/>
                <a:cs typeface="Brygada 1918 Bold" pitchFamily="34" charset="-120"/>
              </a:rPr>
              <a:t>4</a:t>
            </a:r>
            <a:endParaRPr lang="en-US" sz="1950" dirty="0"/>
          </a:p>
        </p:txBody>
      </p:sp>
      <p:sp>
        <p:nvSpPr>
          <p:cNvPr id="22" name="Text 20"/>
          <p:cNvSpPr/>
          <p:nvPr/>
        </p:nvSpPr>
        <p:spPr>
          <a:xfrm>
            <a:off x="7589520" y="5014198"/>
            <a:ext cx="3706892" cy="279440"/>
          </a:xfrm>
          <a:prstGeom prst="rect">
            <a:avLst/>
          </a:prstGeom>
          <a:noFill/>
          <a:ln/>
        </p:spPr>
        <p:txBody>
          <a:bodyPr wrap="none" lIns="0" tIns="0" rIns="0" bIns="0" rtlCol="0" anchor="t"/>
          <a:lstStyle/>
          <a:p>
            <a:pPr algn="l" indent="0" marL="0">
              <a:lnSpc>
                <a:spcPts val="2200"/>
              </a:lnSpc>
              <a:buNone/>
            </a:pPr>
            <a:r>
              <a:rPr lang="en-US" sz="1750" b="1" dirty="0">
                <a:solidFill>
                  <a:srgbClr val="F4CAB8"/>
                </a:solidFill>
                <a:latin typeface="Brygada 1918 Bold" pitchFamily="34" charset="0"/>
                <a:ea typeface="Brygada 1918 Bold" pitchFamily="34" charset="-122"/>
                <a:cs typeface="Brygada 1918 Bold" pitchFamily="34" charset="-120"/>
              </a:rPr>
              <a:t>state_traffic_laws (Reference Data)</a:t>
            </a:r>
            <a:endParaRPr lang="en-US" sz="1750" dirty="0"/>
          </a:p>
        </p:txBody>
      </p:sp>
      <p:sp>
        <p:nvSpPr>
          <p:cNvPr id="23" name="Text 21"/>
          <p:cNvSpPr/>
          <p:nvPr/>
        </p:nvSpPr>
        <p:spPr>
          <a:xfrm>
            <a:off x="7589520" y="5394127"/>
            <a:ext cx="6179820" cy="804386"/>
          </a:xfrm>
          <a:prstGeom prst="rect">
            <a:avLst/>
          </a:prstGeom>
          <a:noFill/>
          <a:ln/>
        </p:spPr>
        <p:txBody>
          <a:bodyPr wrap="square" lIns="0" tIns="0" rIns="0" bIns="0" rtlCol="0" anchor="t"/>
          <a:lstStyle/>
          <a:p>
            <a:pPr algn="l" indent="0" marL="0">
              <a:lnSpc>
                <a:spcPts val="2100"/>
              </a:lnSpc>
              <a:buNone/>
            </a:pPr>
            <a:r>
              <a:rPr lang="en-US" sz="1300" dirty="0">
                <a:solidFill>
                  <a:srgbClr val="F4CAB8"/>
                </a:solidFill>
                <a:latin typeface="Montserrat Medium" pitchFamily="34" charset="0"/>
                <a:ea typeface="Montserrat Medium" pitchFamily="34" charset="-122"/>
                <a:cs typeface="Montserrat Medium" pitchFamily="34" charset="-120"/>
              </a:rPr>
              <a:t>Versioned reference data supporting time-travel queries. Fields include law_id, effective_date, superseded_date, enabling AI agents to apply historically accurate law versions.</a:t>
            </a:r>
            <a:endParaRPr lang="en-US" sz="1300" dirty="0"/>
          </a:p>
        </p:txBody>
      </p:sp>
      <p:sp>
        <p:nvSpPr>
          <p:cNvPr id="24" name="Text 22"/>
          <p:cNvSpPr/>
          <p:nvPr/>
        </p:nvSpPr>
        <p:spPr>
          <a:xfrm>
            <a:off x="670560" y="6640473"/>
            <a:ext cx="3009781" cy="335280"/>
          </a:xfrm>
          <a:prstGeom prst="rect">
            <a:avLst/>
          </a:prstGeom>
          <a:noFill/>
          <a:ln/>
        </p:spPr>
        <p:txBody>
          <a:bodyPr wrap="none" lIns="0" tIns="0" rIns="0" bIns="0" rtlCol="0" anchor="t"/>
          <a:lstStyle/>
          <a:p>
            <a:pPr algn="l" indent="0" marL="0">
              <a:lnSpc>
                <a:spcPts val="2600"/>
              </a:lnSpc>
              <a:buNone/>
            </a:pPr>
            <a:r>
              <a:rPr lang="en-US" sz="2100" b="1" dirty="0">
                <a:solidFill>
                  <a:srgbClr val="FFB393"/>
                </a:solidFill>
                <a:latin typeface="Brygada 1918 Bold" pitchFamily="34" charset="0"/>
                <a:ea typeface="Brygada 1918 Bold" pitchFamily="34" charset="-122"/>
                <a:cs typeface="Brygada 1918 Bold" pitchFamily="34" charset="-120"/>
              </a:rPr>
              <a:t>AI Agent Query Pattern</a:t>
            </a:r>
            <a:endParaRPr lang="en-US" sz="2100" dirty="0"/>
          </a:p>
        </p:txBody>
      </p:sp>
      <p:sp>
        <p:nvSpPr>
          <p:cNvPr id="25" name="Text 23"/>
          <p:cNvSpPr/>
          <p:nvPr/>
        </p:nvSpPr>
        <p:spPr>
          <a:xfrm>
            <a:off x="670560" y="7227213"/>
            <a:ext cx="13289280" cy="536258"/>
          </a:xfrm>
          <a:prstGeom prst="rect">
            <a:avLst/>
          </a:prstGeom>
          <a:noFill/>
          <a:ln/>
        </p:spPr>
        <p:txBody>
          <a:bodyPr wrap="square" lIns="0" tIns="0" rIns="0" bIns="0" rtlCol="0" anchor="t"/>
          <a:lstStyle/>
          <a:p>
            <a:pPr algn="l" indent="0" marL="0">
              <a:lnSpc>
                <a:spcPts val="2100"/>
              </a:lnSpc>
              <a:buNone/>
            </a:pPr>
            <a:r>
              <a:rPr lang="en-US" sz="1300" dirty="0">
                <a:solidFill>
                  <a:srgbClr val="F4CAB8"/>
                </a:solidFill>
                <a:latin typeface="Montserrat Medium" pitchFamily="34" charset="0"/>
                <a:ea typeface="Montserrat Medium" pitchFamily="34" charset="-122"/>
                <a:cs typeface="Montserrat Medium" pitchFamily="34" charset="-120"/>
              </a:rPr>
              <a:t>Optimized two-step process: </a:t>
            </a:r>
            <a:pPr algn="l" indent="0" marL="0">
              <a:lnSpc>
                <a:spcPts val="2100"/>
              </a:lnSpc>
              <a:buNone/>
            </a:pPr>
            <a:r>
              <a:rPr lang="en-US" sz="1300" b="1" dirty="0">
                <a:solidFill>
                  <a:srgbClr val="FFB393"/>
                </a:solidFill>
                <a:latin typeface="Montserrat Medium" pitchFamily="34" charset="0"/>
                <a:ea typeface="Montserrat Medium" pitchFamily="34" charset="-122"/>
                <a:cs typeface="Montserrat Medium" pitchFamily="34" charset="-120"/>
              </a:rPr>
              <a:t>Step 1:</a:t>
            </a:r>
            <a:pPr algn="l" indent="0" marL="0">
              <a:lnSpc>
                <a:spcPts val="2100"/>
              </a:lnSpc>
              <a:buNone/>
            </a:pPr>
            <a:r>
              <a:rPr lang="en-US" sz="1300" dirty="0">
                <a:solidFill>
                  <a:srgbClr val="F4CAB8"/>
                </a:solidFill>
                <a:latin typeface="Montserrat Medium" pitchFamily="34" charset="0"/>
                <a:ea typeface="Montserrat Medium" pitchFamily="34" charset="-122"/>
                <a:cs typeface="Montserrat Medium" pitchFamily="34" charset="-120"/>
              </a:rPr>
              <a:t> Query metadata for routing information (under 50ms). </a:t>
            </a:r>
            <a:pPr algn="l" indent="0" marL="0">
              <a:lnSpc>
                <a:spcPts val="2100"/>
              </a:lnSpc>
              <a:buNone/>
            </a:pPr>
            <a:r>
              <a:rPr lang="en-US" sz="1300" b="1" dirty="0">
                <a:solidFill>
                  <a:srgbClr val="FFB393"/>
                </a:solidFill>
                <a:latin typeface="Montserrat Medium" pitchFamily="34" charset="0"/>
                <a:ea typeface="Montserrat Medium" pitchFamily="34" charset="-122"/>
                <a:cs typeface="Montserrat Medium" pitchFamily="34" charset="-120"/>
              </a:rPr>
              <a:t>Step 2:</a:t>
            </a:r>
            <a:pPr algn="l" indent="0" marL="0">
              <a:lnSpc>
                <a:spcPts val="2100"/>
              </a:lnSpc>
              <a:buNone/>
            </a:pPr>
            <a:r>
              <a:rPr lang="en-US" sz="1300" dirty="0">
                <a:solidFill>
                  <a:srgbClr val="F4CAB8"/>
                </a:solidFill>
                <a:latin typeface="Montserrat Medium" pitchFamily="34" charset="0"/>
                <a:ea typeface="Montserrat Medium" pitchFamily="34" charset="-122"/>
                <a:cs typeface="Montserrat Medium" pitchFamily="34" charset="-120"/>
              </a:rPr>
              <a:t> Query specific Vertex stores (200-500ms). </a:t>
            </a:r>
            <a:pPr algn="l" indent="0" marL="0">
              <a:lnSpc>
                <a:spcPts val="2100"/>
              </a:lnSpc>
              <a:buNone/>
            </a:pPr>
            <a:r>
              <a:rPr lang="en-US" sz="1300" b="1" dirty="0">
                <a:solidFill>
                  <a:srgbClr val="F4CAB8"/>
                </a:solidFill>
                <a:latin typeface="Montserrat Medium" pitchFamily="34" charset="0"/>
                <a:ea typeface="Montserrat Medium" pitchFamily="34" charset="-122"/>
                <a:cs typeface="Montserrat Medium" pitchFamily="34" charset="-120"/>
              </a:rPr>
              <a:t>Total query time: Under 1 second</a:t>
            </a:r>
            <a:pPr algn="l" indent="0" marL="0">
              <a:lnSpc>
                <a:spcPts val="2100"/>
              </a:lnSpc>
              <a:buNone/>
            </a:pPr>
            <a:r>
              <a:rPr lang="en-US" sz="1300" dirty="0">
                <a:solidFill>
                  <a:srgbClr val="F4CAB8"/>
                </a:solidFill>
                <a:latin typeface="Montserrat Medium" pitchFamily="34" charset="0"/>
                <a:ea typeface="Montserrat Medium" pitchFamily="34" charset="-122"/>
                <a:cs typeface="Montserrat Medium" pitchFamily="34" charset="-120"/>
              </a:rPr>
              <a:t> for complex document searches across multiple data stores.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85907" y="403979"/>
            <a:ext cx="9191030" cy="488275"/>
          </a:xfrm>
          <a:prstGeom prst="rect">
            <a:avLst/>
          </a:prstGeom>
          <a:noFill/>
          <a:ln/>
        </p:spPr>
        <p:txBody>
          <a:bodyPr wrap="none" lIns="0" tIns="0" rIns="0" bIns="0" rtlCol="0" anchor="t"/>
          <a:lstStyle/>
          <a:p>
            <a:pPr algn="l" indent="0" marL="0">
              <a:lnSpc>
                <a:spcPts val="3800"/>
              </a:lnSpc>
              <a:buNone/>
            </a:pPr>
            <a:r>
              <a:rPr lang="en-US" sz="3050" b="1" dirty="0">
                <a:solidFill>
                  <a:srgbClr val="FFB393"/>
                </a:solidFill>
                <a:latin typeface="Brygada 1918 Bold" pitchFamily="34" charset="0"/>
                <a:ea typeface="Brygada 1918 Bold" pitchFamily="34" charset="-122"/>
                <a:cs typeface="Brygada 1918 Bold" pitchFamily="34" charset="-120"/>
              </a:rPr>
              <a:t>Layered IAM and Template-Based Access Control</a:t>
            </a:r>
            <a:endParaRPr lang="en-US" sz="3050" dirty="0"/>
          </a:p>
        </p:txBody>
      </p:sp>
      <p:sp>
        <p:nvSpPr>
          <p:cNvPr id="3" name="Text 1"/>
          <p:cNvSpPr/>
          <p:nvPr/>
        </p:nvSpPr>
        <p:spPr>
          <a:xfrm>
            <a:off x="585907" y="1185148"/>
            <a:ext cx="13458587" cy="468630"/>
          </a:xfrm>
          <a:prstGeom prst="rect">
            <a:avLst/>
          </a:prstGeom>
          <a:noFill/>
          <a:ln/>
        </p:spPr>
        <p:txBody>
          <a:bodyPr wrap="square" lIns="0" tIns="0" rIns="0" bIns="0" rtlCol="0" anchor="t"/>
          <a:lstStyle/>
          <a:p>
            <a:pPr algn="l" indent="0" marL="0">
              <a:lnSpc>
                <a:spcPts val="1800"/>
              </a:lnSpc>
              <a:buNone/>
            </a:pPr>
            <a:r>
              <a:rPr lang="en-US" sz="1150" dirty="0">
                <a:solidFill>
                  <a:srgbClr val="F4CAB8"/>
                </a:solidFill>
                <a:latin typeface="Montserrat Medium" pitchFamily="34" charset="0"/>
                <a:ea typeface="Montserrat Medium" pitchFamily="34" charset="-122"/>
                <a:cs typeface="Montserrat Medium" pitchFamily="34" charset="-120"/>
              </a:rPr>
              <a:t>Our three-layer access model scales efficiently while maintaining security. Template-based provisioning enables consistent, automated access grants without manual IAM configuration for each data science team.</a:t>
            </a:r>
            <a:endParaRPr lang="en-US" sz="1150" dirty="0"/>
          </a:p>
        </p:txBody>
      </p:sp>
      <p:sp>
        <p:nvSpPr>
          <p:cNvPr id="4" name="Shape 2"/>
          <p:cNvSpPr/>
          <p:nvPr/>
        </p:nvSpPr>
        <p:spPr>
          <a:xfrm>
            <a:off x="805577" y="2404467"/>
            <a:ext cx="4168735" cy="146447"/>
          </a:xfrm>
          <a:prstGeom prst="roundRect">
            <a:avLst>
              <a:gd name="adj" fmla="val 15005"/>
            </a:avLst>
          </a:prstGeom>
          <a:solidFill>
            <a:srgbClr val="4D1529"/>
          </a:solidFill>
          <a:ln/>
        </p:spPr>
      </p:sp>
      <p:sp>
        <p:nvSpPr>
          <p:cNvPr id="5" name="Shape 3"/>
          <p:cNvSpPr/>
          <p:nvPr/>
        </p:nvSpPr>
        <p:spPr>
          <a:xfrm>
            <a:off x="585907" y="2257961"/>
            <a:ext cx="439460" cy="439460"/>
          </a:xfrm>
          <a:prstGeom prst="roundRect">
            <a:avLst>
              <a:gd name="adj" fmla="val 104037"/>
            </a:avLst>
          </a:prstGeom>
          <a:solidFill>
            <a:srgbClr val="4D1529"/>
          </a:solidFill>
          <a:ln/>
        </p:spPr>
      </p:sp>
      <p:pic>
        <p:nvPicPr>
          <p:cNvPr id="6" name="Image 0" descr="preencoded.png">    </p:cNvPr>
          <p:cNvPicPr>
            <a:picLocks noChangeAspect="1"/>
          </p:cNvPicPr>
          <p:nvPr/>
        </p:nvPicPr>
        <p:blipFill>
          <a:blip r:embed="rId1"/>
          <a:stretch>
            <a:fillRect/>
          </a:stretch>
        </p:blipFill>
        <p:spPr>
          <a:xfrm>
            <a:off x="695801" y="2340352"/>
            <a:ext cx="219670" cy="274677"/>
          </a:xfrm>
          <a:prstGeom prst="rect">
            <a:avLst/>
          </a:prstGeom>
        </p:spPr>
      </p:pic>
      <p:sp>
        <p:nvSpPr>
          <p:cNvPr id="7" name="Text 4"/>
          <p:cNvSpPr/>
          <p:nvPr/>
        </p:nvSpPr>
        <p:spPr>
          <a:xfrm>
            <a:off x="732353" y="2843927"/>
            <a:ext cx="3669387" cy="244197"/>
          </a:xfrm>
          <a:prstGeom prst="rect">
            <a:avLst/>
          </a:prstGeom>
          <a:noFill/>
          <a:ln/>
        </p:spPr>
        <p:txBody>
          <a:bodyPr wrap="none" lIns="0" tIns="0" rIns="0" bIns="0" rtlCol="0" anchor="t"/>
          <a:lstStyle/>
          <a:p>
            <a:pPr algn="l" indent="0" marL="0">
              <a:lnSpc>
                <a:spcPts val="1900"/>
              </a:lnSpc>
              <a:buNone/>
            </a:pPr>
            <a:r>
              <a:rPr lang="en-US" sz="1500" b="1" dirty="0">
                <a:solidFill>
                  <a:srgbClr val="F4CAB8"/>
                </a:solidFill>
                <a:latin typeface="Brygada 1918 Bold" pitchFamily="34" charset="0"/>
                <a:ea typeface="Brygada 1918 Bold" pitchFamily="34" charset="-122"/>
                <a:cs typeface="Brygada 1918 Bold" pitchFamily="34" charset="-120"/>
              </a:rPr>
              <a:t>Layer 1: Platform Team (Infrastructure)</a:t>
            </a:r>
            <a:endParaRPr lang="en-US" sz="1500" dirty="0"/>
          </a:p>
        </p:txBody>
      </p:sp>
      <p:sp>
        <p:nvSpPr>
          <p:cNvPr id="8" name="Text 5"/>
          <p:cNvSpPr/>
          <p:nvPr/>
        </p:nvSpPr>
        <p:spPr>
          <a:xfrm>
            <a:off x="732353" y="3175992"/>
            <a:ext cx="4095631" cy="937260"/>
          </a:xfrm>
          <a:prstGeom prst="rect">
            <a:avLst/>
          </a:prstGeom>
          <a:noFill/>
          <a:ln/>
        </p:spPr>
        <p:txBody>
          <a:bodyPr wrap="square" lIns="0" tIns="0" rIns="0" bIns="0" rtlCol="0" anchor="t"/>
          <a:lstStyle/>
          <a:p>
            <a:pPr algn="l" indent="0" marL="0">
              <a:lnSpc>
                <a:spcPts val="1800"/>
              </a:lnSpc>
              <a:buNone/>
            </a:pPr>
            <a:r>
              <a:rPr lang="en-US" sz="1150" dirty="0">
                <a:solidFill>
                  <a:srgbClr val="F4CAB8"/>
                </a:solidFill>
                <a:latin typeface="Montserrat Medium" pitchFamily="34" charset="0"/>
                <a:ea typeface="Montserrat Medium" pitchFamily="34" charset="-122"/>
                <a:cs typeface="Montserrat Medium" pitchFamily="34" charset="-120"/>
              </a:rPr>
              <a:t>Creates service accounts per DS team (e.g., ds-auto-liability@project.iam). Grants minimal project permissions for infrastructure access. One-time setup per team.</a:t>
            </a:r>
            <a:endParaRPr lang="en-US" sz="1150" dirty="0"/>
          </a:p>
        </p:txBody>
      </p:sp>
      <p:sp>
        <p:nvSpPr>
          <p:cNvPr id="9" name="Shape 6"/>
          <p:cNvSpPr/>
          <p:nvPr/>
        </p:nvSpPr>
        <p:spPr>
          <a:xfrm>
            <a:off x="5340548" y="2184678"/>
            <a:ext cx="4168735" cy="146447"/>
          </a:xfrm>
          <a:prstGeom prst="roundRect">
            <a:avLst>
              <a:gd name="adj" fmla="val 15005"/>
            </a:avLst>
          </a:prstGeom>
          <a:solidFill>
            <a:srgbClr val="4D1529"/>
          </a:solidFill>
          <a:ln/>
        </p:spPr>
      </p:sp>
      <p:sp>
        <p:nvSpPr>
          <p:cNvPr id="10" name="Shape 7"/>
          <p:cNvSpPr/>
          <p:nvPr/>
        </p:nvSpPr>
        <p:spPr>
          <a:xfrm>
            <a:off x="5120878" y="2038171"/>
            <a:ext cx="439460" cy="439460"/>
          </a:xfrm>
          <a:prstGeom prst="roundRect">
            <a:avLst>
              <a:gd name="adj" fmla="val 104037"/>
            </a:avLst>
          </a:prstGeom>
          <a:solidFill>
            <a:srgbClr val="4D1529"/>
          </a:solidFill>
          <a:ln/>
        </p:spPr>
      </p:sp>
      <p:pic>
        <p:nvPicPr>
          <p:cNvPr id="11" name="Image 1" descr="preencoded.png">    </p:cNvPr>
          <p:cNvPicPr>
            <a:picLocks noChangeAspect="1"/>
          </p:cNvPicPr>
          <p:nvPr/>
        </p:nvPicPr>
        <p:blipFill>
          <a:blip r:embed="rId2"/>
          <a:stretch>
            <a:fillRect/>
          </a:stretch>
        </p:blipFill>
        <p:spPr>
          <a:xfrm>
            <a:off x="5230773" y="2120563"/>
            <a:ext cx="219670" cy="274677"/>
          </a:xfrm>
          <a:prstGeom prst="rect">
            <a:avLst/>
          </a:prstGeom>
        </p:spPr>
      </p:pic>
      <p:sp>
        <p:nvSpPr>
          <p:cNvPr id="12" name="Text 8"/>
          <p:cNvSpPr/>
          <p:nvPr/>
        </p:nvSpPr>
        <p:spPr>
          <a:xfrm>
            <a:off x="5267325" y="2624137"/>
            <a:ext cx="2638663" cy="244197"/>
          </a:xfrm>
          <a:prstGeom prst="rect">
            <a:avLst/>
          </a:prstGeom>
          <a:noFill/>
          <a:ln/>
        </p:spPr>
        <p:txBody>
          <a:bodyPr wrap="none" lIns="0" tIns="0" rIns="0" bIns="0" rtlCol="0" anchor="t"/>
          <a:lstStyle/>
          <a:p>
            <a:pPr algn="l" indent="0" marL="0">
              <a:lnSpc>
                <a:spcPts val="1900"/>
              </a:lnSpc>
              <a:buNone/>
            </a:pPr>
            <a:r>
              <a:rPr lang="en-US" sz="1500" b="1" dirty="0">
                <a:solidFill>
                  <a:srgbClr val="F4CAB8"/>
                </a:solidFill>
                <a:latin typeface="Brygada 1918 Bold" pitchFamily="34" charset="0"/>
                <a:ea typeface="Brygada 1918 Bold" pitchFamily="34" charset="-122"/>
                <a:cs typeface="Brygada 1918 Bold" pitchFamily="34" charset="-120"/>
              </a:rPr>
              <a:t>Layer 2: EDS (Data Products)</a:t>
            </a:r>
            <a:endParaRPr lang="en-US" sz="1500" dirty="0"/>
          </a:p>
        </p:txBody>
      </p:sp>
      <p:sp>
        <p:nvSpPr>
          <p:cNvPr id="13" name="Text 9"/>
          <p:cNvSpPr/>
          <p:nvPr/>
        </p:nvSpPr>
        <p:spPr>
          <a:xfrm>
            <a:off x="5267325" y="2956203"/>
            <a:ext cx="4095631" cy="937260"/>
          </a:xfrm>
          <a:prstGeom prst="rect">
            <a:avLst/>
          </a:prstGeom>
          <a:noFill/>
          <a:ln/>
        </p:spPr>
        <p:txBody>
          <a:bodyPr wrap="square" lIns="0" tIns="0" rIns="0" bIns="0" rtlCol="0" anchor="t"/>
          <a:lstStyle/>
          <a:p>
            <a:pPr algn="l" indent="0" marL="0">
              <a:lnSpc>
                <a:spcPts val="1800"/>
              </a:lnSpc>
              <a:buNone/>
            </a:pPr>
            <a:r>
              <a:rPr lang="en-US" sz="1150" dirty="0">
                <a:solidFill>
                  <a:srgbClr val="F4CAB8"/>
                </a:solidFill>
                <a:latin typeface="Montserrat Medium" pitchFamily="34" charset="0"/>
                <a:ea typeface="Montserrat Medium" pitchFamily="34" charset="-122"/>
                <a:cs typeface="Montserrat Medium" pitchFamily="34" charset="-120"/>
              </a:rPr>
              <a:t>Grants access to specific data products using template-based provisioning. Controls which teams access which datasets and Vertex stores. Ongoing access management.</a:t>
            </a:r>
            <a:endParaRPr lang="en-US" sz="1150" dirty="0"/>
          </a:p>
        </p:txBody>
      </p:sp>
      <p:sp>
        <p:nvSpPr>
          <p:cNvPr id="14" name="Shape 10"/>
          <p:cNvSpPr/>
          <p:nvPr/>
        </p:nvSpPr>
        <p:spPr>
          <a:xfrm>
            <a:off x="9875520" y="1965007"/>
            <a:ext cx="4168735" cy="146447"/>
          </a:xfrm>
          <a:prstGeom prst="roundRect">
            <a:avLst>
              <a:gd name="adj" fmla="val 15005"/>
            </a:avLst>
          </a:prstGeom>
          <a:solidFill>
            <a:srgbClr val="4D1529"/>
          </a:solidFill>
          <a:ln/>
        </p:spPr>
      </p:sp>
      <p:sp>
        <p:nvSpPr>
          <p:cNvPr id="15" name="Shape 11"/>
          <p:cNvSpPr/>
          <p:nvPr/>
        </p:nvSpPr>
        <p:spPr>
          <a:xfrm>
            <a:off x="9655850" y="1818501"/>
            <a:ext cx="439460" cy="439460"/>
          </a:xfrm>
          <a:prstGeom prst="roundRect">
            <a:avLst>
              <a:gd name="adj" fmla="val 104037"/>
            </a:avLst>
          </a:prstGeom>
          <a:solidFill>
            <a:srgbClr val="4D1529"/>
          </a:solidFill>
          <a:ln/>
        </p:spPr>
      </p:sp>
      <p:pic>
        <p:nvPicPr>
          <p:cNvPr id="16" name="Image 2" descr="preencoded.png">    </p:cNvPr>
          <p:cNvPicPr>
            <a:picLocks noChangeAspect="1"/>
          </p:cNvPicPr>
          <p:nvPr/>
        </p:nvPicPr>
        <p:blipFill>
          <a:blip r:embed="rId3"/>
          <a:stretch>
            <a:fillRect/>
          </a:stretch>
        </p:blipFill>
        <p:spPr>
          <a:xfrm>
            <a:off x="9765744" y="1900892"/>
            <a:ext cx="219670" cy="274677"/>
          </a:xfrm>
          <a:prstGeom prst="rect">
            <a:avLst/>
          </a:prstGeom>
        </p:spPr>
      </p:pic>
      <p:sp>
        <p:nvSpPr>
          <p:cNvPr id="17" name="Text 12"/>
          <p:cNvSpPr/>
          <p:nvPr/>
        </p:nvSpPr>
        <p:spPr>
          <a:xfrm>
            <a:off x="9802297" y="2404467"/>
            <a:ext cx="3124081" cy="244197"/>
          </a:xfrm>
          <a:prstGeom prst="rect">
            <a:avLst/>
          </a:prstGeom>
          <a:noFill/>
          <a:ln/>
        </p:spPr>
        <p:txBody>
          <a:bodyPr wrap="none" lIns="0" tIns="0" rIns="0" bIns="0" rtlCol="0" anchor="t"/>
          <a:lstStyle/>
          <a:p>
            <a:pPr algn="l" indent="0" marL="0">
              <a:lnSpc>
                <a:spcPts val="1900"/>
              </a:lnSpc>
              <a:buNone/>
            </a:pPr>
            <a:r>
              <a:rPr lang="en-US" sz="1500" b="1" dirty="0">
                <a:solidFill>
                  <a:srgbClr val="F4CAB8"/>
                </a:solidFill>
                <a:latin typeface="Brygada 1918 Bold" pitchFamily="34" charset="0"/>
                <a:ea typeface="Brygada 1918 Bold" pitchFamily="34" charset="-122"/>
                <a:cs typeface="Brygada 1918 Bold" pitchFamily="34" charset="-120"/>
              </a:rPr>
              <a:t>Layer 3: DS Teams (Consumption)</a:t>
            </a:r>
            <a:endParaRPr lang="en-US" sz="1500" dirty="0"/>
          </a:p>
        </p:txBody>
      </p:sp>
      <p:sp>
        <p:nvSpPr>
          <p:cNvPr id="18" name="Text 13"/>
          <p:cNvSpPr/>
          <p:nvPr/>
        </p:nvSpPr>
        <p:spPr>
          <a:xfrm>
            <a:off x="9802297" y="2736533"/>
            <a:ext cx="4095631" cy="702945"/>
          </a:xfrm>
          <a:prstGeom prst="rect">
            <a:avLst/>
          </a:prstGeom>
          <a:noFill/>
          <a:ln/>
        </p:spPr>
        <p:txBody>
          <a:bodyPr wrap="square" lIns="0" tIns="0" rIns="0" bIns="0" rtlCol="0" anchor="t"/>
          <a:lstStyle/>
          <a:p>
            <a:pPr algn="l" indent="0" marL="0">
              <a:lnSpc>
                <a:spcPts val="1800"/>
              </a:lnSpc>
              <a:buNone/>
            </a:pPr>
            <a:r>
              <a:rPr lang="en-US" sz="1150" dirty="0">
                <a:solidFill>
                  <a:srgbClr val="F4CAB8"/>
                </a:solidFill>
                <a:latin typeface="Montserrat Medium" pitchFamily="34" charset="0"/>
                <a:ea typeface="Montserrat Medium" pitchFamily="34" charset="-122"/>
                <a:cs typeface="Montserrat Medium" pitchFamily="34" charset="-120"/>
              </a:rPr>
              <a:t>Query data via granted permissions through service accounts. Cannot modify their own access. All usage automatically logged for audit compliance.</a:t>
            </a:r>
            <a:endParaRPr lang="en-US" sz="1150" dirty="0"/>
          </a:p>
        </p:txBody>
      </p:sp>
      <p:sp>
        <p:nvSpPr>
          <p:cNvPr id="19" name="Text 14"/>
          <p:cNvSpPr/>
          <p:nvPr/>
        </p:nvSpPr>
        <p:spPr>
          <a:xfrm>
            <a:off x="585907" y="4570928"/>
            <a:ext cx="3316724" cy="293013"/>
          </a:xfrm>
          <a:prstGeom prst="rect">
            <a:avLst/>
          </a:prstGeom>
          <a:noFill/>
          <a:ln/>
        </p:spPr>
        <p:txBody>
          <a:bodyPr wrap="none" lIns="0" tIns="0" rIns="0" bIns="0" rtlCol="0" anchor="t"/>
          <a:lstStyle/>
          <a:p>
            <a:pPr algn="l" indent="0" marL="0">
              <a:lnSpc>
                <a:spcPts val="2300"/>
              </a:lnSpc>
              <a:buNone/>
            </a:pPr>
            <a:r>
              <a:rPr lang="en-US" sz="1800" b="1" dirty="0">
                <a:solidFill>
                  <a:srgbClr val="FFB393"/>
                </a:solidFill>
                <a:latin typeface="Brygada 1918 Bold" pitchFamily="34" charset="0"/>
                <a:ea typeface="Brygada 1918 Bold" pitchFamily="34" charset="-122"/>
                <a:cs typeface="Brygada 1918 Bold" pitchFamily="34" charset="-120"/>
              </a:rPr>
              <a:t>Template-Based Provisioning</a:t>
            </a:r>
            <a:endParaRPr lang="en-US" sz="1800" dirty="0"/>
          </a:p>
        </p:txBody>
      </p:sp>
      <p:sp>
        <p:nvSpPr>
          <p:cNvPr id="20" name="Text 15"/>
          <p:cNvSpPr/>
          <p:nvPr/>
        </p:nvSpPr>
        <p:spPr>
          <a:xfrm>
            <a:off x="585907" y="5010388"/>
            <a:ext cx="6550581" cy="234315"/>
          </a:xfrm>
          <a:prstGeom prst="rect">
            <a:avLst/>
          </a:prstGeom>
          <a:noFill/>
          <a:ln/>
        </p:spPr>
        <p:txBody>
          <a:bodyPr wrap="none" lIns="0" tIns="0" rIns="0" bIns="0" rtlCol="0" anchor="t"/>
          <a:lstStyle/>
          <a:p>
            <a:pPr algn="l" indent="0" marL="0">
              <a:lnSpc>
                <a:spcPts val="1800"/>
              </a:lnSpc>
              <a:buNone/>
            </a:pPr>
            <a:r>
              <a:rPr lang="en-US" sz="1150" b="1" dirty="0">
                <a:solidFill>
                  <a:srgbClr val="F4CAB8"/>
                </a:solidFill>
                <a:latin typeface="Montserrat Medium" pitchFamily="34" charset="0"/>
                <a:ea typeface="Montserrat Medium" pitchFamily="34" charset="-122"/>
                <a:cs typeface="Montserrat Medium" pitchFamily="34" charset="-120"/>
              </a:rPr>
              <a:t>Template Components (Liability Assessment v2.0):</a:t>
            </a:r>
            <a:endParaRPr lang="en-US" sz="1150" dirty="0"/>
          </a:p>
        </p:txBody>
      </p:sp>
      <p:sp>
        <p:nvSpPr>
          <p:cNvPr id="21" name="Text 16"/>
          <p:cNvSpPr/>
          <p:nvPr/>
        </p:nvSpPr>
        <p:spPr>
          <a:xfrm>
            <a:off x="585907" y="5376505"/>
            <a:ext cx="6550581" cy="234315"/>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F4CAB8"/>
                </a:solidFill>
                <a:latin typeface="Montserrat Medium" pitchFamily="34" charset="0"/>
                <a:ea typeface="Montserrat Medium" pitchFamily="34" charset="-122"/>
                <a:cs typeface="Montserrat Medium" pitchFamily="34" charset="-120"/>
              </a:rPr>
              <a:t>BigQuery resources: Specific tables and views</a:t>
            </a:r>
            <a:endParaRPr lang="en-US" sz="1150" dirty="0"/>
          </a:p>
        </p:txBody>
      </p:sp>
      <p:sp>
        <p:nvSpPr>
          <p:cNvPr id="22" name="Text 17"/>
          <p:cNvSpPr/>
          <p:nvPr/>
        </p:nvSpPr>
        <p:spPr>
          <a:xfrm>
            <a:off x="585907" y="5662017"/>
            <a:ext cx="6550581" cy="234315"/>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F4CAB8"/>
                </a:solidFill>
                <a:latin typeface="Montserrat Medium" pitchFamily="34" charset="0"/>
                <a:ea typeface="Montserrat Medium" pitchFamily="34" charset="-122"/>
                <a:cs typeface="Montserrat Medium" pitchFamily="34" charset="-120"/>
              </a:rPr>
              <a:t>Vertex AI resources: Designated data stores by tier</a:t>
            </a:r>
            <a:endParaRPr lang="en-US" sz="1150" dirty="0"/>
          </a:p>
        </p:txBody>
      </p:sp>
      <p:sp>
        <p:nvSpPr>
          <p:cNvPr id="23" name="Text 18"/>
          <p:cNvSpPr/>
          <p:nvPr/>
        </p:nvSpPr>
        <p:spPr>
          <a:xfrm>
            <a:off x="585907" y="5947529"/>
            <a:ext cx="6550581" cy="234315"/>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F4CAB8"/>
                </a:solidFill>
                <a:latin typeface="Montserrat Medium" pitchFamily="34" charset="0"/>
                <a:ea typeface="Montserrat Medium" pitchFamily="34" charset="-122"/>
                <a:cs typeface="Montserrat Medium" pitchFamily="34" charset="-120"/>
              </a:rPr>
              <a:t>IAM roles: dataViewer, discoveryengine.viewer</a:t>
            </a:r>
            <a:endParaRPr lang="en-US" sz="1150" dirty="0"/>
          </a:p>
        </p:txBody>
      </p:sp>
      <p:sp>
        <p:nvSpPr>
          <p:cNvPr id="24" name="Text 19"/>
          <p:cNvSpPr/>
          <p:nvPr/>
        </p:nvSpPr>
        <p:spPr>
          <a:xfrm>
            <a:off x="585907" y="6233041"/>
            <a:ext cx="6550581" cy="234315"/>
          </a:xfrm>
          <a:prstGeom prst="rect">
            <a:avLst/>
          </a:prstGeom>
          <a:noFill/>
          <a:ln/>
        </p:spPr>
        <p:txBody>
          <a:bodyPr wrap="none" lIns="0" tIns="0" rIns="0" bIns="0" rtlCol="0" anchor="t"/>
          <a:lstStyle/>
          <a:p>
            <a:pPr algn="l" marL="342900" indent="-342900">
              <a:lnSpc>
                <a:spcPts val="1800"/>
              </a:lnSpc>
              <a:buSzPct val="100000"/>
              <a:buChar char="•"/>
            </a:pPr>
            <a:r>
              <a:rPr lang="en-US" sz="1150" dirty="0">
                <a:solidFill>
                  <a:srgbClr val="F4CAB8"/>
                </a:solidFill>
                <a:latin typeface="Montserrat Medium" pitchFamily="34" charset="0"/>
                <a:ea typeface="Montserrat Medium" pitchFamily="34" charset="-122"/>
                <a:cs typeface="Montserrat Medium" pitchFamily="34" charset="-120"/>
              </a:rPr>
              <a:t>Access conditions: Data classification requirements</a:t>
            </a:r>
            <a:endParaRPr lang="en-US" sz="1150" dirty="0"/>
          </a:p>
        </p:txBody>
      </p:sp>
      <p:sp>
        <p:nvSpPr>
          <p:cNvPr id="25" name="Text 20"/>
          <p:cNvSpPr/>
          <p:nvPr/>
        </p:nvSpPr>
        <p:spPr>
          <a:xfrm>
            <a:off x="7501533" y="4570928"/>
            <a:ext cx="3554373" cy="293013"/>
          </a:xfrm>
          <a:prstGeom prst="rect">
            <a:avLst/>
          </a:prstGeom>
          <a:noFill/>
          <a:ln/>
        </p:spPr>
        <p:txBody>
          <a:bodyPr wrap="none" lIns="0" tIns="0" rIns="0" bIns="0" rtlCol="0" anchor="t"/>
          <a:lstStyle/>
          <a:p>
            <a:pPr algn="l" indent="0" marL="0">
              <a:lnSpc>
                <a:spcPts val="2300"/>
              </a:lnSpc>
              <a:buNone/>
            </a:pPr>
            <a:r>
              <a:rPr lang="en-US" sz="1800" b="1" dirty="0">
                <a:solidFill>
                  <a:srgbClr val="FFB393"/>
                </a:solidFill>
                <a:latin typeface="Brygada 1918 Bold" pitchFamily="34" charset="0"/>
                <a:ea typeface="Brygada 1918 Bold" pitchFamily="34" charset="-122"/>
                <a:cs typeface="Brygada 1918 Bold" pitchFamily="34" charset="-120"/>
              </a:rPr>
              <a:t>Automated Application Process</a:t>
            </a:r>
            <a:endParaRPr lang="en-US" sz="1800" dirty="0"/>
          </a:p>
        </p:txBody>
      </p:sp>
      <p:sp>
        <p:nvSpPr>
          <p:cNvPr id="26" name="Text 21"/>
          <p:cNvSpPr/>
          <p:nvPr/>
        </p:nvSpPr>
        <p:spPr>
          <a:xfrm>
            <a:off x="7501533" y="5010388"/>
            <a:ext cx="6550581" cy="234315"/>
          </a:xfrm>
          <a:prstGeom prst="rect">
            <a:avLst/>
          </a:prstGeom>
          <a:noFill/>
          <a:ln/>
        </p:spPr>
        <p:txBody>
          <a:bodyPr wrap="none" lIns="0" tIns="0" rIns="0" bIns="0" rtlCol="0" anchor="t"/>
          <a:lstStyle/>
          <a:p>
            <a:pPr algn="l" indent="0" marL="0">
              <a:lnSpc>
                <a:spcPts val="1800"/>
              </a:lnSpc>
              <a:buNone/>
            </a:pPr>
            <a:r>
              <a:rPr lang="en-US" sz="1150" b="1" dirty="0">
                <a:solidFill>
                  <a:srgbClr val="F4CAB8"/>
                </a:solidFill>
                <a:latin typeface="Montserrat Medium" pitchFamily="34" charset="0"/>
                <a:ea typeface="Montserrat Medium" pitchFamily="34" charset="-122"/>
                <a:cs typeface="Montserrat Medium" pitchFamily="34" charset="-120"/>
              </a:rPr>
              <a:t>5-15 Minute Provisioning:</a:t>
            </a:r>
            <a:endParaRPr lang="en-US" sz="1150" dirty="0"/>
          </a:p>
        </p:txBody>
      </p:sp>
      <p:sp>
        <p:nvSpPr>
          <p:cNvPr id="27" name="Text 22"/>
          <p:cNvSpPr/>
          <p:nvPr/>
        </p:nvSpPr>
        <p:spPr>
          <a:xfrm>
            <a:off x="7501533" y="5376505"/>
            <a:ext cx="6550581" cy="234315"/>
          </a:xfrm>
          <a:prstGeom prst="rect">
            <a:avLst/>
          </a:prstGeom>
          <a:noFill/>
          <a:ln/>
        </p:spPr>
        <p:txBody>
          <a:bodyPr wrap="none" lIns="0" tIns="0" rIns="0" bIns="0" rtlCol="0" anchor="t"/>
          <a:lstStyle/>
          <a:p>
            <a:pPr algn="l" marL="342900" indent="-342900">
              <a:lnSpc>
                <a:spcPts val="1800"/>
              </a:lnSpc>
              <a:buSzPct val="100000"/>
              <a:buFont typeface="+mj-lt"/>
              <a:buAutoNum type="arabicPeriod" startAt="1"/>
            </a:pPr>
            <a:r>
              <a:rPr lang="en-US" sz="1150" dirty="0">
                <a:solidFill>
                  <a:srgbClr val="F4CAB8"/>
                </a:solidFill>
                <a:latin typeface="Montserrat Medium" pitchFamily="34" charset="0"/>
                <a:ea typeface="Montserrat Medium" pitchFamily="34" charset="-122"/>
                <a:cs typeface="Montserrat Medium" pitchFamily="34" charset="-120"/>
              </a:rPr>
              <a:t>DS team requests data product via portal</a:t>
            </a:r>
            <a:endParaRPr lang="en-US" sz="1150" dirty="0"/>
          </a:p>
        </p:txBody>
      </p:sp>
      <p:sp>
        <p:nvSpPr>
          <p:cNvPr id="28" name="Text 23"/>
          <p:cNvSpPr/>
          <p:nvPr/>
        </p:nvSpPr>
        <p:spPr>
          <a:xfrm>
            <a:off x="7501533" y="5662017"/>
            <a:ext cx="6550581" cy="234315"/>
          </a:xfrm>
          <a:prstGeom prst="rect">
            <a:avLst/>
          </a:prstGeom>
          <a:noFill/>
          <a:ln/>
        </p:spPr>
        <p:txBody>
          <a:bodyPr wrap="none" lIns="0" tIns="0" rIns="0" bIns="0" rtlCol="0" anchor="t"/>
          <a:lstStyle/>
          <a:p>
            <a:pPr algn="l" marL="342900" indent="-342900">
              <a:lnSpc>
                <a:spcPts val="1800"/>
              </a:lnSpc>
              <a:buSzPct val="100000"/>
              <a:buFont typeface="+mj-lt"/>
              <a:buAutoNum type="arabicPeriod" startAt="2"/>
            </a:pPr>
            <a:r>
              <a:rPr lang="en-US" sz="1150" dirty="0">
                <a:solidFill>
                  <a:srgbClr val="F4CAB8"/>
                </a:solidFill>
                <a:latin typeface="Montserrat Medium" pitchFamily="34" charset="0"/>
                <a:ea typeface="Montserrat Medium" pitchFamily="34" charset="-122"/>
                <a:cs typeface="Montserrat Medium" pitchFamily="34" charset="-120"/>
              </a:rPr>
              <a:t>EDS reads appropriate template configuration</a:t>
            </a:r>
            <a:endParaRPr lang="en-US" sz="1150" dirty="0"/>
          </a:p>
        </p:txBody>
      </p:sp>
      <p:sp>
        <p:nvSpPr>
          <p:cNvPr id="29" name="Text 24"/>
          <p:cNvSpPr/>
          <p:nvPr/>
        </p:nvSpPr>
        <p:spPr>
          <a:xfrm>
            <a:off x="7501533" y="5947529"/>
            <a:ext cx="6550581" cy="234315"/>
          </a:xfrm>
          <a:prstGeom prst="rect">
            <a:avLst/>
          </a:prstGeom>
          <a:noFill/>
          <a:ln/>
        </p:spPr>
        <p:txBody>
          <a:bodyPr wrap="none" lIns="0" tIns="0" rIns="0" bIns="0" rtlCol="0" anchor="t"/>
          <a:lstStyle/>
          <a:p>
            <a:pPr algn="l" marL="342900" indent="-342900">
              <a:lnSpc>
                <a:spcPts val="1800"/>
              </a:lnSpc>
              <a:buSzPct val="100000"/>
              <a:buFont typeface="+mj-lt"/>
              <a:buAutoNum type="arabicPeriod" startAt="3"/>
            </a:pPr>
            <a:r>
              <a:rPr lang="en-US" sz="1150" dirty="0">
                <a:solidFill>
                  <a:srgbClr val="F4CAB8"/>
                </a:solidFill>
                <a:latin typeface="Montserrat Medium" pitchFamily="34" charset="0"/>
                <a:ea typeface="Montserrat Medium" pitchFamily="34" charset="-122"/>
                <a:cs typeface="Montserrat Medium" pitchFamily="34" charset="-120"/>
              </a:rPr>
              <a:t>Template applied to team's service account</a:t>
            </a:r>
            <a:endParaRPr lang="en-US" sz="1150" dirty="0"/>
          </a:p>
        </p:txBody>
      </p:sp>
      <p:sp>
        <p:nvSpPr>
          <p:cNvPr id="30" name="Text 25"/>
          <p:cNvSpPr/>
          <p:nvPr/>
        </p:nvSpPr>
        <p:spPr>
          <a:xfrm>
            <a:off x="7501533" y="6233041"/>
            <a:ext cx="6550581" cy="234315"/>
          </a:xfrm>
          <a:prstGeom prst="rect">
            <a:avLst/>
          </a:prstGeom>
          <a:noFill/>
          <a:ln/>
        </p:spPr>
        <p:txBody>
          <a:bodyPr wrap="none" lIns="0" tIns="0" rIns="0" bIns="0" rtlCol="0" anchor="t"/>
          <a:lstStyle/>
          <a:p>
            <a:pPr algn="l" marL="342900" indent="-342900">
              <a:lnSpc>
                <a:spcPts val="1800"/>
              </a:lnSpc>
              <a:buSzPct val="100000"/>
              <a:buFont typeface="+mj-lt"/>
              <a:buAutoNum type="arabicPeriod" startAt="4"/>
            </a:pPr>
            <a:r>
              <a:rPr lang="en-US" sz="1150" dirty="0">
                <a:solidFill>
                  <a:srgbClr val="F4CAB8"/>
                </a:solidFill>
                <a:latin typeface="Montserrat Medium" pitchFamily="34" charset="0"/>
                <a:ea typeface="Montserrat Medium" pitchFamily="34" charset="-122"/>
                <a:cs typeface="Montserrat Medium" pitchFamily="34" charset="-120"/>
              </a:rPr>
              <a:t>All permissions granted atomically</a:t>
            </a:r>
            <a:endParaRPr lang="en-US" sz="1150" dirty="0"/>
          </a:p>
        </p:txBody>
      </p:sp>
      <p:sp>
        <p:nvSpPr>
          <p:cNvPr id="31" name="Text 26"/>
          <p:cNvSpPr/>
          <p:nvPr/>
        </p:nvSpPr>
        <p:spPr>
          <a:xfrm>
            <a:off x="7501533" y="6518553"/>
            <a:ext cx="6550581" cy="234315"/>
          </a:xfrm>
          <a:prstGeom prst="rect">
            <a:avLst/>
          </a:prstGeom>
          <a:noFill/>
          <a:ln/>
        </p:spPr>
        <p:txBody>
          <a:bodyPr wrap="none" lIns="0" tIns="0" rIns="0" bIns="0" rtlCol="0" anchor="t"/>
          <a:lstStyle/>
          <a:p>
            <a:pPr algn="l" marL="342900" indent="-342900">
              <a:lnSpc>
                <a:spcPts val="1800"/>
              </a:lnSpc>
              <a:buSzPct val="100000"/>
              <a:buFont typeface="+mj-lt"/>
              <a:buAutoNum type="arabicPeriod" startAt="5"/>
            </a:pPr>
            <a:r>
              <a:rPr lang="en-US" sz="1150" dirty="0">
                <a:solidFill>
                  <a:srgbClr val="F4CAB8"/>
                </a:solidFill>
                <a:latin typeface="Montserrat Medium" pitchFamily="34" charset="0"/>
                <a:ea typeface="Montserrat Medium" pitchFamily="34" charset="-122"/>
                <a:cs typeface="Montserrat Medium" pitchFamily="34" charset="-120"/>
              </a:rPr>
              <a:t>Access logged to comprehensive audit trail</a:t>
            </a:r>
            <a:endParaRPr lang="en-US" sz="1150" dirty="0"/>
          </a:p>
        </p:txBody>
      </p:sp>
      <p:sp>
        <p:nvSpPr>
          <p:cNvPr id="32" name="Shape 27"/>
          <p:cNvSpPr/>
          <p:nvPr/>
        </p:nvSpPr>
        <p:spPr>
          <a:xfrm>
            <a:off x="585907" y="6968847"/>
            <a:ext cx="13458587" cy="856655"/>
          </a:xfrm>
          <a:prstGeom prst="roundRect">
            <a:avLst>
              <a:gd name="adj" fmla="val 2565"/>
            </a:avLst>
          </a:prstGeom>
          <a:solidFill>
            <a:srgbClr val="4D1700"/>
          </a:solidFill>
          <a:ln/>
        </p:spPr>
      </p:sp>
      <p:pic>
        <p:nvPicPr>
          <p:cNvPr id="33" name="Image 3" descr="preencoded.png">    </p:cNvPr>
          <p:cNvPicPr>
            <a:picLocks noChangeAspect="1"/>
          </p:cNvPicPr>
          <p:nvPr/>
        </p:nvPicPr>
        <p:blipFill>
          <a:blip r:embed="rId4"/>
          <a:stretch>
            <a:fillRect/>
          </a:stretch>
        </p:blipFill>
        <p:spPr>
          <a:xfrm>
            <a:off x="732353" y="7191256"/>
            <a:ext cx="183118" cy="146447"/>
          </a:xfrm>
          <a:prstGeom prst="rect">
            <a:avLst/>
          </a:prstGeom>
        </p:spPr>
      </p:pic>
      <p:sp>
        <p:nvSpPr>
          <p:cNvPr id="34" name="Text 28"/>
          <p:cNvSpPr/>
          <p:nvPr/>
        </p:nvSpPr>
        <p:spPr>
          <a:xfrm>
            <a:off x="1061918" y="7151846"/>
            <a:ext cx="12836128" cy="468630"/>
          </a:xfrm>
          <a:prstGeom prst="rect">
            <a:avLst/>
          </a:prstGeom>
          <a:noFill/>
          <a:ln/>
        </p:spPr>
        <p:txBody>
          <a:bodyPr wrap="square" lIns="0" tIns="0" rIns="0" bIns="0" rtlCol="0" anchor="t"/>
          <a:lstStyle/>
          <a:p>
            <a:pPr algn="l" indent="0" marL="0">
              <a:lnSpc>
                <a:spcPts val="1800"/>
              </a:lnSpc>
              <a:buNone/>
            </a:pPr>
            <a:r>
              <a:rPr lang="en-US" sz="1150" b="1" dirty="0">
                <a:solidFill>
                  <a:srgbClr val="FFB393"/>
                </a:solidFill>
                <a:latin typeface="Montserrat Medium" pitchFamily="34" charset="0"/>
                <a:ea typeface="Montserrat Medium" pitchFamily="34" charset="-122"/>
                <a:cs typeface="Montserrat Medium" pitchFamily="34" charset="-120"/>
              </a:rPr>
              <a:t>Scalability Advantage:</a:t>
            </a:r>
            <a:pPr algn="l" indent="0" marL="0">
              <a:lnSpc>
                <a:spcPts val="1800"/>
              </a:lnSpc>
              <a:buNone/>
            </a:pPr>
            <a:r>
              <a:rPr lang="en-US" sz="1150" dirty="0">
                <a:solidFill>
                  <a:srgbClr val="FFFFFF"/>
                </a:solidFill>
                <a:latin typeface="Montserrat Medium" pitchFamily="34" charset="0"/>
                <a:ea typeface="Montserrat Medium" pitchFamily="34" charset="-122"/>
                <a:cs typeface="Montserrat Medium" pitchFamily="34" charset="-120"/>
              </a:rPr>
              <a:t> Adding the 10th team requires identical effort as the 1st team. Templates enable consistent access patterns across unlimited teams without manual configuration.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38307" y="507563"/>
            <a:ext cx="8575238" cy="615315"/>
          </a:xfrm>
          <a:prstGeom prst="rect">
            <a:avLst/>
          </a:prstGeom>
          <a:noFill/>
          <a:ln/>
        </p:spPr>
        <p:txBody>
          <a:bodyPr wrap="none" lIns="0" tIns="0" rIns="0" bIns="0" rtlCol="0" anchor="t"/>
          <a:lstStyle/>
          <a:p>
            <a:pPr algn="l" indent="0" marL="0">
              <a:lnSpc>
                <a:spcPts val="4800"/>
              </a:lnSpc>
              <a:buNone/>
            </a:pPr>
            <a:r>
              <a:rPr lang="en-US" sz="3850" b="1" dirty="0">
                <a:solidFill>
                  <a:srgbClr val="FFB393"/>
                </a:solidFill>
                <a:latin typeface="Brygada 1918 Bold" pitchFamily="34" charset="0"/>
                <a:ea typeface="Brygada 1918 Bold" pitchFamily="34" charset="-122"/>
                <a:cs typeface="Brygada 1918 Bold" pitchFamily="34" charset="-120"/>
              </a:rPr>
              <a:t>Time-Travel Queries for Compliance</a:t>
            </a:r>
            <a:endParaRPr lang="en-US" sz="3850" dirty="0"/>
          </a:p>
        </p:txBody>
      </p:sp>
      <p:sp>
        <p:nvSpPr>
          <p:cNvPr id="3" name="Text 1"/>
          <p:cNvSpPr/>
          <p:nvPr/>
        </p:nvSpPr>
        <p:spPr>
          <a:xfrm>
            <a:off x="738307" y="1491972"/>
            <a:ext cx="13153787" cy="590550"/>
          </a:xfrm>
          <a:prstGeom prst="rect">
            <a:avLst/>
          </a:prstGeom>
          <a:noFill/>
          <a:ln/>
        </p:spPr>
        <p:txBody>
          <a:bodyPr wrap="square" lIns="0" tIns="0" rIns="0" bIns="0" rtlCol="0" anchor="t"/>
          <a:lstStyle/>
          <a:p>
            <a:pPr algn="l" indent="0" marL="0">
              <a:lnSpc>
                <a:spcPts val="2300"/>
              </a:lnSpc>
              <a:buNone/>
            </a:pPr>
            <a:r>
              <a:rPr lang="en-US" sz="1450" dirty="0">
                <a:solidFill>
                  <a:srgbClr val="F4CAB8"/>
                </a:solidFill>
                <a:latin typeface="Montserrat Medium" pitchFamily="34" charset="0"/>
                <a:ea typeface="Montserrat Medium" pitchFamily="34" charset="-122"/>
                <a:cs typeface="Montserrat Medium" pitchFamily="34" charset="-120"/>
              </a:rPr>
              <a:t>Regulatory compliance demands that AI decisions use law versions active on incident dates, not current versions. Our versioned reference data architecture enables precise historical accuracy with complete audit trails.</a:t>
            </a:r>
            <a:endParaRPr lang="en-US" sz="1450" dirty="0"/>
          </a:p>
        </p:txBody>
      </p:sp>
      <p:sp>
        <p:nvSpPr>
          <p:cNvPr id="4" name="Text 2"/>
          <p:cNvSpPr/>
          <p:nvPr/>
        </p:nvSpPr>
        <p:spPr>
          <a:xfrm>
            <a:off x="738307" y="2290167"/>
            <a:ext cx="184547" cy="230743"/>
          </a:xfrm>
          <a:prstGeom prst="rect">
            <a:avLst/>
          </a:prstGeom>
          <a:noFill/>
          <a:ln/>
        </p:spPr>
        <p:txBody>
          <a:bodyPr wrap="none" lIns="0" tIns="0" rIns="0" bIns="0" rtlCol="0" anchor="t"/>
          <a:lstStyle/>
          <a:p>
            <a:pPr algn="l" indent="0" marL="0">
              <a:lnSpc>
                <a:spcPts val="2300"/>
              </a:lnSpc>
              <a:buNone/>
            </a:pPr>
            <a:r>
              <a:rPr lang="en-US" sz="1450" dirty="0">
                <a:solidFill>
                  <a:srgbClr val="F4CAB8"/>
                </a:solidFill>
                <a:latin typeface="Brygada 1918 Light" pitchFamily="34" charset="0"/>
                <a:ea typeface="Brygada 1918 Light" pitchFamily="34" charset="-122"/>
                <a:cs typeface="Brygada 1918 Light" pitchFamily="34" charset="-120"/>
              </a:rPr>
              <a:t>01</a:t>
            </a:r>
            <a:endParaRPr lang="en-US" sz="1450" dirty="0"/>
          </a:p>
        </p:txBody>
      </p:sp>
      <p:sp>
        <p:nvSpPr>
          <p:cNvPr id="5" name="Shape 3"/>
          <p:cNvSpPr/>
          <p:nvPr/>
        </p:nvSpPr>
        <p:spPr>
          <a:xfrm>
            <a:off x="738307" y="2581037"/>
            <a:ext cx="6484620" cy="22860"/>
          </a:xfrm>
          <a:prstGeom prst="rect">
            <a:avLst/>
          </a:prstGeom>
          <a:solidFill>
            <a:srgbClr val="FFB393"/>
          </a:solidFill>
          <a:ln/>
        </p:spPr>
      </p:sp>
      <p:sp>
        <p:nvSpPr>
          <p:cNvPr id="6" name="Text 4"/>
          <p:cNvSpPr/>
          <p:nvPr/>
        </p:nvSpPr>
        <p:spPr>
          <a:xfrm>
            <a:off x="738307" y="2719030"/>
            <a:ext cx="3461742" cy="307538"/>
          </a:xfrm>
          <a:prstGeom prst="rect">
            <a:avLst/>
          </a:prstGeom>
          <a:noFill/>
          <a:ln/>
        </p:spPr>
        <p:txBody>
          <a:bodyPr wrap="none" lIns="0" tIns="0" rIns="0" bIns="0" rtlCol="0" anchor="t"/>
          <a:lstStyle/>
          <a:p>
            <a:pPr algn="l" indent="0" marL="0">
              <a:lnSpc>
                <a:spcPts val="2400"/>
              </a:lnSpc>
              <a:buNone/>
            </a:pPr>
            <a:r>
              <a:rPr lang="en-US" sz="1900" b="1" dirty="0">
                <a:solidFill>
                  <a:srgbClr val="F4CAB8"/>
                </a:solidFill>
                <a:latin typeface="Brygada 1918 Bold" pitchFamily="34" charset="0"/>
                <a:ea typeface="Brygada 1918 Bold" pitchFamily="34" charset="-122"/>
                <a:cs typeface="Brygada 1918 Bold" pitchFamily="34" charset="-120"/>
              </a:rPr>
              <a:t>Version Storage Architecture</a:t>
            </a:r>
            <a:endParaRPr lang="en-US" sz="1900" dirty="0"/>
          </a:p>
        </p:txBody>
      </p:sp>
      <p:sp>
        <p:nvSpPr>
          <p:cNvPr id="7" name="Text 5"/>
          <p:cNvSpPr/>
          <p:nvPr/>
        </p:nvSpPr>
        <p:spPr>
          <a:xfrm>
            <a:off x="738307" y="3137297"/>
            <a:ext cx="6484620" cy="1181100"/>
          </a:xfrm>
          <a:prstGeom prst="rect">
            <a:avLst/>
          </a:prstGeom>
          <a:noFill/>
          <a:ln/>
        </p:spPr>
        <p:txBody>
          <a:bodyPr wrap="square" lIns="0" tIns="0" rIns="0" bIns="0" rtlCol="0" anchor="t"/>
          <a:lstStyle/>
          <a:p>
            <a:pPr algn="l" indent="0" marL="0">
              <a:lnSpc>
                <a:spcPts val="2300"/>
              </a:lnSpc>
              <a:buNone/>
            </a:pPr>
            <a:r>
              <a:rPr lang="en-US" sz="1450" dirty="0">
                <a:solidFill>
                  <a:srgbClr val="F4CAB8"/>
                </a:solidFill>
                <a:latin typeface="Montserrat Medium" pitchFamily="34" charset="0"/>
                <a:ea typeface="Montserrat Medium" pitchFamily="34" charset="-122"/>
                <a:cs typeface="Montserrat Medium" pitchFamily="34" charset="-120"/>
              </a:rPr>
              <a:t>BigQuery stores structured law data with version tracking fields: law_id, effective_date, superseded_date, is_current flag. Vertex AI Search maintains full PDF documents for semantic search capabilities.</a:t>
            </a:r>
            <a:endParaRPr lang="en-US" sz="1450" dirty="0"/>
          </a:p>
        </p:txBody>
      </p:sp>
      <p:sp>
        <p:nvSpPr>
          <p:cNvPr id="8" name="Text 6"/>
          <p:cNvSpPr/>
          <p:nvPr/>
        </p:nvSpPr>
        <p:spPr>
          <a:xfrm>
            <a:off x="7407473" y="2290167"/>
            <a:ext cx="184547" cy="230743"/>
          </a:xfrm>
          <a:prstGeom prst="rect">
            <a:avLst/>
          </a:prstGeom>
          <a:noFill/>
          <a:ln/>
        </p:spPr>
        <p:txBody>
          <a:bodyPr wrap="none" lIns="0" tIns="0" rIns="0" bIns="0" rtlCol="0" anchor="t"/>
          <a:lstStyle/>
          <a:p>
            <a:pPr algn="l" indent="0" marL="0">
              <a:lnSpc>
                <a:spcPts val="2300"/>
              </a:lnSpc>
              <a:buNone/>
            </a:pPr>
            <a:r>
              <a:rPr lang="en-US" sz="1450" dirty="0">
                <a:solidFill>
                  <a:srgbClr val="F4CAB8"/>
                </a:solidFill>
                <a:latin typeface="Brygada 1918 Light" pitchFamily="34" charset="0"/>
                <a:ea typeface="Brygada 1918 Light" pitchFamily="34" charset="-122"/>
                <a:cs typeface="Brygada 1918 Light" pitchFamily="34" charset="-120"/>
              </a:rPr>
              <a:t>02</a:t>
            </a:r>
            <a:endParaRPr lang="en-US" sz="1450" dirty="0"/>
          </a:p>
        </p:txBody>
      </p:sp>
      <p:sp>
        <p:nvSpPr>
          <p:cNvPr id="9" name="Shape 7"/>
          <p:cNvSpPr/>
          <p:nvPr/>
        </p:nvSpPr>
        <p:spPr>
          <a:xfrm>
            <a:off x="7407473" y="2581037"/>
            <a:ext cx="6484620" cy="22860"/>
          </a:xfrm>
          <a:prstGeom prst="rect">
            <a:avLst/>
          </a:prstGeom>
          <a:solidFill>
            <a:srgbClr val="FFB393"/>
          </a:solidFill>
          <a:ln/>
        </p:spPr>
      </p:sp>
      <p:sp>
        <p:nvSpPr>
          <p:cNvPr id="10" name="Text 8"/>
          <p:cNvSpPr/>
          <p:nvPr/>
        </p:nvSpPr>
        <p:spPr>
          <a:xfrm>
            <a:off x="7407473" y="2719030"/>
            <a:ext cx="2907268" cy="307538"/>
          </a:xfrm>
          <a:prstGeom prst="rect">
            <a:avLst/>
          </a:prstGeom>
          <a:noFill/>
          <a:ln/>
        </p:spPr>
        <p:txBody>
          <a:bodyPr wrap="none" lIns="0" tIns="0" rIns="0" bIns="0" rtlCol="0" anchor="t"/>
          <a:lstStyle/>
          <a:p>
            <a:pPr algn="l" indent="0" marL="0">
              <a:lnSpc>
                <a:spcPts val="2400"/>
              </a:lnSpc>
              <a:buNone/>
            </a:pPr>
            <a:r>
              <a:rPr lang="en-US" sz="1900" b="1" dirty="0">
                <a:solidFill>
                  <a:srgbClr val="F4CAB8"/>
                </a:solidFill>
                <a:latin typeface="Brygada 1918 Bold" pitchFamily="34" charset="0"/>
                <a:ea typeface="Brygada 1918 Bold" pitchFamily="34" charset="-122"/>
                <a:cs typeface="Brygada 1918 Bold" pitchFamily="34" charset="-120"/>
              </a:rPr>
              <a:t>Time-Travel Query Logic</a:t>
            </a:r>
            <a:endParaRPr lang="en-US" sz="1900" dirty="0"/>
          </a:p>
        </p:txBody>
      </p:sp>
      <p:sp>
        <p:nvSpPr>
          <p:cNvPr id="11" name="Text 9"/>
          <p:cNvSpPr/>
          <p:nvPr/>
        </p:nvSpPr>
        <p:spPr>
          <a:xfrm>
            <a:off x="7407473" y="3137297"/>
            <a:ext cx="6484620" cy="885825"/>
          </a:xfrm>
          <a:prstGeom prst="rect">
            <a:avLst/>
          </a:prstGeom>
          <a:noFill/>
          <a:ln/>
        </p:spPr>
        <p:txBody>
          <a:bodyPr wrap="square" lIns="0" tIns="0" rIns="0" bIns="0" rtlCol="0" anchor="t"/>
          <a:lstStyle/>
          <a:p>
            <a:pPr algn="l" indent="0" marL="0">
              <a:lnSpc>
                <a:spcPts val="2300"/>
              </a:lnSpc>
              <a:buNone/>
            </a:pPr>
            <a:r>
              <a:rPr lang="en-US" sz="1450" dirty="0">
                <a:solidFill>
                  <a:srgbClr val="F4CAB8"/>
                </a:solidFill>
                <a:latin typeface="Montserrat Medium" pitchFamily="34" charset="0"/>
                <a:ea typeface="Montserrat Medium" pitchFamily="34" charset="-122"/>
                <a:cs typeface="Montserrat Medium" pitchFamily="34" charset="-120"/>
              </a:rPr>
              <a:t>Filter criteria: effective_date ≤ incident_date AND (superseded_date IS NULL OR superseded_date &gt; incident_date). Returns law version that was legally active on the specific incident date.</a:t>
            </a:r>
            <a:endParaRPr lang="en-US" sz="1450" dirty="0"/>
          </a:p>
        </p:txBody>
      </p:sp>
      <p:sp>
        <p:nvSpPr>
          <p:cNvPr id="12" name="Text 10"/>
          <p:cNvSpPr/>
          <p:nvPr/>
        </p:nvSpPr>
        <p:spPr>
          <a:xfrm>
            <a:off x="738307" y="4641294"/>
            <a:ext cx="184547" cy="230743"/>
          </a:xfrm>
          <a:prstGeom prst="rect">
            <a:avLst/>
          </a:prstGeom>
          <a:noFill/>
          <a:ln/>
        </p:spPr>
        <p:txBody>
          <a:bodyPr wrap="none" lIns="0" tIns="0" rIns="0" bIns="0" rtlCol="0" anchor="t"/>
          <a:lstStyle/>
          <a:p>
            <a:pPr algn="l" indent="0" marL="0">
              <a:lnSpc>
                <a:spcPts val="2300"/>
              </a:lnSpc>
              <a:buNone/>
            </a:pPr>
            <a:r>
              <a:rPr lang="en-US" sz="1450" dirty="0">
                <a:solidFill>
                  <a:srgbClr val="F4CAB8"/>
                </a:solidFill>
                <a:latin typeface="Brygada 1918 Light" pitchFamily="34" charset="0"/>
                <a:ea typeface="Brygada 1918 Light" pitchFamily="34" charset="-122"/>
                <a:cs typeface="Brygada 1918 Light" pitchFamily="34" charset="-120"/>
              </a:rPr>
              <a:t>03</a:t>
            </a:r>
            <a:endParaRPr lang="en-US" sz="1450" dirty="0"/>
          </a:p>
        </p:txBody>
      </p:sp>
      <p:sp>
        <p:nvSpPr>
          <p:cNvPr id="13" name="Shape 11"/>
          <p:cNvSpPr/>
          <p:nvPr/>
        </p:nvSpPr>
        <p:spPr>
          <a:xfrm>
            <a:off x="738307" y="4932164"/>
            <a:ext cx="6484620" cy="22860"/>
          </a:xfrm>
          <a:prstGeom prst="rect">
            <a:avLst/>
          </a:prstGeom>
          <a:solidFill>
            <a:srgbClr val="FFB393"/>
          </a:solidFill>
          <a:ln/>
        </p:spPr>
      </p:sp>
      <p:sp>
        <p:nvSpPr>
          <p:cNvPr id="14" name="Text 12"/>
          <p:cNvSpPr/>
          <p:nvPr/>
        </p:nvSpPr>
        <p:spPr>
          <a:xfrm>
            <a:off x="738307" y="5070158"/>
            <a:ext cx="3581876" cy="307538"/>
          </a:xfrm>
          <a:prstGeom prst="rect">
            <a:avLst/>
          </a:prstGeom>
          <a:noFill/>
          <a:ln/>
        </p:spPr>
        <p:txBody>
          <a:bodyPr wrap="none" lIns="0" tIns="0" rIns="0" bIns="0" rtlCol="0" anchor="t"/>
          <a:lstStyle/>
          <a:p>
            <a:pPr algn="l" indent="0" marL="0">
              <a:lnSpc>
                <a:spcPts val="2400"/>
              </a:lnSpc>
              <a:buNone/>
            </a:pPr>
            <a:r>
              <a:rPr lang="en-US" sz="1900" b="1" dirty="0">
                <a:solidFill>
                  <a:srgbClr val="F4CAB8"/>
                </a:solidFill>
                <a:latin typeface="Brygada 1918 Bold" pitchFamily="34" charset="0"/>
                <a:ea typeface="Brygada 1918 Bold" pitchFamily="34" charset="-122"/>
                <a:cs typeface="Brygada 1918 Bold" pitchFamily="34" charset="-120"/>
              </a:rPr>
              <a:t>Automated Version Activation</a:t>
            </a:r>
            <a:endParaRPr lang="en-US" sz="1900" dirty="0"/>
          </a:p>
        </p:txBody>
      </p:sp>
      <p:sp>
        <p:nvSpPr>
          <p:cNvPr id="15" name="Text 13"/>
          <p:cNvSpPr/>
          <p:nvPr/>
        </p:nvSpPr>
        <p:spPr>
          <a:xfrm>
            <a:off x="738307" y="5488424"/>
            <a:ext cx="6484620" cy="885825"/>
          </a:xfrm>
          <a:prstGeom prst="rect">
            <a:avLst/>
          </a:prstGeom>
          <a:noFill/>
          <a:ln/>
        </p:spPr>
        <p:txBody>
          <a:bodyPr wrap="square" lIns="0" tIns="0" rIns="0" bIns="0" rtlCol="0" anchor="t"/>
          <a:lstStyle/>
          <a:p>
            <a:pPr algn="l" indent="0" marL="0">
              <a:lnSpc>
                <a:spcPts val="2300"/>
              </a:lnSpc>
              <a:buNone/>
            </a:pPr>
            <a:r>
              <a:rPr lang="en-US" sz="1450" dirty="0">
                <a:solidFill>
                  <a:srgbClr val="F4CAB8"/>
                </a:solidFill>
                <a:latin typeface="Montserrat Medium" pitchFamily="34" charset="0"/>
                <a:ea typeface="Montserrat Medium" pitchFamily="34" charset="-122"/>
                <a:cs typeface="Montserrat Medium" pitchFamily="34" charset="-120"/>
              </a:rPr>
              <a:t>Daily jobs check for laws with effective_date = today. Updates old version: is_current = FALSE, sets superseded_date. Activates new version: is_current = TRUE while preserving historical versions.</a:t>
            </a:r>
            <a:endParaRPr lang="en-US" sz="1450" dirty="0"/>
          </a:p>
        </p:txBody>
      </p:sp>
      <p:sp>
        <p:nvSpPr>
          <p:cNvPr id="16" name="Text 14"/>
          <p:cNvSpPr/>
          <p:nvPr/>
        </p:nvSpPr>
        <p:spPr>
          <a:xfrm>
            <a:off x="7407473" y="4641294"/>
            <a:ext cx="184547" cy="230743"/>
          </a:xfrm>
          <a:prstGeom prst="rect">
            <a:avLst/>
          </a:prstGeom>
          <a:noFill/>
          <a:ln/>
        </p:spPr>
        <p:txBody>
          <a:bodyPr wrap="none" lIns="0" tIns="0" rIns="0" bIns="0" rtlCol="0" anchor="t"/>
          <a:lstStyle/>
          <a:p>
            <a:pPr algn="l" indent="0" marL="0">
              <a:lnSpc>
                <a:spcPts val="2300"/>
              </a:lnSpc>
              <a:buNone/>
            </a:pPr>
            <a:r>
              <a:rPr lang="en-US" sz="1450" dirty="0">
                <a:solidFill>
                  <a:srgbClr val="F4CAB8"/>
                </a:solidFill>
                <a:latin typeface="Brygada 1918 Light" pitchFamily="34" charset="0"/>
                <a:ea typeface="Brygada 1918 Light" pitchFamily="34" charset="-122"/>
                <a:cs typeface="Brygada 1918 Light" pitchFamily="34" charset="-120"/>
              </a:rPr>
              <a:t>04</a:t>
            </a:r>
            <a:endParaRPr lang="en-US" sz="1450" dirty="0"/>
          </a:p>
        </p:txBody>
      </p:sp>
      <p:sp>
        <p:nvSpPr>
          <p:cNvPr id="17" name="Shape 15"/>
          <p:cNvSpPr/>
          <p:nvPr/>
        </p:nvSpPr>
        <p:spPr>
          <a:xfrm>
            <a:off x="7407473" y="4932164"/>
            <a:ext cx="6484620" cy="22860"/>
          </a:xfrm>
          <a:prstGeom prst="rect">
            <a:avLst/>
          </a:prstGeom>
          <a:solidFill>
            <a:srgbClr val="FFB393"/>
          </a:solidFill>
          <a:ln/>
        </p:spPr>
      </p:sp>
      <p:sp>
        <p:nvSpPr>
          <p:cNvPr id="18" name="Text 16"/>
          <p:cNvSpPr/>
          <p:nvPr/>
        </p:nvSpPr>
        <p:spPr>
          <a:xfrm>
            <a:off x="7407473" y="5070158"/>
            <a:ext cx="2475309" cy="307538"/>
          </a:xfrm>
          <a:prstGeom prst="rect">
            <a:avLst/>
          </a:prstGeom>
          <a:noFill/>
          <a:ln/>
        </p:spPr>
        <p:txBody>
          <a:bodyPr wrap="none" lIns="0" tIns="0" rIns="0" bIns="0" rtlCol="0" anchor="t"/>
          <a:lstStyle/>
          <a:p>
            <a:pPr algn="l" indent="0" marL="0">
              <a:lnSpc>
                <a:spcPts val="2400"/>
              </a:lnSpc>
              <a:buNone/>
            </a:pPr>
            <a:r>
              <a:rPr lang="en-US" sz="1900" b="1" dirty="0">
                <a:solidFill>
                  <a:srgbClr val="F4CAB8"/>
                </a:solidFill>
                <a:latin typeface="Brygada 1918 Bold" pitchFamily="34" charset="0"/>
                <a:ea typeface="Brygada 1918 Bold" pitchFamily="34" charset="-122"/>
                <a:cs typeface="Brygada 1918 Bold" pitchFamily="34" charset="-120"/>
              </a:rPr>
              <a:t>Complete Audit Trail</a:t>
            </a:r>
            <a:endParaRPr lang="en-US" sz="1900" dirty="0"/>
          </a:p>
        </p:txBody>
      </p:sp>
      <p:sp>
        <p:nvSpPr>
          <p:cNvPr id="19" name="Text 17"/>
          <p:cNvSpPr/>
          <p:nvPr/>
        </p:nvSpPr>
        <p:spPr>
          <a:xfrm>
            <a:off x="7407473" y="5488424"/>
            <a:ext cx="6484620" cy="885825"/>
          </a:xfrm>
          <a:prstGeom prst="rect">
            <a:avLst/>
          </a:prstGeom>
          <a:noFill/>
          <a:ln/>
        </p:spPr>
        <p:txBody>
          <a:bodyPr wrap="square" lIns="0" tIns="0" rIns="0" bIns="0" rtlCol="0" anchor="t"/>
          <a:lstStyle/>
          <a:p>
            <a:pPr algn="l" indent="0" marL="0">
              <a:lnSpc>
                <a:spcPts val="2300"/>
              </a:lnSpc>
              <a:buNone/>
            </a:pPr>
            <a:r>
              <a:rPr lang="en-US" sz="1450" dirty="0">
                <a:solidFill>
                  <a:srgbClr val="F4CAB8"/>
                </a:solidFill>
                <a:latin typeface="Montserrat Medium" pitchFamily="34" charset="0"/>
                <a:ea typeface="Montserrat Medium" pitchFamily="34" charset="-122"/>
                <a:cs typeface="Montserrat Medium" pitchFamily="34" charset="-120"/>
              </a:rPr>
              <a:t>Every AI decision logs which law version was applied. Enables exact reproduction of historical decisions with legally defensible chain of custody documentation.</a:t>
            </a:r>
            <a:endParaRPr lang="en-US" sz="1450" dirty="0"/>
          </a:p>
        </p:txBody>
      </p:sp>
      <p:sp>
        <p:nvSpPr>
          <p:cNvPr id="20" name="Text 18"/>
          <p:cNvSpPr/>
          <p:nvPr/>
        </p:nvSpPr>
        <p:spPr>
          <a:xfrm>
            <a:off x="1015127" y="6927890"/>
            <a:ext cx="12876967" cy="590550"/>
          </a:xfrm>
          <a:prstGeom prst="rect">
            <a:avLst/>
          </a:prstGeom>
          <a:noFill/>
          <a:ln/>
        </p:spPr>
        <p:txBody>
          <a:bodyPr wrap="square" lIns="0" tIns="0" rIns="0" bIns="0" rtlCol="0" anchor="t"/>
          <a:lstStyle/>
          <a:p>
            <a:pPr algn="l" indent="0" marL="0">
              <a:lnSpc>
                <a:spcPts val="2300"/>
              </a:lnSpc>
              <a:buNone/>
            </a:pPr>
            <a:r>
              <a:rPr lang="en-US" sz="1450" b="1" dirty="0">
                <a:solidFill>
                  <a:srgbClr val="F4CAB8"/>
                </a:solidFill>
                <a:latin typeface="Montserrat Medium" pitchFamily="34" charset="0"/>
                <a:ea typeface="Montserrat Medium" pitchFamily="34" charset="-122"/>
                <a:cs typeface="Montserrat Medium" pitchFamily="34" charset="-120"/>
              </a:rPr>
              <a:t>Compliance Example:</a:t>
            </a:r>
            <a:pPr algn="l" indent="0" marL="0">
              <a:lnSpc>
                <a:spcPts val="2300"/>
              </a:lnSpc>
              <a:buNone/>
            </a:pPr>
            <a:r>
              <a:rPr lang="en-US" sz="1450" dirty="0">
                <a:solidFill>
                  <a:srgbClr val="F4CAB8"/>
                </a:solidFill>
                <a:latin typeface="Montserrat Medium" pitchFamily="34" charset="0"/>
                <a:ea typeface="Montserrat Medium" pitchFamily="34" charset="-122"/>
                <a:cs typeface="Montserrat Medium" pitchFamily="34" charset="-120"/>
              </a:rPr>
              <a:t> Incident in March 2024, law changed July 2024 - AI must apply March version for that incident, ensuring legally accurate and defensible decisions.</a:t>
            </a:r>
            <a:endParaRPr lang="en-US" sz="1450" dirty="0"/>
          </a:p>
        </p:txBody>
      </p:sp>
      <p:sp>
        <p:nvSpPr>
          <p:cNvPr id="21" name="Shape 19"/>
          <p:cNvSpPr/>
          <p:nvPr/>
        </p:nvSpPr>
        <p:spPr>
          <a:xfrm>
            <a:off x="738307" y="6720245"/>
            <a:ext cx="22860" cy="1005840"/>
          </a:xfrm>
          <a:prstGeom prst="rect">
            <a:avLst/>
          </a:prstGeom>
          <a:solidFill>
            <a:srgbClr val="FFB393"/>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2928" y="449342"/>
            <a:ext cx="6049685" cy="469225"/>
          </a:xfrm>
          <a:prstGeom prst="rect">
            <a:avLst/>
          </a:prstGeom>
          <a:noFill/>
          <a:ln/>
        </p:spPr>
        <p:txBody>
          <a:bodyPr wrap="none" lIns="0" tIns="0" rIns="0" bIns="0" rtlCol="0" anchor="t"/>
          <a:lstStyle/>
          <a:p>
            <a:pPr algn="l" indent="0" marL="0">
              <a:lnSpc>
                <a:spcPts val="3650"/>
              </a:lnSpc>
              <a:buNone/>
            </a:pPr>
            <a:r>
              <a:rPr lang="en-US" sz="2950" b="1" dirty="0">
                <a:solidFill>
                  <a:srgbClr val="FFB393"/>
                </a:solidFill>
                <a:latin typeface="Brygada 1918 Bold" pitchFamily="34" charset="0"/>
                <a:ea typeface="Brygada 1918 Bold" pitchFamily="34" charset="-122"/>
                <a:cs typeface="Brygada 1918 Bold" pitchFamily="34" charset="-120"/>
              </a:rPr>
              <a:t>Document Replacement Scenario</a:t>
            </a:r>
            <a:endParaRPr lang="en-US" sz="2950" dirty="0"/>
          </a:p>
        </p:txBody>
      </p:sp>
      <p:sp>
        <p:nvSpPr>
          <p:cNvPr id="3" name="Text 1"/>
          <p:cNvSpPr/>
          <p:nvPr/>
        </p:nvSpPr>
        <p:spPr>
          <a:xfrm>
            <a:off x="562928" y="1200031"/>
            <a:ext cx="13504545" cy="450294"/>
          </a:xfrm>
          <a:prstGeom prst="rect">
            <a:avLst/>
          </a:prstGeom>
          <a:noFill/>
          <a:ln/>
        </p:spPr>
        <p:txBody>
          <a:bodyPr wrap="square" lIns="0" tIns="0" rIns="0" bIns="0" rtlCol="0" anchor="t"/>
          <a:lstStyle/>
          <a:p>
            <a:pPr algn="l"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When CIOs identify incorrect documents, our automated replacement system ensures AI agents immediately access corrected versions while preserving complete version history and audit trails.</a:t>
            </a:r>
            <a:endParaRPr lang="en-US" sz="1100" dirty="0"/>
          </a:p>
        </p:txBody>
      </p:sp>
      <p:sp>
        <p:nvSpPr>
          <p:cNvPr id="4" name="Shape 2"/>
          <p:cNvSpPr/>
          <p:nvPr/>
        </p:nvSpPr>
        <p:spPr>
          <a:xfrm>
            <a:off x="562928" y="3140869"/>
            <a:ext cx="13504545" cy="15240"/>
          </a:xfrm>
          <a:prstGeom prst="roundRect">
            <a:avLst>
              <a:gd name="adj" fmla="val 138542"/>
            </a:avLst>
          </a:prstGeom>
          <a:solidFill>
            <a:srgbClr val="662E42"/>
          </a:solidFill>
          <a:ln/>
        </p:spPr>
      </p:sp>
      <p:sp>
        <p:nvSpPr>
          <p:cNvPr id="5" name="Shape 3"/>
          <p:cNvSpPr/>
          <p:nvPr/>
        </p:nvSpPr>
        <p:spPr>
          <a:xfrm>
            <a:off x="3203377" y="2718673"/>
            <a:ext cx="15240" cy="422196"/>
          </a:xfrm>
          <a:prstGeom prst="roundRect">
            <a:avLst>
              <a:gd name="adj" fmla="val 138542"/>
            </a:avLst>
          </a:prstGeom>
          <a:solidFill>
            <a:srgbClr val="662E42"/>
          </a:solidFill>
          <a:ln/>
        </p:spPr>
      </p:sp>
      <p:sp>
        <p:nvSpPr>
          <p:cNvPr id="6" name="Shape 4"/>
          <p:cNvSpPr/>
          <p:nvPr/>
        </p:nvSpPr>
        <p:spPr>
          <a:xfrm>
            <a:off x="3052643" y="2982516"/>
            <a:ext cx="316706" cy="316706"/>
          </a:xfrm>
          <a:prstGeom prst="roundRect">
            <a:avLst>
              <a:gd name="adj" fmla="val 6667"/>
            </a:avLst>
          </a:prstGeom>
          <a:solidFill>
            <a:srgbClr val="4D1529"/>
          </a:solidFill>
          <a:ln/>
        </p:spPr>
      </p:sp>
      <p:sp>
        <p:nvSpPr>
          <p:cNvPr id="7" name="Text 5"/>
          <p:cNvSpPr/>
          <p:nvPr/>
        </p:nvSpPr>
        <p:spPr>
          <a:xfrm>
            <a:off x="3098423" y="3000137"/>
            <a:ext cx="225147" cy="281464"/>
          </a:xfrm>
          <a:prstGeom prst="rect">
            <a:avLst/>
          </a:prstGeom>
          <a:noFill/>
          <a:ln/>
        </p:spPr>
        <p:txBody>
          <a:bodyPr wrap="none" lIns="0" tIns="0" rIns="0" bIns="0" rtlCol="0" anchor="t"/>
          <a:lstStyle/>
          <a:p>
            <a:pPr algn="ctr" indent="0" marL="0">
              <a:lnSpc>
                <a:spcPts val="1750"/>
              </a:lnSpc>
              <a:buNone/>
            </a:pPr>
            <a:r>
              <a:rPr lang="en-US" sz="1750" b="1" dirty="0">
                <a:solidFill>
                  <a:srgbClr val="F4CAB8"/>
                </a:solidFill>
                <a:latin typeface="Brygada 1918 Bold" pitchFamily="34" charset="0"/>
                <a:ea typeface="Brygada 1918 Bold" pitchFamily="34" charset="-122"/>
                <a:cs typeface="Brygada 1918 Bold" pitchFamily="34" charset="-120"/>
              </a:rPr>
              <a:t>1</a:t>
            </a:r>
            <a:endParaRPr lang="en-US" sz="1750" dirty="0"/>
          </a:p>
        </p:txBody>
      </p:sp>
      <p:sp>
        <p:nvSpPr>
          <p:cNvPr id="8" name="Text 6"/>
          <p:cNvSpPr/>
          <p:nvPr/>
        </p:nvSpPr>
        <p:spPr>
          <a:xfrm>
            <a:off x="2272665" y="1808678"/>
            <a:ext cx="1876663" cy="234553"/>
          </a:xfrm>
          <a:prstGeom prst="rect">
            <a:avLst/>
          </a:prstGeom>
          <a:noFill/>
          <a:ln/>
        </p:spPr>
        <p:txBody>
          <a:bodyPr wrap="none" lIns="0" tIns="0" rIns="0" bIns="0" rtlCol="0" anchor="t"/>
          <a:lstStyle/>
          <a:p>
            <a:pPr algn="ctr" indent="0" marL="0">
              <a:lnSpc>
                <a:spcPts val="1800"/>
              </a:lnSpc>
              <a:buNone/>
            </a:pPr>
            <a:r>
              <a:rPr lang="en-US" sz="1450" b="1" dirty="0">
                <a:solidFill>
                  <a:srgbClr val="F4CAB8"/>
                </a:solidFill>
                <a:latin typeface="Brygada 1918 Bold" pitchFamily="34" charset="0"/>
                <a:ea typeface="Brygada 1918 Bold" pitchFamily="34" charset="-122"/>
                <a:cs typeface="Brygada 1918 Bold" pitchFamily="34" charset="-120"/>
              </a:rPr>
              <a:t>Detection (0-1 min)</a:t>
            </a:r>
            <a:endParaRPr lang="en-US" sz="1450" dirty="0"/>
          </a:p>
        </p:txBody>
      </p:sp>
      <p:sp>
        <p:nvSpPr>
          <p:cNvPr id="9" name="Text 7"/>
          <p:cNvSpPr/>
          <p:nvPr/>
        </p:nvSpPr>
        <p:spPr>
          <a:xfrm>
            <a:off x="703659" y="2127647"/>
            <a:ext cx="5014793" cy="450294"/>
          </a:xfrm>
          <a:prstGeom prst="rect">
            <a:avLst/>
          </a:prstGeom>
          <a:noFill/>
          <a:ln/>
        </p:spPr>
        <p:txBody>
          <a:bodyPr wrap="square" lIns="0" tIns="0" rIns="0" bIns="0" rtlCol="0" anchor="t"/>
          <a:lstStyle/>
          <a:p>
            <a:pPr algn="ctr"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S3 event triggers cross-cloud notification chain. Cloud Function identifies this as document update for existing claim CLM-12345.</a:t>
            </a:r>
            <a:endParaRPr lang="en-US" sz="1100" dirty="0"/>
          </a:p>
        </p:txBody>
      </p:sp>
      <p:sp>
        <p:nvSpPr>
          <p:cNvPr id="10" name="Shape 8"/>
          <p:cNvSpPr/>
          <p:nvPr/>
        </p:nvSpPr>
        <p:spPr>
          <a:xfrm>
            <a:off x="5939433" y="3140869"/>
            <a:ext cx="15240" cy="422196"/>
          </a:xfrm>
          <a:prstGeom prst="roundRect">
            <a:avLst>
              <a:gd name="adj" fmla="val 138542"/>
            </a:avLst>
          </a:prstGeom>
          <a:solidFill>
            <a:srgbClr val="662E42"/>
          </a:solidFill>
          <a:ln/>
        </p:spPr>
      </p:sp>
      <p:sp>
        <p:nvSpPr>
          <p:cNvPr id="11" name="Shape 9"/>
          <p:cNvSpPr/>
          <p:nvPr/>
        </p:nvSpPr>
        <p:spPr>
          <a:xfrm>
            <a:off x="5788700" y="2982516"/>
            <a:ext cx="316706" cy="316706"/>
          </a:xfrm>
          <a:prstGeom prst="roundRect">
            <a:avLst>
              <a:gd name="adj" fmla="val 6667"/>
            </a:avLst>
          </a:prstGeom>
          <a:solidFill>
            <a:srgbClr val="4D1529"/>
          </a:solidFill>
          <a:ln/>
        </p:spPr>
      </p:sp>
      <p:sp>
        <p:nvSpPr>
          <p:cNvPr id="12" name="Text 10"/>
          <p:cNvSpPr/>
          <p:nvPr/>
        </p:nvSpPr>
        <p:spPr>
          <a:xfrm>
            <a:off x="5834479" y="3000137"/>
            <a:ext cx="225147" cy="281464"/>
          </a:xfrm>
          <a:prstGeom prst="rect">
            <a:avLst/>
          </a:prstGeom>
          <a:noFill/>
          <a:ln/>
        </p:spPr>
        <p:txBody>
          <a:bodyPr wrap="none" lIns="0" tIns="0" rIns="0" bIns="0" rtlCol="0" anchor="t"/>
          <a:lstStyle/>
          <a:p>
            <a:pPr algn="ctr" indent="0" marL="0">
              <a:lnSpc>
                <a:spcPts val="1750"/>
              </a:lnSpc>
              <a:buNone/>
            </a:pPr>
            <a:r>
              <a:rPr lang="en-US" sz="1750" b="1" dirty="0">
                <a:solidFill>
                  <a:srgbClr val="F4CAB8"/>
                </a:solidFill>
                <a:latin typeface="Brygada 1918 Bold" pitchFamily="34" charset="0"/>
                <a:ea typeface="Brygada 1918 Bold" pitchFamily="34" charset="-122"/>
                <a:cs typeface="Brygada 1918 Bold" pitchFamily="34" charset="-120"/>
              </a:rPr>
              <a:t>2</a:t>
            </a:r>
            <a:endParaRPr lang="en-US" sz="1750" dirty="0"/>
          </a:p>
        </p:txBody>
      </p:sp>
      <p:sp>
        <p:nvSpPr>
          <p:cNvPr id="13" name="Text 11"/>
          <p:cNvSpPr/>
          <p:nvPr/>
        </p:nvSpPr>
        <p:spPr>
          <a:xfrm>
            <a:off x="5008721" y="3703796"/>
            <a:ext cx="1876663" cy="234553"/>
          </a:xfrm>
          <a:prstGeom prst="rect">
            <a:avLst/>
          </a:prstGeom>
          <a:noFill/>
          <a:ln/>
        </p:spPr>
        <p:txBody>
          <a:bodyPr wrap="none" lIns="0" tIns="0" rIns="0" bIns="0" rtlCol="0" anchor="t"/>
          <a:lstStyle/>
          <a:p>
            <a:pPr algn="ctr" indent="0" marL="0">
              <a:lnSpc>
                <a:spcPts val="1800"/>
              </a:lnSpc>
              <a:buNone/>
            </a:pPr>
            <a:r>
              <a:rPr lang="en-US" sz="1450" b="1" dirty="0">
                <a:solidFill>
                  <a:srgbClr val="F4CAB8"/>
                </a:solidFill>
                <a:latin typeface="Brygada 1918 Bold" pitchFamily="34" charset="0"/>
                <a:ea typeface="Brygada 1918 Bold" pitchFamily="34" charset="-122"/>
                <a:cs typeface="Brygada 1918 Bold" pitchFamily="34" charset="-120"/>
              </a:rPr>
              <a:t>Processing (1-3 min)</a:t>
            </a:r>
            <a:endParaRPr lang="en-US" sz="1450" dirty="0"/>
          </a:p>
        </p:txBody>
      </p:sp>
      <p:sp>
        <p:nvSpPr>
          <p:cNvPr id="14" name="Text 12"/>
          <p:cNvSpPr/>
          <p:nvPr/>
        </p:nvSpPr>
        <p:spPr>
          <a:xfrm>
            <a:off x="3439716" y="4022765"/>
            <a:ext cx="5014793" cy="675442"/>
          </a:xfrm>
          <a:prstGeom prst="rect">
            <a:avLst/>
          </a:prstGeom>
          <a:noFill/>
          <a:ln/>
        </p:spPr>
        <p:txBody>
          <a:bodyPr wrap="square" lIns="0" tIns="0" rIns="0" bIns="0" rtlCol="0" anchor="t"/>
          <a:lstStyle/>
          <a:p>
            <a:pPr algn="ctr"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Storage Transfer Service copies corrected document. Cloud Run executes OCR, quality validation, generates new document ID with version 2.</a:t>
            </a:r>
            <a:endParaRPr lang="en-US" sz="1100" dirty="0"/>
          </a:p>
        </p:txBody>
      </p:sp>
      <p:sp>
        <p:nvSpPr>
          <p:cNvPr id="15" name="Shape 13"/>
          <p:cNvSpPr/>
          <p:nvPr/>
        </p:nvSpPr>
        <p:spPr>
          <a:xfrm>
            <a:off x="8675489" y="2718673"/>
            <a:ext cx="15240" cy="422196"/>
          </a:xfrm>
          <a:prstGeom prst="roundRect">
            <a:avLst>
              <a:gd name="adj" fmla="val 138542"/>
            </a:avLst>
          </a:prstGeom>
          <a:solidFill>
            <a:srgbClr val="662E42"/>
          </a:solidFill>
          <a:ln/>
        </p:spPr>
      </p:sp>
      <p:sp>
        <p:nvSpPr>
          <p:cNvPr id="16" name="Shape 14"/>
          <p:cNvSpPr/>
          <p:nvPr/>
        </p:nvSpPr>
        <p:spPr>
          <a:xfrm>
            <a:off x="8524756" y="2982516"/>
            <a:ext cx="316706" cy="316706"/>
          </a:xfrm>
          <a:prstGeom prst="roundRect">
            <a:avLst>
              <a:gd name="adj" fmla="val 6667"/>
            </a:avLst>
          </a:prstGeom>
          <a:solidFill>
            <a:srgbClr val="4D1529"/>
          </a:solidFill>
          <a:ln/>
        </p:spPr>
      </p:sp>
      <p:sp>
        <p:nvSpPr>
          <p:cNvPr id="17" name="Text 15"/>
          <p:cNvSpPr/>
          <p:nvPr/>
        </p:nvSpPr>
        <p:spPr>
          <a:xfrm>
            <a:off x="8570535" y="3000137"/>
            <a:ext cx="225147" cy="281464"/>
          </a:xfrm>
          <a:prstGeom prst="rect">
            <a:avLst/>
          </a:prstGeom>
          <a:noFill/>
          <a:ln/>
        </p:spPr>
        <p:txBody>
          <a:bodyPr wrap="none" lIns="0" tIns="0" rIns="0" bIns="0" rtlCol="0" anchor="t"/>
          <a:lstStyle/>
          <a:p>
            <a:pPr algn="ctr" indent="0" marL="0">
              <a:lnSpc>
                <a:spcPts val="1750"/>
              </a:lnSpc>
              <a:buNone/>
            </a:pPr>
            <a:r>
              <a:rPr lang="en-US" sz="1750" b="1" dirty="0">
                <a:solidFill>
                  <a:srgbClr val="F4CAB8"/>
                </a:solidFill>
                <a:latin typeface="Brygada 1918 Bold" pitchFamily="34" charset="0"/>
                <a:ea typeface="Brygada 1918 Bold" pitchFamily="34" charset="-122"/>
                <a:cs typeface="Brygada 1918 Bold" pitchFamily="34" charset="-120"/>
              </a:rPr>
              <a:t>3</a:t>
            </a:r>
            <a:endParaRPr lang="en-US" sz="1750" dirty="0"/>
          </a:p>
        </p:txBody>
      </p:sp>
      <p:sp>
        <p:nvSpPr>
          <p:cNvPr id="18" name="Text 16"/>
          <p:cNvSpPr/>
          <p:nvPr/>
        </p:nvSpPr>
        <p:spPr>
          <a:xfrm>
            <a:off x="7609880" y="1808678"/>
            <a:ext cx="2146459" cy="234553"/>
          </a:xfrm>
          <a:prstGeom prst="rect">
            <a:avLst/>
          </a:prstGeom>
          <a:noFill/>
          <a:ln/>
        </p:spPr>
        <p:txBody>
          <a:bodyPr wrap="none" lIns="0" tIns="0" rIns="0" bIns="0" rtlCol="0" anchor="t"/>
          <a:lstStyle/>
          <a:p>
            <a:pPr algn="ctr" indent="0" marL="0">
              <a:lnSpc>
                <a:spcPts val="1800"/>
              </a:lnSpc>
              <a:buNone/>
            </a:pPr>
            <a:r>
              <a:rPr lang="en-US" sz="1450" b="1" dirty="0">
                <a:solidFill>
                  <a:srgbClr val="F4CAB8"/>
                </a:solidFill>
                <a:latin typeface="Brygada 1918 Bold" pitchFamily="34" charset="0"/>
                <a:ea typeface="Brygada 1918 Bold" pitchFamily="34" charset="-122"/>
                <a:cs typeface="Brygada 1918 Bold" pitchFamily="34" charset="-120"/>
              </a:rPr>
              <a:t>Vertex Update (3-4 min)</a:t>
            </a:r>
            <a:endParaRPr lang="en-US" sz="1450" dirty="0"/>
          </a:p>
        </p:txBody>
      </p:sp>
      <p:sp>
        <p:nvSpPr>
          <p:cNvPr id="19" name="Text 17"/>
          <p:cNvSpPr/>
          <p:nvPr/>
        </p:nvSpPr>
        <p:spPr>
          <a:xfrm>
            <a:off x="6175772" y="2127647"/>
            <a:ext cx="5014793" cy="450294"/>
          </a:xfrm>
          <a:prstGeom prst="rect">
            <a:avLst/>
          </a:prstGeom>
          <a:noFill/>
          <a:ln/>
        </p:spPr>
        <p:txBody>
          <a:bodyPr wrap="square" lIns="0" tIns="0" rIns="0" bIns="0" rtlCol="0" anchor="t"/>
          <a:lstStyle/>
          <a:p>
            <a:pPr algn="ctr"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Old document version deleted from Vertex data store. New document version ingested with updated semantic indexing.</a:t>
            </a:r>
            <a:endParaRPr lang="en-US" sz="1100" dirty="0"/>
          </a:p>
        </p:txBody>
      </p:sp>
      <p:sp>
        <p:nvSpPr>
          <p:cNvPr id="20" name="Shape 18"/>
          <p:cNvSpPr/>
          <p:nvPr/>
        </p:nvSpPr>
        <p:spPr>
          <a:xfrm>
            <a:off x="11411545" y="3140869"/>
            <a:ext cx="15240" cy="422196"/>
          </a:xfrm>
          <a:prstGeom prst="roundRect">
            <a:avLst>
              <a:gd name="adj" fmla="val 138542"/>
            </a:avLst>
          </a:prstGeom>
          <a:solidFill>
            <a:srgbClr val="662E42"/>
          </a:solidFill>
          <a:ln/>
        </p:spPr>
      </p:sp>
      <p:sp>
        <p:nvSpPr>
          <p:cNvPr id="21" name="Shape 19"/>
          <p:cNvSpPr/>
          <p:nvPr/>
        </p:nvSpPr>
        <p:spPr>
          <a:xfrm>
            <a:off x="11260812" y="2982516"/>
            <a:ext cx="316706" cy="316706"/>
          </a:xfrm>
          <a:prstGeom prst="roundRect">
            <a:avLst>
              <a:gd name="adj" fmla="val 6667"/>
            </a:avLst>
          </a:prstGeom>
          <a:solidFill>
            <a:srgbClr val="4D1529"/>
          </a:solidFill>
          <a:ln/>
        </p:spPr>
      </p:sp>
      <p:sp>
        <p:nvSpPr>
          <p:cNvPr id="22" name="Text 20"/>
          <p:cNvSpPr/>
          <p:nvPr/>
        </p:nvSpPr>
        <p:spPr>
          <a:xfrm>
            <a:off x="11306592" y="3000137"/>
            <a:ext cx="225147" cy="281464"/>
          </a:xfrm>
          <a:prstGeom prst="rect">
            <a:avLst/>
          </a:prstGeom>
          <a:noFill/>
          <a:ln/>
        </p:spPr>
        <p:txBody>
          <a:bodyPr wrap="none" lIns="0" tIns="0" rIns="0" bIns="0" rtlCol="0" anchor="t"/>
          <a:lstStyle/>
          <a:p>
            <a:pPr algn="ctr" indent="0" marL="0">
              <a:lnSpc>
                <a:spcPts val="1750"/>
              </a:lnSpc>
              <a:buNone/>
            </a:pPr>
            <a:r>
              <a:rPr lang="en-US" sz="1750" b="1" dirty="0">
                <a:solidFill>
                  <a:srgbClr val="F4CAB8"/>
                </a:solidFill>
                <a:latin typeface="Brygada 1918 Bold" pitchFamily="34" charset="0"/>
                <a:ea typeface="Brygada 1918 Bold" pitchFamily="34" charset="-122"/>
                <a:cs typeface="Brygada 1918 Bold" pitchFamily="34" charset="-120"/>
              </a:rPr>
              <a:t>4</a:t>
            </a:r>
            <a:endParaRPr lang="en-US" sz="1750" dirty="0"/>
          </a:p>
        </p:txBody>
      </p:sp>
      <p:sp>
        <p:nvSpPr>
          <p:cNvPr id="23" name="Text 21"/>
          <p:cNvSpPr/>
          <p:nvPr/>
        </p:nvSpPr>
        <p:spPr>
          <a:xfrm>
            <a:off x="10209848" y="3703796"/>
            <a:ext cx="2418755" cy="234553"/>
          </a:xfrm>
          <a:prstGeom prst="rect">
            <a:avLst/>
          </a:prstGeom>
          <a:noFill/>
          <a:ln/>
        </p:spPr>
        <p:txBody>
          <a:bodyPr wrap="none" lIns="0" tIns="0" rIns="0" bIns="0" rtlCol="0" anchor="t"/>
          <a:lstStyle/>
          <a:p>
            <a:pPr algn="ctr" indent="0" marL="0">
              <a:lnSpc>
                <a:spcPts val="1800"/>
              </a:lnSpc>
              <a:buNone/>
            </a:pPr>
            <a:r>
              <a:rPr lang="en-US" sz="1450" b="1" dirty="0">
                <a:solidFill>
                  <a:srgbClr val="F4CAB8"/>
                </a:solidFill>
                <a:latin typeface="Brygada 1918 Bold" pitchFamily="34" charset="0"/>
                <a:ea typeface="Brygada 1918 Bold" pitchFamily="34" charset="-122"/>
                <a:cs typeface="Brygada 1918 Bold" pitchFamily="34" charset="-120"/>
              </a:rPr>
              <a:t>Metadata Update (4-5 min)</a:t>
            </a:r>
            <a:endParaRPr lang="en-US" sz="1450" dirty="0"/>
          </a:p>
        </p:txBody>
      </p:sp>
      <p:sp>
        <p:nvSpPr>
          <p:cNvPr id="24" name="Text 22"/>
          <p:cNvSpPr/>
          <p:nvPr/>
        </p:nvSpPr>
        <p:spPr>
          <a:xfrm>
            <a:off x="8911828" y="4022765"/>
            <a:ext cx="5014793" cy="450294"/>
          </a:xfrm>
          <a:prstGeom prst="rect">
            <a:avLst/>
          </a:prstGeom>
          <a:noFill/>
          <a:ln/>
        </p:spPr>
        <p:txBody>
          <a:bodyPr wrap="square" lIns="0" tIns="0" rIns="0" bIns="0" rtlCol="0" anchor="t"/>
          <a:lstStyle/>
          <a:p>
            <a:pPr algn="ctr"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Old document marked: is_current = FALSE. New document inserted: is_current = TRUE, version = 2. Change event logged in audit trail.</a:t>
            </a:r>
            <a:endParaRPr lang="en-US" sz="1100" dirty="0"/>
          </a:p>
        </p:txBody>
      </p:sp>
      <p:sp>
        <p:nvSpPr>
          <p:cNvPr id="25" name="Text 23"/>
          <p:cNvSpPr/>
          <p:nvPr/>
        </p:nvSpPr>
        <p:spPr>
          <a:xfrm>
            <a:off x="562928" y="4997291"/>
            <a:ext cx="3401616" cy="281583"/>
          </a:xfrm>
          <a:prstGeom prst="rect">
            <a:avLst/>
          </a:prstGeom>
          <a:noFill/>
          <a:ln/>
        </p:spPr>
        <p:txBody>
          <a:bodyPr wrap="none" lIns="0" tIns="0" rIns="0" bIns="0" rtlCol="0" anchor="t"/>
          <a:lstStyle/>
          <a:p>
            <a:pPr algn="l" indent="0" marL="0">
              <a:lnSpc>
                <a:spcPts val="2200"/>
              </a:lnSpc>
              <a:buNone/>
            </a:pPr>
            <a:r>
              <a:rPr lang="en-US" sz="1750" b="1" dirty="0">
                <a:solidFill>
                  <a:srgbClr val="FFB393"/>
                </a:solidFill>
                <a:latin typeface="Brygada 1918 Bold" pitchFamily="34" charset="0"/>
                <a:ea typeface="Brygada 1918 Bold" pitchFamily="34" charset="-122"/>
                <a:cs typeface="Brygada 1918 Bold" pitchFamily="34" charset="-120"/>
              </a:rPr>
              <a:t>Automated Response Workflow</a:t>
            </a:r>
            <a:endParaRPr lang="en-US" sz="1750" dirty="0"/>
          </a:p>
        </p:txBody>
      </p:sp>
      <p:sp>
        <p:nvSpPr>
          <p:cNvPr id="26" name="Text 24"/>
          <p:cNvSpPr/>
          <p:nvPr/>
        </p:nvSpPr>
        <p:spPr>
          <a:xfrm>
            <a:off x="562928" y="5419606"/>
            <a:ext cx="7965281" cy="450294"/>
          </a:xfrm>
          <a:prstGeom prst="rect">
            <a:avLst/>
          </a:prstGeom>
          <a:noFill/>
          <a:ln/>
        </p:spPr>
        <p:txBody>
          <a:bodyPr wrap="square" lIns="0" tIns="0" rIns="0" bIns="0" rtlCol="0" anchor="t"/>
          <a:lstStyle/>
          <a:p>
            <a:pPr algn="l" indent="0" marL="0">
              <a:lnSpc>
                <a:spcPts val="1750"/>
              </a:lnSpc>
              <a:buNone/>
            </a:pPr>
            <a:r>
              <a:rPr lang="en-US" sz="1100" b="1" dirty="0">
                <a:solidFill>
                  <a:srgbClr val="F4CAB8"/>
                </a:solidFill>
                <a:latin typeface="Montserrat Medium" pitchFamily="34" charset="0"/>
                <a:ea typeface="Montserrat Medium" pitchFamily="34" charset="-122"/>
                <a:cs typeface="Montserrat Medium" pitchFamily="34" charset="-120"/>
              </a:rPr>
              <a:t>Initial State:</a:t>
            </a:r>
            <a:pPr algn="l"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 Incorrect police report uploaded to S3 for claim CLM-12345, processed and available to AI agents in liability-docs-active store.</a:t>
            </a:r>
            <a:endParaRPr lang="en-US" sz="1100" dirty="0"/>
          </a:p>
        </p:txBody>
      </p:sp>
      <p:sp>
        <p:nvSpPr>
          <p:cNvPr id="27" name="Text 25"/>
          <p:cNvSpPr/>
          <p:nvPr/>
        </p:nvSpPr>
        <p:spPr>
          <a:xfrm>
            <a:off x="562928" y="5996583"/>
            <a:ext cx="7965281" cy="225147"/>
          </a:xfrm>
          <a:prstGeom prst="rect">
            <a:avLst/>
          </a:prstGeom>
          <a:noFill/>
          <a:ln/>
        </p:spPr>
        <p:txBody>
          <a:bodyPr wrap="none" lIns="0" tIns="0" rIns="0" bIns="0" rtlCol="0" anchor="t"/>
          <a:lstStyle/>
          <a:p>
            <a:pPr algn="l" indent="0" marL="0">
              <a:lnSpc>
                <a:spcPts val="1750"/>
              </a:lnSpc>
              <a:buNone/>
            </a:pPr>
            <a:r>
              <a:rPr lang="en-US" sz="1100" b="1" dirty="0">
                <a:solidFill>
                  <a:srgbClr val="F4CAB8"/>
                </a:solidFill>
                <a:latin typeface="Montserrat Medium" pitchFamily="34" charset="0"/>
                <a:ea typeface="Montserrat Medium" pitchFamily="34" charset="-122"/>
                <a:cs typeface="Montserrat Medium" pitchFamily="34" charset="-120"/>
              </a:rPr>
              <a:t>CIO Action:</a:t>
            </a:r>
            <a:pPr algn="l"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 Discovers error and uploads corrected version to S3 with same claim association but new filename.</a:t>
            </a:r>
            <a:endParaRPr lang="en-US" sz="1100" dirty="0"/>
          </a:p>
        </p:txBody>
      </p:sp>
      <p:sp>
        <p:nvSpPr>
          <p:cNvPr id="28" name="Text 26"/>
          <p:cNvSpPr/>
          <p:nvPr/>
        </p:nvSpPr>
        <p:spPr>
          <a:xfrm>
            <a:off x="562928" y="6348413"/>
            <a:ext cx="7965281" cy="450294"/>
          </a:xfrm>
          <a:prstGeom prst="rect">
            <a:avLst/>
          </a:prstGeom>
          <a:noFill/>
          <a:ln/>
        </p:spPr>
        <p:txBody>
          <a:bodyPr wrap="square" lIns="0" tIns="0" rIns="0" bIns="0" rtlCol="0" anchor="t"/>
          <a:lstStyle/>
          <a:p>
            <a:pPr algn="l" indent="0" marL="0">
              <a:lnSpc>
                <a:spcPts val="1750"/>
              </a:lnSpc>
              <a:buNone/>
            </a:pPr>
            <a:r>
              <a:rPr lang="en-US" sz="1100" b="1" dirty="0">
                <a:solidFill>
                  <a:srgbClr val="F4CAB8"/>
                </a:solidFill>
                <a:latin typeface="Montserrat Medium" pitchFamily="34" charset="0"/>
                <a:ea typeface="Montserrat Medium" pitchFamily="34" charset="-122"/>
                <a:cs typeface="Montserrat Medium" pitchFamily="34" charset="-120"/>
              </a:rPr>
              <a:t>EDS Response:</a:t>
            </a:r>
            <a:pPr algn="l"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 Complete 5-minute automated workflow replaces document without manual intervention. AI agents automatically receive new version for subsequent queries.</a:t>
            </a:r>
            <a:endParaRPr lang="en-US" sz="1100" dirty="0"/>
          </a:p>
        </p:txBody>
      </p:sp>
      <p:sp>
        <p:nvSpPr>
          <p:cNvPr id="29" name="Text 27"/>
          <p:cNvSpPr/>
          <p:nvPr/>
        </p:nvSpPr>
        <p:spPr>
          <a:xfrm>
            <a:off x="8879205" y="4997291"/>
            <a:ext cx="2252067" cy="281583"/>
          </a:xfrm>
          <a:prstGeom prst="rect">
            <a:avLst/>
          </a:prstGeom>
          <a:noFill/>
          <a:ln/>
        </p:spPr>
        <p:txBody>
          <a:bodyPr wrap="none" lIns="0" tIns="0" rIns="0" bIns="0" rtlCol="0" anchor="t"/>
          <a:lstStyle/>
          <a:p>
            <a:pPr algn="l" indent="0" marL="0">
              <a:lnSpc>
                <a:spcPts val="2200"/>
              </a:lnSpc>
              <a:buNone/>
            </a:pPr>
            <a:r>
              <a:rPr lang="en-US" sz="1750" b="1" dirty="0">
                <a:solidFill>
                  <a:srgbClr val="FFB393"/>
                </a:solidFill>
                <a:latin typeface="Brygada 1918 Bold" pitchFamily="34" charset="0"/>
                <a:ea typeface="Brygada 1918 Bold" pitchFamily="34" charset="-122"/>
                <a:cs typeface="Brygada 1918 Bold" pitchFamily="34" charset="-120"/>
              </a:rPr>
              <a:t>Safety Features</a:t>
            </a:r>
            <a:endParaRPr lang="en-US" sz="1750" dirty="0"/>
          </a:p>
        </p:txBody>
      </p:sp>
      <p:sp>
        <p:nvSpPr>
          <p:cNvPr id="30" name="Text 28"/>
          <p:cNvSpPr/>
          <p:nvPr/>
        </p:nvSpPr>
        <p:spPr>
          <a:xfrm>
            <a:off x="8879205" y="5419606"/>
            <a:ext cx="5195768" cy="675442"/>
          </a:xfrm>
          <a:prstGeom prst="rect">
            <a:avLst/>
          </a:prstGeom>
          <a:noFill/>
          <a:ln/>
        </p:spPr>
        <p:txBody>
          <a:bodyPr wrap="square" lIns="0" tIns="0" rIns="0" bIns="0" rtlCol="0" anchor="t"/>
          <a:lstStyle/>
          <a:p>
            <a:pPr algn="l" indent="0" marL="0">
              <a:lnSpc>
                <a:spcPts val="1750"/>
              </a:lnSpc>
              <a:buNone/>
            </a:pPr>
            <a:r>
              <a:rPr lang="en-US" sz="1100" b="1" dirty="0">
                <a:solidFill>
                  <a:srgbClr val="F4CAB8"/>
                </a:solidFill>
                <a:latin typeface="Montserrat Medium" pitchFamily="34" charset="0"/>
                <a:ea typeface="Montserrat Medium" pitchFamily="34" charset="-122"/>
                <a:cs typeface="Montserrat Medium" pitchFamily="34" charset="-120"/>
              </a:rPr>
              <a:t>In-Flight Query Protection:</a:t>
            </a:r>
            <a:pPr algn="l"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 If AI agent queries during replacement window, decision flagged for review with automatic re-run capability using correct document.</a:t>
            </a:r>
            <a:endParaRPr lang="en-US" sz="1100" dirty="0"/>
          </a:p>
        </p:txBody>
      </p:sp>
      <p:sp>
        <p:nvSpPr>
          <p:cNvPr id="31" name="Text 29"/>
          <p:cNvSpPr/>
          <p:nvPr/>
        </p:nvSpPr>
        <p:spPr>
          <a:xfrm>
            <a:off x="8879205" y="6221730"/>
            <a:ext cx="5195768" cy="675442"/>
          </a:xfrm>
          <a:prstGeom prst="rect">
            <a:avLst/>
          </a:prstGeom>
          <a:noFill/>
          <a:ln/>
        </p:spPr>
        <p:txBody>
          <a:bodyPr wrap="square" lIns="0" tIns="0" rIns="0" bIns="0" rtlCol="0" anchor="t"/>
          <a:lstStyle/>
          <a:p>
            <a:pPr algn="l" indent="0" marL="0">
              <a:lnSpc>
                <a:spcPts val="1750"/>
              </a:lnSpc>
              <a:buNone/>
            </a:pPr>
            <a:r>
              <a:rPr lang="en-US" sz="1100" b="1" dirty="0">
                <a:solidFill>
                  <a:srgbClr val="F4CAB8"/>
                </a:solidFill>
                <a:latin typeface="Montserrat Medium" pitchFamily="34" charset="0"/>
                <a:ea typeface="Montserrat Medium" pitchFamily="34" charset="-122"/>
                <a:cs typeface="Montserrat Medium" pitchFamily="34" charset="-120"/>
              </a:rPr>
              <a:t>Version Preservation:</a:t>
            </a:r>
            <a:pPr algn="l" indent="0" marL="0">
              <a:lnSpc>
                <a:spcPts val="1750"/>
              </a:lnSpc>
              <a:buNone/>
            </a:pPr>
            <a:r>
              <a:rPr lang="en-US" sz="1100" dirty="0">
                <a:solidFill>
                  <a:srgbClr val="F4CAB8"/>
                </a:solidFill>
                <a:latin typeface="Montserrat Medium" pitchFamily="34" charset="0"/>
                <a:ea typeface="Montserrat Medium" pitchFamily="34" charset="-122"/>
                <a:cs typeface="Montserrat Medium" pitchFamily="34" charset="-120"/>
              </a:rPr>
              <a:t> Complete history maintained with clear superseded_by relationships and comprehensive audit trail of all changes.</a:t>
            </a:r>
            <a:endParaRPr lang="en-US" sz="1100" dirty="0"/>
          </a:p>
        </p:txBody>
      </p:sp>
      <p:sp>
        <p:nvSpPr>
          <p:cNvPr id="32" name="Shape 30"/>
          <p:cNvSpPr/>
          <p:nvPr/>
        </p:nvSpPr>
        <p:spPr>
          <a:xfrm>
            <a:off x="562928" y="7182207"/>
            <a:ext cx="13504545" cy="598051"/>
          </a:xfrm>
          <a:prstGeom prst="roundRect">
            <a:avLst>
              <a:gd name="adj" fmla="val 3530"/>
            </a:avLst>
          </a:prstGeom>
          <a:solidFill>
            <a:srgbClr val="4D1700"/>
          </a:solidFill>
          <a:ln/>
        </p:spPr>
      </p:sp>
      <p:pic>
        <p:nvPicPr>
          <p:cNvPr id="33" name="Image 0" descr="preencoded.png">    </p:cNvPr>
          <p:cNvPicPr>
            <a:picLocks noChangeAspect="1"/>
          </p:cNvPicPr>
          <p:nvPr/>
        </p:nvPicPr>
        <p:blipFill>
          <a:blip r:embed="rId1"/>
          <a:stretch>
            <a:fillRect/>
          </a:stretch>
        </p:blipFill>
        <p:spPr>
          <a:xfrm>
            <a:off x="703659" y="7394853"/>
            <a:ext cx="175855" cy="140732"/>
          </a:xfrm>
          <a:prstGeom prst="rect">
            <a:avLst/>
          </a:prstGeom>
        </p:spPr>
      </p:pic>
      <p:sp>
        <p:nvSpPr>
          <p:cNvPr id="34" name="Text 31"/>
          <p:cNvSpPr/>
          <p:nvPr/>
        </p:nvSpPr>
        <p:spPr>
          <a:xfrm>
            <a:off x="1020247" y="7358063"/>
            <a:ext cx="12906494" cy="225147"/>
          </a:xfrm>
          <a:prstGeom prst="rect">
            <a:avLst/>
          </a:prstGeom>
          <a:noFill/>
          <a:ln/>
        </p:spPr>
        <p:txBody>
          <a:bodyPr wrap="none" lIns="0" tIns="0" rIns="0" bIns="0" rtlCol="0" anchor="t"/>
          <a:lstStyle/>
          <a:p>
            <a:pPr algn="l" indent="0" marL="0">
              <a:lnSpc>
                <a:spcPts val="1750"/>
              </a:lnSpc>
              <a:buNone/>
            </a:pPr>
            <a:r>
              <a:rPr lang="en-US" sz="1100" b="1" dirty="0">
                <a:solidFill>
                  <a:srgbClr val="FFB393"/>
                </a:solidFill>
                <a:latin typeface="Montserrat Medium" pitchFamily="34" charset="0"/>
                <a:ea typeface="Montserrat Medium" pitchFamily="34" charset="-122"/>
                <a:cs typeface="Montserrat Medium" pitchFamily="34" charset="-120"/>
              </a:rPr>
              <a:t>Result:</a:t>
            </a:r>
            <a:pPr algn="l" indent="0" marL="0">
              <a:lnSpc>
                <a:spcPts val="1750"/>
              </a:lnSpc>
              <a:buNone/>
            </a:pPr>
            <a:r>
              <a:rPr lang="en-US" sz="1100" dirty="0">
                <a:solidFill>
                  <a:srgbClr val="FFFFFF"/>
                </a:solidFill>
                <a:latin typeface="Montserrat Medium" pitchFamily="34" charset="0"/>
                <a:ea typeface="Montserrat Medium" pitchFamily="34" charset="-122"/>
                <a:cs typeface="Montserrat Medium" pitchFamily="34" charset="-120"/>
              </a:rPr>
              <a:t> Zero manual intervention required. AI agents automatically use corrected version while maintaining complete audit trail and version history for compliance.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18993" y="356711"/>
            <a:ext cx="5826681" cy="432435"/>
          </a:xfrm>
          <a:prstGeom prst="rect">
            <a:avLst/>
          </a:prstGeom>
          <a:noFill/>
          <a:ln/>
        </p:spPr>
        <p:txBody>
          <a:bodyPr wrap="none" lIns="0" tIns="0" rIns="0" bIns="0" rtlCol="0" anchor="t"/>
          <a:lstStyle/>
          <a:p>
            <a:pPr algn="l" indent="0" marL="0">
              <a:lnSpc>
                <a:spcPts val="3400"/>
              </a:lnSpc>
              <a:buNone/>
            </a:pPr>
            <a:r>
              <a:rPr lang="en-US" sz="2700" b="1" dirty="0">
                <a:solidFill>
                  <a:srgbClr val="FFB393"/>
                </a:solidFill>
                <a:latin typeface="Brygada 1918 Bold" pitchFamily="34" charset="0"/>
                <a:ea typeface="Brygada 1918 Bold" pitchFamily="34" charset="-122"/>
                <a:cs typeface="Brygada 1918 Bold" pitchFamily="34" charset="-120"/>
              </a:rPr>
              <a:t>Automated Retention and Deletion</a:t>
            </a:r>
            <a:endParaRPr lang="en-US" sz="2700" dirty="0"/>
          </a:p>
        </p:txBody>
      </p:sp>
      <p:sp>
        <p:nvSpPr>
          <p:cNvPr id="3" name="Text 1"/>
          <p:cNvSpPr/>
          <p:nvPr/>
        </p:nvSpPr>
        <p:spPr>
          <a:xfrm>
            <a:off x="518993" y="1048583"/>
            <a:ext cx="13592413" cy="415290"/>
          </a:xfrm>
          <a:prstGeom prst="rect">
            <a:avLst/>
          </a:prstGeom>
          <a:noFill/>
          <a:ln/>
        </p:spPr>
        <p:txBody>
          <a:bodyPr wrap="square" lIns="0" tIns="0" rIns="0" bIns="0" rtlCol="0" anchor="t"/>
          <a:lstStyle/>
          <a:p>
            <a:pPr algn="l" indent="0" marL="0">
              <a:lnSpc>
                <a:spcPts val="1600"/>
              </a:lnSpc>
              <a:buNone/>
            </a:pPr>
            <a:r>
              <a:rPr lang="en-US" sz="1000" dirty="0">
                <a:solidFill>
                  <a:srgbClr val="F4CAB8"/>
                </a:solidFill>
                <a:latin typeface="Montserrat Medium" pitchFamily="34" charset="0"/>
                <a:ea typeface="Montserrat Medium" pitchFamily="34" charset="-122"/>
                <a:cs typeface="Montserrat Medium" pitchFamily="34" charset="-120"/>
              </a:rPr>
              <a:t>Our comprehensive retention management system ensures regulatory compliance while protecting against accidental deletion. Automated workflows handle 7-year retention policies and GDPR "right to be forgotten" requests with complete audit trails.</a:t>
            </a:r>
            <a:endParaRPr lang="en-US" sz="1000" dirty="0"/>
          </a:p>
        </p:txBody>
      </p:sp>
      <p:sp>
        <p:nvSpPr>
          <p:cNvPr id="4" name="Text 2"/>
          <p:cNvSpPr/>
          <p:nvPr/>
        </p:nvSpPr>
        <p:spPr>
          <a:xfrm>
            <a:off x="2885718" y="2395895"/>
            <a:ext cx="1856303" cy="216218"/>
          </a:xfrm>
          <a:prstGeom prst="rect">
            <a:avLst/>
          </a:prstGeom>
          <a:noFill/>
          <a:ln/>
        </p:spPr>
        <p:txBody>
          <a:bodyPr wrap="none" lIns="0" tIns="0" rIns="0" bIns="0" rtlCol="0" anchor="t"/>
          <a:lstStyle/>
          <a:p>
            <a:pPr algn="r"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Daily Retention Check</a:t>
            </a:r>
            <a:endParaRPr lang="en-US" sz="1350" dirty="0"/>
          </a:p>
        </p:txBody>
      </p:sp>
      <p:sp>
        <p:nvSpPr>
          <p:cNvPr id="5" name="Text 3"/>
          <p:cNvSpPr/>
          <p:nvPr/>
        </p:nvSpPr>
        <p:spPr>
          <a:xfrm>
            <a:off x="518993" y="2689860"/>
            <a:ext cx="4223028" cy="415290"/>
          </a:xfrm>
          <a:prstGeom prst="rect">
            <a:avLst/>
          </a:prstGeom>
          <a:noFill/>
          <a:ln/>
        </p:spPr>
        <p:txBody>
          <a:bodyPr wrap="square" lIns="0" tIns="0" rIns="0" bIns="0" rtlCol="0" anchor="t"/>
          <a:lstStyle/>
          <a:p>
            <a:pPr algn="r" indent="0" marL="0">
              <a:lnSpc>
                <a:spcPts val="1600"/>
              </a:lnSpc>
              <a:buNone/>
            </a:pPr>
            <a:r>
              <a:rPr lang="en-US" sz="1000" dirty="0">
                <a:solidFill>
                  <a:srgbClr val="F4CAB8"/>
                </a:solidFill>
                <a:latin typeface="Montserrat Medium" pitchFamily="34" charset="0"/>
                <a:ea typeface="Montserrat Medium" pitchFamily="34" charset="-122"/>
                <a:cs typeface="Montserrat Medium" pitchFamily="34" charset="-120"/>
              </a:rPr>
              <a:t>Query identifies documents where claim closed &gt; 7 years ago, excluding litigation hold flags.</a:t>
            </a:r>
            <a:endParaRPr lang="en-US" sz="1000" dirty="0"/>
          </a:p>
        </p:txBody>
      </p:sp>
      <p:pic>
        <p:nvPicPr>
          <p:cNvPr id="6" name="Image 0" descr="preencoded.png">    </p:cNvPr>
          <p:cNvPicPr>
            <a:picLocks noChangeAspect="1"/>
          </p:cNvPicPr>
          <p:nvPr/>
        </p:nvPicPr>
        <p:blipFill>
          <a:blip r:embed="rId1"/>
          <a:stretch>
            <a:fillRect/>
          </a:stretch>
        </p:blipFill>
        <p:spPr>
          <a:xfrm>
            <a:off x="4936569" y="1609844"/>
            <a:ext cx="4757261" cy="4757261"/>
          </a:xfrm>
          <a:prstGeom prst="rect">
            <a:avLst/>
          </a:prstGeom>
        </p:spPr>
      </p:pic>
      <p:pic>
        <p:nvPicPr>
          <p:cNvPr id="7" name="Image 1" descr="preencoded.png">    </p:cNvPr>
          <p:cNvPicPr>
            <a:picLocks noChangeAspect="1"/>
          </p:cNvPicPr>
          <p:nvPr/>
        </p:nvPicPr>
        <p:blipFill>
          <a:blip r:embed="rId2"/>
          <a:stretch>
            <a:fillRect/>
          </a:stretch>
        </p:blipFill>
        <p:spPr>
          <a:xfrm>
            <a:off x="6260663" y="2504837"/>
            <a:ext cx="194072" cy="242649"/>
          </a:xfrm>
          <a:prstGeom prst="rect">
            <a:avLst/>
          </a:prstGeom>
        </p:spPr>
      </p:pic>
      <p:sp>
        <p:nvSpPr>
          <p:cNvPr id="8" name="Text 4"/>
          <p:cNvSpPr/>
          <p:nvPr/>
        </p:nvSpPr>
        <p:spPr>
          <a:xfrm>
            <a:off x="9888379" y="2395895"/>
            <a:ext cx="2111097" cy="216218"/>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Cascade Deletion Process</a:t>
            </a:r>
            <a:endParaRPr lang="en-US" sz="1350" dirty="0"/>
          </a:p>
        </p:txBody>
      </p:sp>
      <p:sp>
        <p:nvSpPr>
          <p:cNvPr id="9" name="Text 5"/>
          <p:cNvSpPr/>
          <p:nvPr/>
        </p:nvSpPr>
        <p:spPr>
          <a:xfrm>
            <a:off x="9888379" y="2689860"/>
            <a:ext cx="4223028" cy="415290"/>
          </a:xfrm>
          <a:prstGeom prst="rect">
            <a:avLst/>
          </a:prstGeom>
          <a:noFill/>
          <a:ln/>
        </p:spPr>
        <p:txBody>
          <a:bodyPr wrap="square" lIns="0" tIns="0" rIns="0" bIns="0" rtlCol="0" anchor="t"/>
          <a:lstStyle/>
          <a:p>
            <a:pPr algn="l" indent="0" marL="0">
              <a:lnSpc>
                <a:spcPts val="1600"/>
              </a:lnSpc>
              <a:buNone/>
            </a:pPr>
            <a:r>
              <a:rPr lang="en-US" sz="1000" dirty="0">
                <a:solidFill>
                  <a:srgbClr val="F4CAB8"/>
                </a:solidFill>
                <a:latin typeface="Montserrat Medium" pitchFamily="34" charset="0"/>
                <a:ea typeface="Montserrat Medium" pitchFamily="34" charset="-122"/>
                <a:cs typeface="Montserrat Medium" pitchFamily="34" charset="-120"/>
              </a:rPr>
              <a:t>Delete from Vertex AI Search across all tiers, remove from Cloud Storage, soft delete in BigQuery metadata.</a:t>
            </a:r>
            <a:endParaRPr lang="en-US" sz="1000" dirty="0"/>
          </a:p>
        </p:txBody>
      </p:sp>
      <p:pic>
        <p:nvPicPr>
          <p:cNvPr id="10" name="Image 2" descr="preencoded.png">    </p:cNvPr>
          <p:cNvPicPr>
            <a:picLocks noChangeAspect="1"/>
          </p:cNvPicPr>
          <p:nvPr/>
        </p:nvPicPr>
        <p:blipFill>
          <a:blip r:embed="rId3"/>
          <a:stretch>
            <a:fillRect/>
          </a:stretch>
        </p:blipFill>
        <p:spPr>
          <a:xfrm>
            <a:off x="4936569" y="1609844"/>
            <a:ext cx="4757261" cy="4757261"/>
          </a:xfrm>
          <a:prstGeom prst="rect">
            <a:avLst/>
          </a:prstGeom>
        </p:spPr>
      </p:pic>
      <p:pic>
        <p:nvPicPr>
          <p:cNvPr id="11" name="Image 3" descr="preencoded.png">    </p:cNvPr>
          <p:cNvPicPr>
            <a:picLocks noChangeAspect="1"/>
          </p:cNvPicPr>
          <p:nvPr/>
        </p:nvPicPr>
        <p:blipFill>
          <a:blip r:embed="rId4"/>
          <a:stretch>
            <a:fillRect/>
          </a:stretch>
        </p:blipFill>
        <p:spPr>
          <a:xfrm>
            <a:off x="8580358" y="2909649"/>
            <a:ext cx="194072" cy="242649"/>
          </a:xfrm>
          <a:prstGeom prst="rect">
            <a:avLst/>
          </a:prstGeom>
        </p:spPr>
      </p:pic>
      <p:sp>
        <p:nvSpPr>
          <p:cNvPr id="12" name="Text 6"/>
          <p:cNvSpPr/>
          <p:nvPr/>
        </p:nvSpPr>
        <p:spPr>
          <a:xfrm>
            <a:off x="9888379" y="4871799"/>
            <a:ext cx="2004536" cy="216218"/>
          </a:xfrm>
          <a:prstGeom prst="rect">
            <a:avLst/>
          </a:prstGeom>
          <a:noFill/>
          <a:ln/>
        </p:spPr>
        <p:txBody>
          <a:bodyPr wrap="none" lIns="0" tIns="0" rIns="0" bIns="0" rtlCol="0" anchor="t"/>
          <a:lstStyle/>
          <a:p>
            <a:pPr algn="l"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Audit Trail Preservation</a:t>
            </a:r>
            <a:endParaRPr lang="en-US" sz="1350" dirty="0"/>
          </a:p>
        </p:txBody>
      </p:sp>
      <p:sp>
        <p:nvSpPr>
          <p:cNvPr id="13" name="Text 7"/>
          <p:cNvSpPr/>
          <p:nvPr/>
        </p:nvSpPr>
        <p:spPr>
          <a:xfrm>
            <a:off x="9888379" y="5165765"/>
            <a:ext cx="4223028" cy="415290"/>
          </a:xfrm>
          <a:prstGeom prst="rect">
            <a:avLst/>
          </a:prstGeom>
          <a:noFill/>
          <a:ln/>
        </p:spPr>
        <p:txBody>
          <a:bodyPr wrap="square" lIns="0" tIns="0" rIns="0" bIns="0" rtlCol="0" anchor="t"/>
          <a:lstStyle/>
          <a:p>
            <a:pPr algn="l" indent="0" marL="0">
              <a:lnSpc>
                <a:spcPts val="1600"/>
              </a:lnSpc>
              <a:buNone/>
            </a:pPr>
            <a:r>
              <a:rPr lang="en-US" sz="1000" dirty="0">
                <a:solidFill>
                  <a:srgbClr val="F4CAB8"/>
                </a:solidFill>
                <a:latin typeface="Montserrat Medium" pitchFamily="34" charset="0"/>
                <a:ea typeface="Montserrat Medium" pitchFamily="34" charset="-122"/>
                <a:cs typeface="Montserrat Medium" pitchFamily="34" charset="-120"/>
              </a:rPr>
              <a:t>Maintain metadata records marked as deleted with 10-year audit log retention for compliance.</a:t>
            </a:r>
            <a:endParaRPr lang="en-US" sz="1000" dirty="0"/>
          </a:p>
        </p:txBody>
      </p:sp>
      <p:pic>
        <p:nvPicPr>
          <p:cNvPr id="14" name="Image 4" descr="preencoded.png">    </p:cNvPr>
          <p:cNvPicPr>
            <a:picLocks noChangeAspect="1"/>
          </p:cNvPicPr>
          <p:nvPr/>
        </p:nvPicPr>
        <p:blipFill>
          <a:blip r:embed="rId5"/>
          <a:stretch>
            <a:fillRect/>
          </a:stretch>
        </p:blipFill>
        <p:spPr>
          <a:xfrm>
            <a:off x="4936569" y="1609844"/>
            <a:ext cx="4757261" cy="4757261"/>
          </a:xfrm>
          <a:prstGeom prst="rect">
            <a:avLst/>
          </a:prstGeom>
        </p:spPr>
      </p:pic>
      <p:pic>
        <p:nvPicPr>
          <p:cNvPr id="15" name="Image 5" descr="preencoded.png">    </p:cNvPr>
          <p:cNvPicPr>
            <a:picLocks noChangeAspect="1"/>
          </p:cNvPicPr>
          <p:nvPr/>
        </p:nvPicPr>
        <p:blipFill>
          <a:blip r:embed="rId6"/>
          <a:stretch>
            <a:fillRect/>
          </a:stretch>
        </p:blipFill>
        <p:spPr>
          <a:xfrm>
            <a:off x="8175546" y="5229344"/>
            <a:ext cx="194072" cy="242649"/>
          </a:xfrm>
          <a:prstGeom prst="rect">
            <a:avLst/>
          </a:prstGeom>
        </p:spPr>
      </p:pic>
      <p:sp>
        <p:nvSpPr>
          <p:cNvPr id="16" name="Text 8"/>
          <p:cNvSpPr/>
          <p:nvPr/>
        </p:nvSpPr>
        <p:spPr>
          <a:xfrm>
            <a:off x="3012043" y="4871799"/>
            <a:ext cx="1729978" cy="216218"/>
          </a:xfrm>
          <a:prstGeom prst="rect">
            <a:avLst/>
          </a:prstGeom>
          <a:noFill/>
          <a:ln/>
        </p:spPr>
        <p:txBody>
          <a:bodyPr wrap="none" lIns="0" tIns="0" rIns="0" bIns="0" rtlCol="0" anchor="t"/>
          <a:lstStyle/>
          <a:p>
            <a:pPr algn="r" indent="0" marL="0">
              <a:lnSpc>
                <a:spcPts val="1700"/>
              </a:lnSpc>
              <a:buNone/>
            </a:pPr>
            <a:r>
              <a:rPr lang="en-US" sz="1350" b="1" dirty="0">
                <a:solidFill>
                  <a:srgbClr val="F4CAB8"/>
                </a:solidFill>
                <a:latin typeface="Brygada 1918 Bold" pitchFamily="34" charset="0"/>
                <a:ea typeface="Brygada 1918 Bold" pitchFamily="34" charset="-122"/>
                <a:cs typeface="Brygada 1918 Bold" pitchFamily="34" charset="-120"/>
              </a:rPr>
              <a:t>CIO Notification</a:t>
            </a:r>
            <a:endParaRPr lang="en-US" sz="1350" dirty="0"/>
          </a:p>
        </p:txBody>
      </p:sp>
      <p:sp>
        <p:nvSpPr>
          <p:cNvPr id="17" name="Text 9"/>
          <p:cNvSpPr/>
          <p:nvPr/>
        </p:nvSpPr>
        <p:spPr>
          <a:xfrm>
            <a:off x="518993" y="5165765"/>
            <a:ext cx="4223028" cy="415290"/>
          </a:xfrm>
          <a:prstGeom prst="rect">
            <a:avLst/>
          </a:prstGeom>
          <a:noFill/>
          <a:ln/>
        </p:spPr>
        <p:txBody>
          <a:bodyPr wrap="square" lIns="0" tIns="0" rIns="0" bIns="0" rtlCol="0" anchor="t"/>
          <a:lstStyle/>
          <a:p>
            <a:pPr algn="r" indent="0" marL="0">
              <a:lnSpc>
                <a:spcPts val="1600"/>
              </a:lnSpc>
              <a:buNone/>
            </a:pPr>
            <a:r>
              <a:rPr lang="en-US" sz="1000" dirty="0">
                <a:solidFill>
                  <a:srgbClr val="F4CAB8"/>
                </a:solidFill>
                <a:latin typeface="Montserrat Medium" pitchFamily="34" charset="0"/>
                <a:ea typeface="Montserrat Medium" pitchFamily="34" charset="-122"/>
                <a:cs typeface="Montserrat Medium" pitchFamily="34" charset="-120"/>
              </a:rPr>
              <a:t>Alert CIO that documents eligible for S3 deletion after EDS processing complete.</a:t>
            </a:r>
            <a:endParaRPr lang="en-US" sz="1000" dirty="0"/>
          </a:p>
        </p:txBody>
      </p:sp>
      <p:pic>
        <p:nvPicPr>
          <p:cNvPr id="18" name="Image 6" descr="preencoded.png">    </p:cNvPr>
          <p:cNvPicPr>
            <a:picLocks noChangeAspect="1"/>
          </p:cNvPicPr>
          <p:nvPr/>
        </p:nvPicPr>
        <p:blipFill>
          <a:blip r:embed="rId7"/>
          <a:stretch>
            <a:fillRect/>
          </a:stretch>
        </p:blipFill>
        <p:spPr>
          <a:xfrm>
            <a:off x="4936569" y="1609844"/>
            <a:ext cx="4757261" cy="4757261"/>
          </a:xfrm>
          <a:prstGeom prst="rect">
            <a:avLst/>
          </a:prstGeom>
        </p:spPr>
      </p:pic>
      <p:pic>
        <p:nvPicPr>
          <p:cNvPr id="19" name="Image 7" descr="preencoded.png">    </p:cNvPr>
          <p:cNvPicPr>
            <a:picLocks noChangeAspect="1"/>
          </p:cNvPicPr>
          <p:nvPr/>
        </p:nvPicPr>
        <p:blipFill>
          <a:blip r:embed="rId8"/>
          <a:stretch>
            <a:fillRect/>
          </a:stretch>
        </p:blipFill>
        <p:spPr>
          <a:xfrm>
            <a:off x="5855851" y="4824532"/>
            <a:ext cx="194072" cy="242649"/>
          </a:xfrm>
          <a:prstGeom prst="rect">
            <a:avLst/>
          </a:prstGeom>
        </p:spPr>
      </p:pic>
      <p:sp>
        <p:nvSpPr>
          <p:cNvPr id="20" name="Text 10"/>
          <p:cNvSpPr/>
          <p:nvPr/>
        </p:nvSpPr>
        <p:spPr>
          <a:xfrm>
            <a:off x="518993" y="6561653"/>
            <a:ext cx="3723442" cy="259556"/>
          </a:xfrm>
          <a:prstGeom prst="rect">
            <a:avLst/>
          </a:prstGeom>
          <a:noFill/>
          <a:ln/>
        </p:spPr>
        <p:txBody>
          <a:bodyPr wrap="none" lIns="0" tIns="0" rIns="0" bIns="0" rtlCol="0" anchor="t"/>
          <a:lstStyle/>
          <a:p>
            <a:pPr algn="l" indent="0" marL="0">
              <a:lnSpc>
                <a:spcPts val="2000"/>
              </a:lnSpc>
              <a:buNone/>
            </a:pPr>
            <a:r>
              <a:rPr lang="en-US" sz="1600" b="1" dirty="0">
                <a:solidFill>
                  <a:srgbClr val="FFB393"/>
                </a:solidFill>
                <a:latin typeface="Brygada 1918 Bold" pitchFamily="34" charset="0"/>
                <a:ea typeface="Brygada 1918 Bold" pitchFamily="34" charset="-122"/>
                <a:cs typeface="Brygada 1918 Bold" pitchFamily="34" charset="-120"/>
              </a:rPr>
              <a:t>GDPR "Right to be Forgotten" Process</a:t>
            </a:r>
            <a:endParaRPr lang="en-US" sz="1600" dirty="0"/>
          </a:p>
        </p:txBody>
      </p:sp>
      <p:sp>
        <p:nvSpPr>
          <p:cNvPr id="21" name="Text 11"/>
          <p:cNvSpPr/>
          <p:nvPr/>
        </p:nvSpPr>
        <p:spPr>
          <a:xfrm>
            <a:off x="518993" y="7145417"/>
            <a:ext cx="1729978" cy="216218"/>
          </a:xfrm>
          <a:prstGeom prst="rect">
            <a:avLst/>
          </a:prstGeom>
          <a:noFill/>
          <a:ln/>
        </p:spPr>
        <p:txBody>
          <a:bodyPr wrap="none" lIns="0" tIns="0" rIns="0" bIns="0" rtlCol="0" anchor="t"/>
          <a:lstStyle/>
          <a:p>
            <a:pPr algn="l" indent="0" marL="0">
              <a:lnSpc>
                <a:spcPts val="1700"/>
              </a:lnSpc>
              <a:buNone/>
            </a:pPr>
            <a:r>
              <a:rPr lang="en-US" sz="1350" b="1" dirty="0">
                <a:solidFill>
                  <a:srgbClr val="FFB393"/>
                </a:solidFill>
                <a:latin typeface="Brygada 1918 Bold" pitchFamily="34" charset="0"/>
                <a:ea typeface="Brygada 1918 Bold" pitchFamily="34" charset="-122"/>
                <a:cs typeface="Brygada 1918 Bold" pitchFamily="34" charset="-120"/>
              </a:rPr>
              <a:t>Deletion Workflow</a:t>
            </a:r>
            <a:endParaRPr lang="en-US" sz="1350" dirty="0"/>
          </a:p>
        </p:txBody>
      </p:sp>
      <p:sp>
        <p:nvSpPr>
          <p:cNvPr id="22" name="Text 12"/>
          <p:cNvSpPr/>
          <p:nvPr/>
        </p:nvSpPr>
        <p:spPr>
          <a:xfrm>
            <a:off x="518993" y="7491293"/>
            <a:ext cx="6637973" cy="207645"/>
          </a:xfrm>
          <a:prstGeom prst="rect">
            <a:avLst/>
          </a:prstGeom>
          <a:noFill/>
          <a:ln/>
        </p:spPr>
        <p:txBody>
          <a:bodyPr wrap="none" lIns="0" tIns="0" rIns="0" bIns="0" rtlCol="0" anchor="t"/>
          <a:lstStyle/>
          <a:p>
            <a:pPr algn="l" marL="342900" indent="-342900">
              <a:lnSpc>
                <a:spcPts val="1600"/>
              </a:lnSpc>
              <a:buSzPct val="100000"/>
              <a:buFont typeface="+mj-lt"/>
              <a:buAutoNum type="arabicPeriod" startAt="1"/>
            </a:pPr>
            <a:r>
              <a:rPr lang="en-US" sz="1000" dirty="0">
                <a:solidFill>
                  <a:srgbClr val="F4CAB8"/>
                </a:solidFill>
                <a:latin typeface="Montserrat Medium" pitchFamily="34" charset="0"/>
                <a:ea typeface="Montserrat Medium" pitchFamily="34" charset="-122"/>
                <a:cs typeface="Montserrat Medium" pitchFamily="34" charset="-120"/>
              </a:rPr>
              <a:t>Legal team submits request with customer_id</a:t>
            </a:r>
            <a:endParaRPr lang="en-US" sz="1000" dirty="0"/>
          </a:p>
        </p:txBody>
      </p:sp>
      <p:sp>
        <p:nvSpPr>
          <p:cNvPr id="23" name="Text 13"/>
          <p:cNvSpPr/>
          <p:nvPr/>
        </p:nvSpPr>
        <p:spPr>
          <a:xfrm>
            <a:off x="518993" y="7744301"/>
            <a:ext cx="6637973" cy="207645"/>
          </a:xfrm>
          <a:prstGeom prst="rect">
            <a:avLst/>
          </a:prstGeom>
          <a:noFill/>
          <a:ln/>
        </p:spPr>
        <p:txBody>
          <a:bodyPr wrap="none" lIns="0" tIns="0" rIns="0" bIns="0" rtlCol="0" anchor="t"/>
          <a:lstStyle/>
          <a:p>
            <a:pPr algn="l" marL="342900" indent="-342900">
              <a:lnSpc>
                <a:spcPts val="1600"/>
              </a:lnSpc>
              <a:buSzPct val="100000"/>
              <a:buFont typeface="+mj-lt"/>
              <a:buAutoNum type="arabicPeriod" startAt="2"/>
            </a:pPr>
            <a:r>
              <a:rPr lang="en-US" sz="1000" dirty="0">
                <a:solidFill>
                  <a:srgbClr val="F4CAB8"/>
                </a:solidFill>
                <a:latin typeface="Montserrat Medium" pitchFamily="34" charset="0"/>
                <a:ea typeface="Montserrat Medium" pitchFamily="34" charset="-122"/>
                <a:cs typeface="Montserrat Medium" pitchFamily="34" charset="-120"/>
              </a:rPr>
              <a:t>EDS identifies all customer documents across claims</a:t>
            </a:r>
            <a:endParaRPr lang="en-US" sz="1000" dirty="0"/>
          </a:p>
        </p:txBody>
      </p:sp>
      <p:sp>
        <p:nvSpPr>
          <p:cNvPr id="24" name="Text 14"/>
          <p:cNvSpPr/>
          <p:nvPr/>
        </p:nvSpPr>
        <p:spPr>
          <a:xfrm>
            <a:off x="518993" y="7997309"/>
            <a:ext cx="6637973" cy="207645"/>
          </a:xfrm>
          <a:prstGeom prst="rect">
            <a:avLst/>
          </a:prstGeom>
          <a:noFill/>
          <a:ln/>
        </p:spPr>
        <p:txBody>
          <a:bodyPr wrap="none" lIns="0" tIns="0" rIns="0" bIns="0" rtlCol="0" anchor="t"/>
          <a:lstStyle/>
          <a:p>
            <a:pPr algn="l" marL="342900" indent="-342900">
              <a:lnSpc>
                <a:spcPts val="1600"/>
              </a:lnSpc>
              <a:buSzPct val="100000"/>
              <a:buFont typeface="+mj-lt"/>
              <a:buAutoNum type="arabicPeriod" startAt="3"/>
            </a:pPr>
            <a:r>
              <a:rPr lang="en-US" sz="1000" dirty="0">
                <a:solidFill>
                  <a:srgbClr val="F4CAB8"/>
                </a:solidFill>
                <a:latin typeface="Montserrat Medium" pitchFamily="34" charset="0"/>
                <a:ea typeface="Montserrat Medium" pitchFamily="34" charset="-122"/>
                <a:cs typeface="Montserrat Medium" pitchFamily="34" charset="-120"/>
              </a:rPr>
              <a:t>Cascade deletion executed per document</a:t>
            </a:r>
            <a:endParaRPr lang="en-US" sz="1000" dirty="0"/>
          </a:p>
        </p:txBody>
      </p:sp>
      <p:sp>
        <p:nvSpPr>
          <p:cNvPr id="25" name="Text 15"/>
          <p:cNvSpPr/>
          <p:nvPr/>
        </p:nvSpPr>
        <p:spPr>
          <a:xfrm>
            <a:off x="518993" y="8250317"/>
            <a:ext cx="6637973" cy="207645"/>
          </a:xfrm>
          <a:prstGeom prst="rect">
            <a:avLst/>
          </a:prstGeom>
          <a:noFill/>
          <a:ln/>
        </p:spPr>
        <p:txBody>
          <a:bodyPr wrap="none" lIns="0" tIns="0" rIns="0" bIns="0" rtlCol="0" anchor="t"/>
          <a:lstStyle/>
          <a:p>
            <a:pPr algn="l" marL="342900" indent="-342900">
              <a:lnSpc>
                <a:spcPts val="1600"/>
              </a:lnSpc>
              <a:buSzPct val="100000"/>
              <a:buFont typeface="+mj-lt"/>
              <a:buAutoNum type="arabicPeriod" startAt="4"/>
            </a:pPr>
            <a:r>
              <a:rPr lang="en-US" sz="1000" dirty="0">
                <a:solidFill>
                  <a:srgbClr val="F4CAB8"/>
                </a:solidFill>
                <a:latin typeface="Montserrat Medium" pitchFamily="34" charset="0"/>
                <a:ea typeface="Montserrat Medium" pitchFamily="34" charset="-122"/>
                <a:cs typeface="Montserrat Medium" pitchFamily="34" charset="-120"/>
              </a:rPr>
              <a:t>Completion within 7 days (regulatory requirement)</a:t>
            </a:r>
            <a:endParaRPr lang="en-US" sz="1000" dirty="0"/>
          </a:p>
        </p:txBody>
      </p:sp>
      <p:sp>
        <p:nvSpPr>
          <p:cNvPr id="26" name="Text 16"/>
          <p:cNvSpPr/>
          <p:nvPr/>
        </p:nvSpPr>
        <p:spPr>
          <a:xfrm>
            <a:off x="518993" y="8503325"/>
            <a:ext cx="6637973" cy="207645"/>
          </a:xfrm>
          <a:prstGeom prst="rect">
            <a:avLst/>
          </a:prstGeom>
          <a:noFill/>
          <a:ln/>
        </p:spPr>
        <p:txBody>
          <a:bodyPr wrap="none" lIns="0" tIns="0" rIns="0" bIns="0" rtlCol="0" anchor="t"/>
          <a:lstStyle/>
          <a:p>
            <a:pPr algn="l" marL="342900" indent="-342900">
              <a:lnSpc>
                <a:spcPts val="1600"/>
              </a:lnSpc>
              <a:buSzPct val="100000"/>
              <a:buFont typeface="+mj-lt"/>
              <a:buAutoNum type="arabicPeriod" startAt="5"/>
            </a:pPr>
            <a:r>
              <a:rPr lang="en-US" sz="1000" dirty="0">
                <a:solidFill>
                  <a:srgbClr val="F4CAB8"/>
                </a:solidFill>
                <a:latin typeface="Montserrat Medium" pitchFamily="34" charset="0"/>
                <a:ea typeface="Montserrat Medium" pitchFamily="34" charset="-122"/>
                <a:cs typeface="Montserrat Medium" pitchFamily="34" charset="-120"/>
              </a:rPr>
              <a:t>Deletion confirmation report for legal team</a:t>
            </a:r>
            <a:endParaRPr lang="en-US" sz="1000" dirty="0"/>
          </a:p>
        </p:txBody>
      </p:sp>
      <p:sp>
        <p:nvSpPr>
          <p:cNvPr id="27" name="Text 17"/>
          <p:cNvSpPr/>
          <p:nvPr/>
        </p:nvSpPr>
        <p:spPr>
          <a:xfrm>
            <a:off x="7481054" y="7145417"/>
            <a:ext cx="1729978" cy="216218"/>
          </a:xfrm>
          <a:prstGeom prst="rect">
            <a:avLst/>
          </a:prstGeom>
          <a:noFill/>
          <a:ln/>
        </p:spPr>
        <p:txBody>
          <a:bodyPr wrap="none" lIns="0" tIns="0" rIns="0" bIns="0" rtlCol="0" anchor="t"/>
          <a:lstStyle/>
          <a:p>
            <a:pPr algn="l" indent="0" marL="0">
              <a:lnSpc>
                <a:spcPts val="1700"/>
              </a:lnSpc>
              <a:buNone/>
            </a:pPr>
            <a:r>
              <a:rPr lang="en-US" sz="1350" b="1" dirty="0">
                <a:solidFill>
                  <a:srgbClr val="FFB393"/>
                </a:solidFill>
                <a:latin typeface="Brygada 1918 Bold" pitchFamily="34" charset="0"/>
                <a:ea typeface="Brygada 1918 Bold" pitchFamily="34" charset="-122"/>
                <a:cs typeface="Brygada 1918 Bold" pitchFamily="34" charset="-120"/>
              </a:rPr>
              <a:t>Critical Safeguards</a:t>
            </a:r>
            <a:endParaRPr lang="en-US" sz="1350" dirty="0"/>
          </a:p>
        </p:txBody>
      </p:sp>
      <p:sp>
        <p:nvSpPr>
          <p:cNvPr id="28" name="Text 18"/>
          <p:cNvSpPr/>
          <p:nvPr/>
        </p:nvSpPr>
        <p:spPr>
          <a:xfrm>
            <a:off x="7481054" y="7491293"/>
            <a:ext cx="6637973" cy="207645"/>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Litigation holds prevent automated deletion</a:t>
            </a:r>
            <a:endParaRPr lang="en-US" sz="1000" dirty="0"/>
          </a:p>
        </p:txBody>
      </p:sp>
      <p:sp>
        <p:nvSpPr>
          <p:cNvPr id="29" name="Text 19"/>
          <p:cNvSpPr/>
          <p:nvPr/>
        </p:nvSpPr>
        <p:spPr>
          <a:xfrm>
            <a:off x="7481054" y="7744301"/>
            <a:ext cx="6637973" cy="207645"/>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Manual override requires compliance officer approval</a:t>
            </a:r>
            <a:endParaRPr lang="en-US" sz="1000" dirty="0"/>
          </a:p>
        </p:txBody>
      </p:sp>
      <p:sp>
        <p:nvSpPr>
          <p:cNvPr id="30" name="Text 20"/>
          <p:cNvSpPr/>
          <p:nvPr/>
        </p:nvSpPr>
        <p:spPr>
          <a:xfrm>
            <a:off x="7481054" y="7997309"/>
            <a:ext cx="6637973" cy="207645"/>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All deletions logged and auditable</a:t>
            </a:r>
            <a:endParaRPr lang="en-US" sz="1000" dirty="0"/>
          </a:p>
        </p:txBody>
      </p:sp>
      <p:sp>
        <p:nvSpPr>
          <p:cNvPr id="31" name="Text 21"/>
          <p:cNvSpPr/>
          <p:nvPr/>
        </p:nvSpPr>
        <p:spPr>
          <a:xfrm>
            <a:off x="7481054" y="8250317"/>
            <a:ext cx="6637973" cy="207645"/>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Multiple verification checks prevent accidents</a:t>
            </a:r>
            <a:endParaRPr lang="en-US" sz="1000" dirty="0"/>
          </a:p>
        </p:txBody>
      </p:sp>
      <p:sp>
        <p:nvSpPr>
          <p:cNvPr id="32" name="Text 22"/>
          <p:cNvSpPr/>
          <p:nvPr/>
        </p:nvSpPr>
        <p:spPr>
          <a:xfrm>
            <a:off x="7481054" y="8503325"/>
            <a:ext cx="6637973" cy="207645"/>
          </a:xfrm>
          <a:prstGeom prst="rect">
            <a:avLst/>
          </a:prstGeom>
          <a:noFill/>
          <a:ln/>
        </p:spPr>
        <p:txBody>
          <a:bodyPr wrap="none" lIns="0" tIns="0" rIns="0" bIns="0" rtlCol="0" anchor="t"/>
          <a:lstStyle/>
          <a:p>
            <a:pPr algn="l" marL="342900" indent="-342900">
              <a:lnSpc>
                <a:spcPts val="1600"/>
              </a:lnSpc>
              <a:buSzPct val="100000"/>
              <a:buChar char="•"/>
            </a:pPr>
            <a:r>
              <a:rPr lang="en-US" sz="1000" dirty="0">
                <a:solidFill>
                  <a:srgbClr val="F4CAB8"/>
                </a:solidFill>
                <a:latin typeface="Montserrat Medium" pitchFamily="34" charset="0"/>
                <a:ea typeface="Montserrat Medium" pitchFamily="34" charset="-122"/>
                <a:cs typeface="Montserrat Medium" pitchFamily="34" charset="-120"/>
              </a:rPr>
              <a:t>Complete chain of custody maintained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05076" y="420767"/>
            <a:ext cx="6336863" cy="504349"/>
          </a:xfrm>
          <a:prstGeom prst="rect">
            <a:avLst/>
          </a:prstGeom>
          <a:noFill/>
          <a:ln/>
        </p:spPr>
        <p:txBody>
          <a:bodyPr wrap="none" lIns="0" tIns="0" rIns="0" bIns="0" rtlCol="0" anchor="t"/>
          <a:lstStyle/>
          <a:p>
            <a:pPr algn="l" indent="0" marL="0">
              <a:lnSpc>
                <a:spcPts val="3950"/>
              </a:lnSpc>
              <a:buNone/>
            </a:pPr>
            <a:r>
              <a:rPr lang="en-US" sz="3150" b="1" dirty="0">
                <a:solidFill>
                  <a:srgbClr val="FFB393"/>
                </a:solidFill>
                <a:latin typeface="Brygada 1918 Bold" pitchFamily="34" charset="0"/>
                <a:ea typeface="Brygada 1918 Bold" pitchFamily="34" charset="-122"/>
                <a:cs typeface="Brygada 1918 Bold" pitchFamily="34" charset="-120"/>
              </a:rPr>
              <a:t>Technical Readiness Assessment</a:t>
            </a:r>
            <a:endParaRPr lang="en-US" sz="3150" dirty="0"/>
          </a:p>
        </p:txBody>
      </p:sp>
      <p:sp>
        <p:nvSpPr>
          <p:cNvPr id="3" name="Text 1"/>
          <p:cNvSpPr/>
          <p:nvPr/>
        </p:nvSpPr>
        <p:spPr>
          <a:xfrm>
            <a:off x="605076" y="1227653"/>
            <a:ext cx="13420249" cy="484108"/>
          </a:xfrm>
          <a:prstGeom prst="rect">
            <a:avLst/>
          </a:prstGeom>
          <a:noFill/>
          <a:ln/>
        </p:spPr>
        <p:txBody>
          <a:bodyPr wrap="square" lIns="0" tIns="0" rIns="0" bIns="0" rtlCol="0" anchor="t"/>
          <a:lstStyle/>
          <a:p>
            <a:pPr algn="l"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Our architecture leverages proven, enterprise-grade technologies with comprehensive automation designed for immediate implementation. All critical components are validated and ready for 8-week deployment timeline.</a:t>
            </a:r>
            <a:endParaRPr lang="en-US" sz="1150" dirty="0"/>
          </a:p>
        </p:txBody>
      </p:sp>
      <p:sp>
        <p:nvSpPr>
          <p:cNvPr id="4" name="Text 2"/>
          <p:cNvSpPr/>
          <p:nvPr/>
        </p:nvSpPr>
        <p:spPr>
          <a:xfrm>
            <a:off x="605076" y="1957507"/>
            <a:ext cx="4347329" cy="499229"/>
          </a:xfrm>
          <a:prstGeom prst="rect">
            <a:avLst/>
          </a:prstGeom>
          <a:noFill/>
          <a:ln/>
        </p:spPr>
        <p:txBody>
          <a:bodyPr wrap="none" lIns="0" tIns="0" rIns="0" bIns="0" rtlCol="0" anchor="t"/>
          <a:lstStyle/>
          <a:p>
            <a:pPr algn="ctr" indent="0" marL="0">
              <a:lnSpc>
                <a:spcPts val="3900"/>
              </a:lnSpc>
              <a:buNone/>
            </a:pPr>
            <a:r>
              <a:rPr lang="en-US" sz="3900" b="1" dirty="0">
                <a:solidFill>
                  <a:srgbClr val="F4CAB8"/>
                </a:solidFill>
                <a:latin typeface="Brygada 1918 Bold" pitchFamily="34" charset="0"/>
                <a:ea typeface="Brygada 1918 Bold" pitchFamily="34" charset="-122"/>
                <a:cs typeface="Brygada 1918 Bold" pitchFamily="34" charset="-120"/>
              </a:rPr>
              <a:t>100%</a:t>
            </a:r>
            <a:endParaRPr lang="en-US" sz="3900" dirty="0"/>
          </a:p>
        </p:txBody>
      </p:sp>
      <p:sp>
        <p:nvSpPr>
          <p:cNvPr id="5" name="Text 3"/>
          <p:cNvSpPr/>
          <p:nvPr/>
        </p:nvSpPr>
        <p:spPr>
          <a:xfrm>
            <a:off x="1637943" y="2645807"/>
            <a:ext cx="2281595" cy="252055"/>
          </a:xfrm>
          <a:prstGeom prst="rect">
            <a:avLst/>
          </a:prstGeom>
          <a:noFill/>
          <a:ln/>
        </p:spPr>
        <p:txBody>
          <a:bodyPr wrap="none" lIns="0" tIns="0" rIns="0" bIns="0" rtlCol="0" anchor="t"/>
          <a:lstStyle/>
          <a:p>
            <a:pPr algn="ctr"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Architecture Readiness</a:t>
            </a:r>
            <a:endParaRPr lang="en-US" sz="1550" dirty="0"/>
          </a:p>
        </p:txBody>
      </p:sp>
      <p:sp>
        <p:nvSpPr>
          <p:cNvPr id="6" name="Text 4"/>
          <p:cNvSpPr/>
          <p:nvPr/>
        </p:nvSpPr>
        <p:spPr>
          <a:xfrm>
            <a:off x="605076" y="2988588"/>
            <a:ext cx="4347329" cy="726162"/>
          </a:xfrm>
          <a:prstGeom prst="rect">
            <a:avLst/>
          </a:prstGeom>
          <a:noFill/>
          <a:ln/>
        </p:spPr>
        <p:txBody>
          <a:bodyPr wrap="square" lIns="0" tIns="0" rIns="0" bIns="0" rtlCol="0" anchor="t"/>
          <a:lstStyle/>
          <a:p>
            <a:pPr algn="ctr"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Phase 1 uses proven Snowflake replication and GCP services. Phase 2 learning approach gathers evidence before major decisions.</a:t>
            </a:r>
            <a:endParaRPr lang="en-US" sz="1150" dirty="0"/>
          </a:p>
        </p:txBody>
      </p:sp>
      <p:sp>
        <p:nvSpPr>
          <p:cNvPr id="7" name="Text 5"/>
          <p:cNvSpPr/>
          <p:nvPr/>
        </p:nvSpPr>
        <p:spPr>
          <a:xfrm>
            <a:off x="5141476" y="1957507"/>
            <a:ext cx="4347329" cy="499229"/>
          </a:xfrm>
          <a:prstGeom prst="rect">
            <a:avLst/>
          </a:prstGeom>
          <a:noFill/>
          <a:ln/>
        </p:spPr>
        <p:txBody>
          <a:bodyPr wrap="none" lIns="0" tIns="0" rIns="0" bIns="0" rtlCol="0" anchor="t"/>
          <a:lstStyle/>
          <a:p>
            <a:pPr algn="ctr" indent="0" marL="0">
              <a:lnSpc>
                <a:spcPts val="3900"/>
              </a:lnSpc>
              <a:buNone/>
            </a:pPr>
            <a:r>
              <a:rPr lang="en-US" sz="3900" b="1" dirty="0">
                <a:solidFill>
                  <a:srgbClr val="F4CAB8"/>
                </a:solidFill>
                <a:latin typeface="Brygada 1918 Bold" pitchFamily="34" charset="0"/>
                <a:ea typeface="Brygada 1918 Bold" pitchFamily="34" charset="-122"/>
                <a:cs typeface="Brygada 1918 Bold" pitchFamily="34" charset="-120"/>
              </a:rPr>
              <a:t>10x</a:t>
            </a:r>
            <a:endParaRPr lang="en-US" sz="3900" dirty="0"/>
          </a:p>
        </p:txBody>
      </p:sp>
      <p:sp>
        <p:nvSpPr>
          <p:cNvPr id="8" name="Text 6"/>
          <p:cNvSpPr/>
          <p:nvPr/>
        </p:nvSpPr>
        <p:spPr>
          <a:xfrm>
            <a:off x="6306503" y="2645807"/>
            <a:ext cx="2017157" cy="252055"/>
          </a:xfrm>
          <a:prstGeom prst="rect">
            <a:avLst/>
          </a:prstGeom>
          <a:noFill/>
          <a:ln/>
        </p:spPr>
        <p:txBody>
          <a:bodyPr wrap="none" lIns="0" tIns="0" rIns="0" bIns="0" rtlCol="0" anchor="t"/>
          <a:lstStyle/>
          <a:p>
            <a:pPr algn="ctr"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Scalability Factor</a:t>
            </a:r>
            <a:endParaRPr lang="en-US" sz="1550" dirty="0"/>
          </a:p>
        </p:txBody>
      </p:sp>
      <p:sp>
        <p:nvSpPr>
          <p:cNvPr id="9" name="Text 7"/>
          <p:cNvSpPr/>
          <p:nvPr/>
        </p:nvSpPr>
        <p:spPr>
          <a:xfrm>
            <a:off x="5141476" y="2988588"/>
            <a:ext cx="4347329" cy="484108"/>
          </a:xfrm>
          <a:prstGeom prst="rect">
            <a:avLst/>
          </a:prstGeom>
          <a:noFill/>
          <a:ln/>
        </p:spPr>
        <p:txBody>
          <a:bodyPr wrap="square" lIns="0" tIns="0" rIns="0" bIns="0" rtlCol="0" anchor="t"/>
          <a:lstStyle/>
          <a:p>
            <a:pPr algn="ctr"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Current design handles 10x data volume growth without architectural changes through automated provisioning.</a:t>
            </a:r>
            <a:endParaRPr lang="en-US" sz="1150" dirty="0"/>
          </a:p>
        </p:txBody>
      </p:sp>
      <p:sp>
        <p:nvSpPr>
          <p:cNvPr id="10" name="Text 8"/>
          <p:cNvSpPr/>
          <p:nvPr/>
        </p:nvSpPr>
        <p:spPr>
          <a:xfrm>
            <a:off x="9677876" y="1957507"/>
            <a:ext cx="4347329" cy="499229"/>
          </a:xfrm>
          <a:prstGeom prst="rect">
            <a:avLst/>
          </a:prstGeom>
          <a:noFill/>
          <a:ln/>
        </p:spPr>
        <p:txBody>
          <a:bodyPr wrap="none" lIns="0" tIns="0" rIns="0" bIns="0" rtlCol="0" anchor="t"/>
          <a:lstStyle/>
          <a:p>
            <a:pPr algn="ctr" indent="0" marL="0">
              <a:lnSpc>
                <a:spcPts val="3900"/>
              </a:lnSpc>
              <a:buNone/>
            </a:pPr>
            <a:r>
              <a:rPr lang="en-US" sz="3900" b="1" dirty="0">
                <a:solidFill>
                  <a:srgbClr val="F4CAB8"/>
                </a:solidFill>
                <a:latin typeface="Brygada 1918 Bold" pitchFamily="34" charset="0"/>
                <a:ea typeface="Brygada 1918 Bold" pitchFamily="34" charset="-122"/>
                <a:cs typeface="Brygada 1918 Bold" pitchFamily="34" charset="-120"/>
              </a:rPr>
              <a:t>8</a:t>
            </a:r>
            <a:endParaRPr lang="en-US" sz="3900" dirty="0"/>
          </a:p>
        </p:txBody>
      </p:sp>
      <p:sp>
        <p:nvSpPr>
          <p:cNvPr id="11" name="Text 9"/>
          <p:cNvSpPr/>
          <p:nvPr/>
        </p:nvSpPr>
        <p:spPr>
          <a:xfrm>
            <a:off x="10842903" y="2645807"/>
            <a:ext cx="2017157" cy="252055"/>
          </a:xfrm>
          <a:prstGeom prst="rect">
            <a:avLst/>
          </a:prstGeom>
          <a:noFill/>
          <a:ln/>
        </p:spPr>
        <p:txBody>
          <a:bodyPr wrap="none" lIns="0" tIns="0" rIns="0" bIns="0" rtlCol="0" anchor="t"/>
          <a:lstStyle/>
          <a:p>
            <a:pPr algn="ctr"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Weeks to Production</a:t>
            </a:r>
            <a:endParaRPr lang="en-US" sz="1550" dirty="0"/>
          </a:p>
        </p:txBody>
      </p:sp>
      <p:sp>
        <p:nvSpPr>
          <p:cNvPr id="12" name="Text 10"/>
          <p:cNvSpPr/>
          <p:nvPr/>
        </p:nvSpPr>
        <p:spPr>
          <a:xfrm>
            <a:off x="9677876" y="2988588"/>
            <a:ext cx="4347329" cy="484108"/>
          </a:xfrm>
          <a:prstGeom prst="rect">
            <a:avLst/>
          </a:prstGeom>
          <a:noFill/>
          <a:ln/>
        </p:spPr>
        <p:txBody>
          <a:bodyPr wrap="square" lIns="0" tIns="0" rIns="0" bIns="0" rtlCol="0" anchor="t"/>
          <a:lstStyle/>
          <a:p>
            <a:pPr algn="ctr"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Complete platform deployment with first data product and pilot DS team integration.</a:t>
            </a:r>
            <a:endParaRPr lang="en-US" sz="1150" dirty="0"/>
          </a:p>
        </p:txBody>
      </p:sp>
      <p:sp>
        <p:nvSpPr>
          <p:cNvPr id="13" name="Text 11"/>
          <p:cNvSpPr/>
          <p:nvPr/>
        </p:nvSpPr>
        <p:spPr>
          <a:xfrm>
            <a:off x="605076" y="4036100"/>
            <a:ext cx="3309461" cy="302538"/>
          </a:xfrm>
          <a:prstGeom prst="rect">
            <a:avLst/>
          </a:prstGeom>
          <a:noFill/>
          <a:ln/>
        </p:spPr>
        <p:txBody>
          <a:bodyPr wrap="none" lIns="0" tIns="0" rIns="0" bIns="0" rtlCol="0" anchor="t"/>
          <a:lstStyle/>
          <a:p>
            <a:pPr algn="l" indent="0" marL="0">
              <a:lnSpc>
                <a:spcPts val="2350"/>
              </a:lnSpc>
              <a:buNone/>
            </a:pPr>
            <a:r>
              <a:rPr lang="en-US" sz="1900" b="1" dirty="0">
                <a:solidFill>
                  <a:srgbClr val="FFB393"/>
                </a:solidFill>
                <a:latin typeface="Brygada 1918 Bold" pitchFamily="34" charset="0"/>
                <a:ea typeface="Brygada 1918 Bold" pitchFamily="34" charset="-122"/>
                <a:cs typeface="Brygada 1918 Bold" pitchFamily="34" charset="-120"/>
              </a:rPr>
              <a:t>Technology Stack Validation</a:t>
            </a:r>
            <a:endParaRPr lang="en-US" sz="1900" dirty="0"/>
          </a:p>
        </p:txBody>
      </p:sp>
      <p:sp>
        <p:nvSpPr>
          <p:cNvPr id="14" name="Text 12"/>
          <p:cNvSpPr/>
          <p:nvPr/>
        </p:nvSpPr>
        <p:spPr>
          <a:xfrm>
            <a:off x="605076" y="4489847"/>
            <a:ext cx="6525578" cy="484108"/>
          </a:xfrm>
          <a:prstGeom prst="rect">
            <a:avLst/>
          </a:prstGeom>
          <a:noFill/>
          <a:ln/>
        </p:spPr>
        <p:txBody>
          <a:bodyPr wrap="square" lIns="0" tIns="0" rIns="0" bIns="0" rtlCol="0" anchor="t"/>
          <a:lstStyle/>
          <a:p>
            <a:pPr algn="l" indent="0" marL="0">
              <a:lnSpc>
                <a:spcPts val="1900"/>
              </a:lnSpc>
              <a:buNone/>
            </a:pPr>
            <a:r>
              <a:rPr lang="en-US" sz="1150" b="1" dirty="0">
                <a:solidFill>
                  <a:srgbClr val="F4CAB8"/>
                </a:solidFill>
                <a:latin typeface="Montserrat Medium" pitchFamily="34" charset="0"/>
                <a:ea typeface="Montserrat Medium" pitchFamily="34" charset="-122"/>
                <a:cs typeface="Montserrat Medium" pitchFamily="34" charset="-120"/>
              </a:rPr>
              <a:t>GCP Services:</a:t>
            </a:r>
            <a:pPr algn="l"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 All generally available with enterprise support. Vertex AI Search, BigQuery, Cloud Run, Storage Transfer Service proven at scale.</a:t>
            </a:r>
            <a:endParaRPr lang="en-US" sz="1150" dirty="0"/>
          </a:p>
        </p:txBody>
      </p:sp>
      <p:sp>
        <p:nvSpPr>
          <p:cNvPr id="15" name="Text 13"/>
          <p:cNvSpPr/>
          <p:nvPr/>
        </p:nvSpPr>
        <p:spPr>
          <a:xfrm>
            <a:off x="605076" y="5110043"/>
            <a:ext cx="6525578" cy="484108"/>
          </a:xfrm>
          <a:prstGeom prst="rect">
            <a:avLst/>
          </a:prstGeom>
          <a:noFill/>
          <a:ln/>
        </p:spPr>
        <p:txBody>
          <a:bodyPr wrap="square" lIns="0" tIns="0" rIns="0" bIns="0" rtlCol="0" anchor="t"/>
          <a:lstStyle/>
          <a:p>
            <a:pPr algn="l" indent="0" marL="0">
              <a:lnSpc>
                <a:spcPts val="1900"/>
              </a:lnSpc>
              <a:buNone/>
            </a:pPr>
            <a:r>
              <a:rPr lang="en-US" sz="1150" b="1" dirty="0">
                <a:solidFill>
                  <a:srgbClr val="F4CAB8"/>
                </a:solidFill>
                <a:latin typeface="Montserrat Medium" pitchFamily="34" charset="0"/>
                <a:ea typeface="Montserrat Medium" pitchFamily="34" charset="-122"/>
                <a:cs typeface="Montserrat Medium" pitchFamily="34" charset="-120"/>
              </a:rPr>
              <a:t>Snowflake Replication:</a:t>
            </a:r>
            <a:pPr algn="l"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 Native feature available and tested for AWS → GCP scenarios with sub-5-minute lag guarantees.</a:t>
            </a:r>
            <a:endParaRPr lang="en-US" sz="1150" dirty="0"/>
          </a:p>
        </p:txBody>
      </p:sp>
      <p:sp>
        <p:nvSpPr>
          <p:cNvPr id="16" name="Text 14"/>
          <p:cNvSpPr/>
          <p:nvPr/>
        </p:nvSpPr>
        <p:spPr>
          <a:xfrm>
            <a:off x="605076" y="5730240"/>
            <a:ext cx="6525578" cy="484108"/>
          </a:xfrm>
          <a:prstGeom prst="rect">
            <a:avLst/>
          </a:prstGeom>
          <a:noFill/>
          <a:ln/>
        </p:spPr>
        <p:txBody>
          <a:bodyPr wrap="square" lIns="0" tIns="0" rIns="0" bIns="0" rtlCol="0" anchor="t"/>
          <a:lstStyle/>
          <a:p>
            <a:pPr algn="l" indent="0" marL="0">
              <a:lnSpc>
                <a:spcPts val="1900"/>
              </a:lnSpc>
              <a:buNone/>
            </a:pPr>
            <a:r>
              <a:rPr lang="en-US" sz="1150" b="1" dirty="0">
                <a:solidFill>
                  <a:srgbClr val="F4CAB8"/>
                </a:solidFill>
                <a:latin typeface="Montserrat Medium" pitchFamily="34" charset="0"/>
                <a:ea typeface="Montserrat Medium" pitchFamily="34" charset="-122"/>
                <a:cs typeface="Montserrat Medium" pitchFamily="34" charset="-120"/>
              </a:rPr>
              <a:t>Cross-Cloud Integration:</a:t>
            </a:r>
            <a:pPr algn="l"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 EventBridge → Pub/Sub routing follows established patterns with reliability testing complete.</a:t>
            </a:r>
            <a:endParaRPr lang="en-US" sz="1150" dirty="0"/>
          </a:p>
        </p:txBody>
      </p:sp>
      <p:sp>
        <p:nvSpPr>
          <p:cNvPr id="17" name="Text 15"/>
          <p:cNvSpPr/>
          <p:nvPr/>
        </p:nvSpPr>
        <p:spPr>
          <a:xfrm>
            <a:off x="7507367" y="4036100"/>
            <a:ext cx="3061692" cy="302538"/>
          </a:xfrm>
          <a:prstGeom prst="rect">
            <a:avLst/>
          </a:prstGeom>
          <a:noFill/>
          <a:ln/>
        </p:spPr>
        <p:txBody>
          <a:bodyPr wrap="none" lIns="0" tIns="0" rIns="0" bIns="0" rtlCol="0" anchor="t"/>
          <a:lstStyle/>
          <a:p>
            <a:pPr algn="l" indent="0" marL="0">
              <a:lnSpc>
                <a:spcPts val="2350"/>
              </a:lnSpc>
              <a:buNone/>
            </a:pPr>
            <a:r>
              <a:rPr lang="en-US" sz="1900" b="1" dirty="0">
                <a:solidFill>
                  <a:srgbClr val="FFB393"/>
                </a:solidFill>
                <a:latin typeface="Brygada 1918 Bold" pitchFamily="34" charset="0"/>
                <a:ea typeface="Brygada 1918 Bold" pitchFamily="34" charset="-122"/>
                <a:cs typeface="Brygada 1918 Bold" pitchFamily="34" charset="-120"/>
              </a:rPr>
              <a:t>Automation Design Status</a:t>
            </a:r>
            <a:endParaRPr lang="en-US" sz="1900" dirty="0"/>
          </a:p>
        </p:txBody>
      </p:sp>
      <p:sp>
        <p:nvSpPr>
          <p:cNvPr id="18" name="Text 16"/>
          <p:cNvSpPr/>
          <p:nvPr/>
        </p:nvSpPr>
        <p:spPr>
          <a:xfrm>
            <a:off x="7507367" y="4489847"/>
            <a:ext cx="6525578" cy="484108"/>
          </a:xfrm>
          <a:prstGeom prst="rect">
            <a:avLst/>
          </a:prstGeom>
          <a:noFill/>
          <a:ln/>
        </p:spPr>
        <p:txBody>
          <a:bodyPr wrap="square" lIns="0" tIns="0" rIns="0" bIns="0" rtlCol="0" anchor="t"/>
          <a:lstStyle/>
          <a:p>
            <a:pPr algn="l" indent="0" marL="0">
              <a:lnSpc>
                <a:spcPts val="1900"/>
              </a:lnSpc>
              <a:buNone/>
            </a:pPr>
            <a:r>
              <a:rPr lang="en-US" sz="1150" b="1" dirty="0">
                <a:solidFill>
                  <a:srgbClr val="F4CAB8"/>
                </a:solidFill>
                <a:latin typeface="Montserrat Medium" pitchFamily="34" charset="0"/>
                <a:ea typeface="Montserrat Medium" pitchFamily="34" charset="-122"/>
                <a:cs typeface="Montserrat Medium" pitchFamily="34" charset="-120"/>
              </a:rPr>
              <a:t>Data Store Provisioning:</a:t>
            </a:r>
            <a:pPr algn="l"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 Terraform templates defined for automated Vertex AI Search scaling based on capacity thresholds.</a:t>
            </a:r>
            <a:endParaRPr lang="en-US" sz="1150" dirty="0"/>
          </a:p>
        </p:txBody>
      </p:sp>
      <p:sp>
        <p:nvSpPr>
          <p:cNvPr id="19" name="Text 17"/>
          <p:cNvSpPr/>
          <p:nvPr/>
        </p:nvSpPr>
        <p:spPr>
          <a:xfrm>
            <a:off x="7507367" y="5110043"/>
            <a:ext cx="6525578" cy="484108"/>
          </a:xfrm>
          <a:prstGeom prst="rect">
            <a:avLst/>
          </a:prstGeom>
          <a:noFill/>
          <a:ln/>
        </p:spPr>
        <p:txBody>
          <a:bodyPr wrap="square" lIns="0" tIns="0" rIns="0" bIns="0" rtlCol="0" anchor="t"/>
          <a:lstStyle/>
          <a:p>
            <a:pPr algn="l" indent="0" marL="0">
              <a:lnSpc>
                <a:spcPts val="1900"/>
              </a:lnSpc>
              <a:buNone/>
            </a:pPr>
            <a:r>
              <a:rPr lang="en-US" sz="1150" b="1" dirty="0">
                <a:solidFill>
                  <a:srgbClr val="F4CAB8"/>
                </a:solidFill>
                <a:latin typeface="Montserrat Medium" pitchFamily="34" charset="0"/>
                <a:ea typeface="Montserrat Medium" pitchFamily="34" charset="-122"/>
                <a:cs typeface="Montserrat Medium" pitchFamily="34" charset="-120"/>
              </a:rPr>
              <a:t>Tier Management:</a:t>
            </a:r>
            <a:pPr algn="l"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 Daily job logic specified with Cloud Composer DAG workflows for document lifecycle management.</a:t>
            </a:r>
            <a:endParaRPr lang="en-US" sz="1150" dirty="0"/>
          </a:p>
        </p:txBody>
      </p:sp>
      <p:sp>
        <p:nvSpPr>
          <p:cNvPr id="20" name="Text 18"/>
          <p:cNvSpPr/>
          <p:nvPr/>
        </p:nvSpPr>
        <p:spPr>
          <a:xfrm>
            <a:off x="7507367" y="5730240"/>
            <a:ext cx="6525578" cy="484108"/>
          </a:xfrm>
          <a:prstGeom prst="rect">
            <a:avLst/>
          </a:prstGeom>
          <a:noFill/>
          <a:ln/>
        </p:spPr>
        <p:txBody>
          <a:bodyPr wrap="square" lIns="0" tIns="0" rIns="0" bIns="0" rtlCol="0" anchor="t"/>
          <a:lstStyle/>
          <a:p>
            <a:pPr algn="l" indent="0" marL="0">
              <a:lnSpc>
                <a:spcPts val="1900"/>
              </a:lnSpc>
              <a:buNone/>
            </a:pPr>
            <a:r>
              <a:rPr lang="en-US" sz="1150" b="1" dirty="0">
                <a:solidFill>
                  <a:srgbClr val="F4CAB8"/>
                </a:solidFill>
                <a:latin typeface="Montserrat Medium" pitchFamily="34" charset="0"/>
                <a:ea typeface="Montserrat Medium" pitchFamily="34" charset="-122"/>
                <a:cs typeface="Montserrat Medium" pitchFamily="34" charset="-120"/>
              </a:rPr>
              <a:t>Access Control:</a:t>
            </a:r>
            <a:pPr algn="l"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 Template-based system architected with complete IAM delegation patterns and audit logging.</a:t>
            </a:r>
            <a:endParaRPr lang="en-US" sz="1150" dirty="0"/>
          </a:p>
        </p:txBody>
      </p:sp>
      <p:pic>
        <p:nvPicPr>
          <p:cNvPr id="21" name="Image 0" descr="preencoded.png">    </p:cNvPr>
          <p:cNvPicPr>
            <a:picLocks noChangeAspect="1"/>
          </p:cNvPicPr>
          <p:nvPr/>
        </p:nvPicPr>
        <p:blipFill>
          <a:blip r:embed="rId1"/>
          <a:stretch>
            <a:fillRect/>
          </a:stretch>
        </p:blipFill>
        <p:spPr>
          <a:xfrm>
            <a:off x="605076" y="6520577"/>
            <a:ext cx="151209" cy="189071"/>
          </a:xfrm>
          <a:prstGeom prst="rect">
            <a:avLst/>
          </a:prstGeom>
        </p:spPr>
      </p:pic>
      <p:sp>
        <p:nvSpPr>
          <p:cNvPr id="22" name="Shape 19"/>
          <p:cNvSpPr/>
          <p:nvPr/>
        </p:nvSpPr>
        <p:spPr>
          <a:xfrm>
            <a:off x="605076" y="6762393"/>
            <a:ext cx="6634520" cy="15240"/>
          </a:xfrm>
          <a:prstGeom prst="rect">
            <a:avLst/>
          </a:prstGeom>
          <a:solidFill>
            <a:srgbClr val="FFB393"/>
          </a:solidFill>
          <a:ln/>
        </p:spPr>
      </p:sp>
      <p:sp>
        <p:nvSpPr>
          <p:cNvPr id="23" name="Text 20"/>
          <p:cNvSpPr/>
          <p:nvPr/>
        </p:nvSpPr>
        <p:spPr>
          <a:xfrm>
            <a:off x="605076" y="6868478"/>
            <a:ext cx="2672120" cy="252055"/>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Comprehensive Monitoring</a:t>
            </a:r>
            <a:endParaRPr lang="en-US" sz="1550" dirty="0"/>
          </a:p>
        </p:txBody>
      </p:sp>
      <p:sp>
        <p:nvSpPr>
          <p:cNvPr id="24" name="Text 21"/>
          <p:cNvSpPr/>
          <p:nvPr/>
        </p:nvSpPr>
        <p:spPr>
          <a:xfrm>
            <a:off x="605076" y="7211258"/>
            <a:ext cx="6634520" cy="484108"/>
          </a:xfrm>
          <a:prstGeom prst="rect">
            <a:avLst/>
          </a:prstGeom>
          <a:noFill/>
          <a:ln/>
        </p:spPr>
        <p:txBody>
          <a:bodyPr wrap="square" lIns="0" tIns="0" rIns="0" bIns="0" rtlCol="0" anchor="t"/>
          <a:lstStyle/>
          <a:p>
            <a:pPr algn="l"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Metrics defined for freshness, performance, capacity, quality, and cost. Alert thresholds established for critical issues with operational dashboards designed.</a:t>
            </a:r>
            <a:endParaRPr lang="en-US" sz="1150" dirty="0"/>
          </a:p>
        </p:txBody>
      </p:sp>
      <p:pic>
        <p:nvPicPr>
          <p:cNvPr id="25" name="Image 1" descr="preencoded.png">    </p:cNvPr>
          <p:cNvPicPr>
            <a:picLocks noChangeAspect="1"/>
          </p:cNvPicPr>
          <p:nvPr/>
        </p:nvPicPr>
        <p:blipFill>
          <a:blip r:embed="rId2"/>
          <a:stretch>
            <a:fillRect/>
          </a:stretch>
        </p:blipFill>
        <p:spPr>
          <a:xfrm>
            <a:off x="7390805" y="6520577"/>
            <a:ext cx="151209" cy="189071"/>
          </a:xfrm>
          <a:prstGeom prst="rect">
            <a:avLst/>
          </a:prstGeom>
        </p:spPr>
      </p:pic>
      <p:sp>
        <p:nvSpPr>
          <p:cNvPr id="26" name="Shape 22"/>
          <p:cNvSpPr/>
          <p:nvPr/>
        </p:nvSpPr>
        <p:spPr>
          <a:xfrm>
            <a:off x="7390805" y="6762393"/>
            <a:ext cx="6634520" cy="15240"/>
          </a:xfrm>
          <a:prstGeom prst="rect">
            <a:avLst/>
          </a:prstGeom>
          <a:solidFill>
            <a:srgbClr val="FFB393"/>
          </a:solidFill>
          <a:ln/>
        </p:spPr>
      </p:sp>
      <p:sp>
        <p:nvSpPr>
          <p:cNvPr id="27" name="Text 23"/>
          <p:cNvSpPr/>
          <p:nvPr/>
        </p:nvSpPr>
        <p:spPr>
          <a:xfrm>
            <a:off x="7390805" y="6868478"/>
            <a:ext cx="2017157" cy="252055"/>
          </a:xfrm>
          <a:prstGeom prst="rect">
            <a:avLst/>
          </a:prstGeom>
          <a:noFill/>
          <a:ln/>
        </p:spPr>
        <p:txBody>
          <a:bodyPr wrap="none" lIns="0" tIns="0" rIns="0" bIns="0" rtlCol="0" anchor="t"/>
          <a:lstStyle/>
          <a:p>
            <a:pPr algn="l" indent="0" marL="0">
              <a:lnSpc>
                <a:spcPts val="1950"/>
              </a:lnSpc>
              <a:buNone/>
            </a:pPr>
            <a:r>
              <a:rPr lang="en-US" sz="1550" b="1" dirty="0">
                <a:solidFill>
                  <a:srgbClr val="F4CAB8"/>
                </a:solidFill>
                <a:latin typeface="Brygada 1918 Bold" pitchFamily="34" charset="0"/>
                <a:ea typeface="Brygada 1918 Bold" pitchFamily="34" charset="-122"/>
                <a:cs typeface="Brygada 1918 Bold" pitchFamily="34" charset="-120"/>
              </a:rPr>
              <a:t>Enterprise Security</a:t>
            </a:r>
            <a:endParaRPr lang="en-US" sz="1550" dirty="0"/>
          </a:p>
        </p:txBody>
      </p:sp>
      <p:sp>
        <p:nvSpPr>
          <p:cNvPr id="28" name="Text 24"/>
          <p:cNvSpPr/>
          <p:nvPr/>
        </p:nvSpPr>
        <p:spPr>
          <a:xfrm>
            <a:off x="7390805" y="7211258"/>
            <a:ext cx="6634520" cy="484108"/>
          </a:xfrm>
          <a:prstGeom prst="rect">
            <a:avLst/>
          </a:prstGeom>
          <a:noFill/>
          <a:ln/>
        </p:spPr>
        <p:txBody>
          <a:bodyPr wrap="square" lIns="0" tIns="0" rIns="0" bIns="0" rtlCol="0" anchor="t"/>
          <a:lstStyle/>
          <a:p>
            <a:pPr algn="l" indent="0" marL="0">
              <a:lnSpc>
                <a:spcPts val="1900"/>
              </a:lnSpc>
              <a:buNone/>
            </a:pPr>
            <a:r>
              <a:rPr lang="en-US" sz="1150" dirty="0">
                <a:solidFill>
                  <a:srgbClr val="F4CAB8"/>
                </a:solidFill>
                <a:latin typeface="Montserrat Medium" pitchFamily="34" charset="0"/>
                <a:ea typeface="Montserrat Medium" pitchFamily="34" charset="-122"/>
                <a:cs typeface="Montserrat Medium" pitchFamily="34" charset="-120"/>
              </a:rPr>
              <a:t>Layered IAM delegation model, encryption at rest and in transit, complete audit logging, and compliance support for retention and GDPR requirements.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5776" y="502087"/>
            <a:ext cx="5354479" cy="413147"/>
          </a:xfrm>
          <a:prstGeom prst="rect">
            <a:avLst/>
          </a:prstGeom>
          <a:noFill/>
          <a:ln/>
        </p:spPr>
        <p:txBody>
          <a:bodyPr wrap="none" lIns="0" tIns="0" rIns="0" bIns="0" rtlCol="0" anchor="t"/>
          <a:lstStyle/>
          <a:p>
            <a:pPr algn="l" indent="0" marL="0">
              <a:lnSpc>
                <a:spcPts val="3250"/>
              </a:lnSpc>
              <a:buNone/>
            </a:pPr>
            <a:r>
              <a:rPr lang="en-US" sz="2600" b="1" dirty="0">
                <a:solidFill>
                  <a:srgbClr val="FFB393"/>
                </a:solidFill>
                <a:latin typeface="Brygada 1918 Bold" pitchFamily="34" charset="0"/>
                <a:ea typeface="Brygada 1918 Bold" pitchFamily="34" charset="-122"/>
                <a:cs typeface="Brygada 1918 Bold" pitchFamily="34" charset="-120"/>
              </a:rPr>
              <a:t>8-Week Implementation Timeline</a:t>
            </a:r>
            <a:endParaRPr lang="en-US" sz="2600" dirty="0"/>
          </a:p>
        </p:txBody>
      </p:sp>
      <p:sp>
        <p:nvSpPr>
          <p:cNvPr id="3" name="Text 1"/>
          <p:cNvSpPr/>
          <p:nvPr/>
        </p:nvSpPr>
        <p:spPr>
          <a:xfrm>
            <a:off x="495776" y="1163122"/>
            <a:ext cx="13638848" cy="198239"/>
          </a:xfrm>
          <a:prstGeom prst="rect">
            <a:avLst/>
          </a:prstGeom>
          <a:noFill/>
          <a:ln/>
        </p:spPr>
        <p:txBody>
          <a:bodyPr wrap="none" lIns="0" tIns="0" rIns="0" bIns="0" rtlCol="0" anchor="t"/>
          <a:lstStyle/>
          <a:p>
            <a:pPr algn="l" indent="0" marL="0">
              <a:lnSpc>
                <a:spcPts val="1550"/>
              </a:lnSpc>
              <a:buNone/>
            </a:pPr>
            <a:r>
              <a:rPr lang="en-US" sz="950" dirty="0">
                <a:solidFill>
                  <a:srgbClr val="F4CAB8"/>
                </a:solidFill>
                <a:latin typeface="Montserrat Medium" pitchFamily="34" charset="0"/>
                <a:ea typeface="Montserrat Medium" pitchFamily="34" charset="-122"/>
                <a:cs typeface="Montserrat Medium" pitchFamily="34" charset="-120"/>
              </a:rPr>
              <a:t>Our phased approach delivers a working platform with pilot integration in 8 weeks. Each phase builds systematically on proven foundations while maintaining parallel workstreams for maximum efficiency.</a:t>
            </a:r>
            <a:endParaRPr lang="en-US" sz="950" dirty="0"/>
          </a:p>
        </p:txBody>
      </p:sp>
      <p:sp>
        <p:nvSpPr>
          <p:cNvPr id="4" name="Shape 2"/>
          <p:cNvSpPr/>
          <p:nvPr/>
        </p:nvSpPr>
        <p:spPr>
          <a:xfrm>
            <a:off x="7307580" y="1500783"/>
            <a:ext cx="15240" cy="3059787"/>
          </a:xfrm>
          <a:prstGeom prst="roundRect">
            <a:avLst>
              <a:gd name="adj" fmla="val 122002"/>
            </a:avLst>
          </a:prstGeom>
          <a:solidFill>
            <a:srgbClr val="662E42"/>
          </a:solidFill>
          <a:ln/>
        </p:spPr>
      </p:sp>
      <p:sp>
        <p:nvSpPr>
          <p:cNvPr id="5" name="Shape 3"/>
          <p:cNvSpPr/>
          <p:nvPr/>
        </p:nvSpPr>
        <p:spPr>
          <a:xfrm>
            <a:off x="6819186" y="1632585"/>
            <a:ext cx="371832" cy="15240"/>
          </a:xfrm>
          <a:prstGeom prst="roundRect">
            <a:avLst>
              <a:gd name="adj" fmla="val 122002"/>
            </a:avLst>
          </a:prstGeom>
          <a:solidFill>
            <a:srgbClr val="662E42"/>
          </a:solidFill>
          <a:ln/>
        </p:spPr>
      </p:sp>
      <p:sp>
        <p:nvSpPr>
          <p:cNvPr id="6" name="Shape 4"/>
          <p:cNvSpPr/>
          <p:nvPr/>
        </p:nvSpPr>
        <p:spPr>
          <a:xfrm>
            <a:off x="7175778" y="1500783"/>
            <a:ext cx="278844" cy="278844"/>
          </a:xfrm>
          <a:prstGeom prst="roundRect">
            <a:avLst>
              <a:gd name="adj" fmla="val 6668"/>
            </a:avLst>
          </a:prstGeom>
          <a:solidFill>
            <a:srgbClr val="4D1529"/>
          </a:solidFill>
          <a:ln/>
        </p:spPr>
      </p:sp>
      <p:sp>
        <p:nvSpPr>
          <p:cNvPr id="7" name="Text 5"/>
          <p:cNvSpPr/>
          <p:nvPr/>
        </p:nvSpPr>
        <p:spPr>
          <a:xfrm>
            <a:off x="7216080" y="1516261"/>
            <a:ext cx="198239" cy="247888"/>
          </a:xfrm>
          <a:prstGeom prst="rect">
            <a:avLst/>
          </a:prstGeom>
          <a:noFill/>
          <a:ln/>
        </p:spPr>
        <p:txBody>
          <a:bodyPr wrap="none" lIns="0" tIns="0" rIns="0" bIns="0" rtlCol="0" anchor="t"/>
          <a:lstStyle/>
          <a:p>
            <a:pPr algn="ctr" indent="0" marL="0">
              <a:lnSpc>
                <a:spcPts val="1550"/>
              </a:lnSpc>
              <a:buNone/>
            </a:pPr>
            <a:r>
              <a:rPr lang="en-US" sz="1550" b="1" dirty="0">
                <a:solidFill>
                  <a:srgbClr val="F4CAB8"/>
                </a:solidFill>
                <a:latin typeface="Brygada 1918 Bold" pitchFamily="34" charset="0"/>
                <a:ea typeface="Brygada 1918 Bold" pitchFamily="34" charset="-122"/>
                <a:cs typeface="Brygada 1918 Bold" pitchFamily="34" charset="-120"/>
              </a:rPr>
              <a:t>1</a:t>
            </a:r>
            <a:endParaRPr lang="en-US" sz="1550" dirty="0"/>
          </a:p>
        </p:txBody>
      </p:sp>
      <p:sp>
        <p:nvSpPr>
          <p:cNvPr id="8" name="Text 6"/>
          <p:cNvSpPr/>
          <p:nvPr/>
        </p:nvSpPr>
        <p:spPr>
          <a:xfrm>
            <a:off x="3721775" y="1543288"/>
            <a:ext cx="2973705" cy="206573"/>
          </a:xfrm>
          <a:prstGeom prst="rect">
            <a:avLst/>
          </a:prstGeom>
          <a:noFill/>
          <a:ln/>
        </p:spPr>
        <p:txBody>
          <a:bodyPr wrap="none" lIns="0" tIns="0" rIns="0" bIns="0" rtlCol="0" anchor="t"/>
          <a:lstStyle/>
          <a:p>
            <a:pPr algn="r" indent="0" marL="0">
              <a:lnSpc>
                <a:spcPts val="1600"/>
              </a:lnSpc>
              <a:buNone/>
            </a:pPr>
            <a:r>
              <a:rPr lang="en-US" sz="1300" b="1" dirty="0">
                <a:solidFill>
                  <a:srgbClr val="F4CAB8"/>
                </a:solidFill>
                <a:latin typeface="Brygada 1918 Bold" pitchFamily="34" charset="0"/>
                <a:ea typeface="Brygada 1918 Bold" pitchFamily="34" charset="-122"/>
                <a:cs typeface="Brygada 1918 Bold" pitchFamily="34" charset="-120"/>
              </a:rPr>
              <a:t>Weeks 1-2: Foundation Infrastructure</a:t>
            </a:r>
            <a:endParaRPr lang="en-US" sz="1300" dirty="0"/>
          </a:p>
        </p:txBody>
      </p:sp>
      <p:sp>
        <p:nvSpPr>
          <p:cNvPr id="9" name="Text 7"/>
          <p:cNvSpPr/>
          <p:nvPr/>
        </p:nvSpPr>
        <p:spPr>
          <a:xfrm>
            <a:off x="495776" y="1824157"/>
            <a:ext cx="6199703" cy="594717"/>
          </a:xfrm>
          <a:prstGeom prst="rect">
            <a:avLst/>
          </a:prstGeom>
          <a:noFill/>
          <a:ln/>
        </p:spPr>
        <p:txBody>
          <a:bodyPr wrap="square" lIns="0" tIns="0" rIns="0" bIns="0" rtlCol="0" anchor="t"/>
          <a:lstStyle/>
          <a:p>
            <a:pPr algn="r" indent="0" marL="0">
              <a:lnSpc>
                <a:spcPts val="1550"/>
              </a:lnSpc>
              <a:buNone/>
            </a:pPr>
            <a:r>
              <a:rPr lang="en-US" sz="950" dirty="0">
                <a:solidFill>
                  <a:srgbClr val="F4CAB8"/>
                </a:solidFill>
                <a:latin typeface="Montserrat Medium" pitchFamily="34" charset="0"/>
                <a:ea typeface="Montserrat Medium" pitchFamily="34" charset="-122"/>
                <a:cs typeface="Montserrat Medium" pitchFamily="34" charset="-120"/>
              </a:rPr>
              <a:t>Platform team provisions GCP project with required services. Setup Snowflake replication for structured data. Deploy cross-cloud event routing via EventBridge → Pub/Sub integration. Establish basic monitoring and security frameworks.</a:t>
            </a:r>
            <a:endParaRPr lang="en-US" sz="950" dirty="0"/>
          </a:p>
        </p:txBody>
      </p:sp>
      <p:sp>
        <p:nvSpPr>
          <p:cNvPr id="10" name="Shape 8"/>
          <p:cNvSpPr/>
          <p:nvPr/>
        </p:nvSpPr>
        <p:spPr>
          <a:xfrm>
            <a:off x="7439382" y="2376249"/>
            <a:ext cx="371832" cy="15240"/>
          </a:xfrm>
          <a:prstGeom prst="roundRect">
            <a:avLst>
              <a:gd name="adj" fmla="val 122002"/>
            </a:avLst>
          </a:prstGeom>
          <a:solidFill>
            <a:srgbClr val="662E42"/>
          </a:solidFill>
          <a:ln/>
        </p:spPr>
      </p:sp>
      <p:sp>
        <p:nvSpPr>
          <p:cNvPr id="11" name="Shape 9"/>
          <p:cNvSpPr/>
          <p:nvPr/>
        </p:nvSpPr>
        <p:spPr>
          <a:xfrm>
            <a:off x="7175778" y="2244447"/>
            <a:ext cx="278844" cy="278844"/>
          </a:xfrm>
          <a:prstGeom prst="roundRect">
            <a:avLst>
              <a:gd name="adj" fmla="val 6668"/>
            </a:avLst>
          </a:prstGeom>
          <a:solidFill>
            <a:srgbClr val="4D1529"/>
          </a:solidFill>
          <a:ln/>
        </p:spPr>
      </p:sp>
      <p:sp>
        <p:nvSpPr>
          <p:cNvPr id="12" name="Text 10"/>
          <p:cNvSpPr/>
          <p:nvPr/>
        </p:nvSpPr>
        <p:spPr>
          <a:xfrm>
            <a:off x="7216080" y="2259925"/>
            <a:ext cx="198239" cy="247888"/>
          </a:xfrm>
          <a:prstGeom prst="rect">
            <a:avLst/>
          </a:prstGeom>
          <a:noFill/>
          <a:ln/>
        </p:spPr>
        <p:txBody>
          <a:bodyPr wrap="none" lIns="0" tIns="0" rIns="0" bIns="0" rtlCol="0" anchor="t"/>
          <a:lstStyle/>
          <a:p>
            <a:pPr algn="ctr" indent="0" marL="0">
              <a:lnSpc>
                <a:spcPts val="1550"/>
              </a:lnSpc>
              <a:buNone/>
            </a:pPr>
            <a:r>
              <a:rPr lang="en-US" sz="1550" b="1" dirty="0">
                <a:solidFill>
                  <a:srgbClr val="F4CAB8"/>
                </a:solidFill>
                <a:latin typeface="Brygada 1918 Bold" pitchFamily="34" charset="0"/>
                <a:ea typeface="Brygada 1918 Bold" pitchFamily="34" charset="-122"/>
                <a:cs typeface="Brygada 1918 Bold" pitchFamily="34" charset="-120"/>
              </a:rPr>
              <a:t>2</a:t>
            </a:r>
            <a:endParaRPr lang="en-US" sz="1550" dirty="0"/>
          </a:p>
        </p:txBody>
      </p:sp>
      <p:sp>
        <p:nvSpPr>
          <p:cNvPr id="13" name="Text 11"/>
          <p:cNvSpPr/>
          <p:nvPr/>
        </p:nvSpPr>
        <p:spPr>
          <a:xfrm>
            <a:off x="7934920" y="2286953"/>
            <a:ext cx="2814161" cy="206573"/>
          </a:xfrm>
          <a:prstGeom prst="rect">
            <a:avLst/>
          </a:prstGeom>
          <a:noFill/>
          <a:ln/>
        </p:spPr>
        <p:txBody>
          <a:bodyPr wrap="none" lIns="0" tIns="0" rIns="0" bIns="0" rtlCol="0" anchor="t"/>
          <a:lstStyle/>
          <a:p>
            <a:pPr algn="l" indent="0" marL="0">
              <a:lnSpc>
                <a:spcPts val="1600"/>
              </a:lnSpc>
              <a:buNone/>
            </a:pPr>
            <a:r>
              <a:rPr lang="en-US" sz="1300" b="1" dirty="0">
                <a:solidFill>
                  <a:srgbClr val="F4CAB8"/>
                </a:solidFill>
                <a:latin typeface="Brygada 1918 Bold" pitchFamily="34" charset="0"/>
                <a:ea typeface="Brygada 1918 Bold" pitchFamily="34" charset="-122"/>
                <a:cs typeface="Brygada 1918 Bold" pitchFamily="34" charset="-120"/>
              </a:rPr>
              <a:t>Weeks 3-4: Document Pipeline Core</a:t>
            </a:r>
            <a:endParaRPr lang="en-US" sz="1300" dirty="0"/>
          </a:p>
        </p:txBody>
      </p:sp>
      <p:sp>
        <p:nvSpPr>
          <p:cNvPr id="14" name="Text 12"/>
          <p:cNvSpPr/>
          <p:nvPr/>
        </p:nvSpPr>
        <p:spPr>
          <a:xfrm>
            <a:off x="7934920" y="2567821"/>
            <a:ext cx="6199703" cy="594717"/>
          </a:xfrm>
          <a:prstGeom prst="rect">
            <a:avLst/>
          </a:prstGeom>
          <a:noFill/>
          <a:ln/>
        </p:spPr>
        <p:txBody>
          <a:bodyPr wrap="square" lIns="0" tIns="0" rIns="0" bIns="0" rtlCol="0" anchor="t"/>
          <a:lstStyle/>
          <a:p>
            <a:pPr algn="l" indent="0" marL="0">
              <a:lnSpc>
                <a:spcPts val="1550"/>
              </a:lnSpc>
              <a:buNone/>
            </a:pPr>
            <a:r>
              <a:rPr lang="en-US" sz="950" dirty="0">
                <a:solidFill>
                  <a:srgbClr val="F4CAB8"/>
                </a:solidFill>
                <a:latin typeface="Montserrat Medium" pitchFamily="34" charset="0"/>
                <a:ea typeface="Montserrat Medium" pitchFamily="34" charset="-122"/>
                <a:cs typeface="Montserrat Medium" pitchFamily="34" charset="-120"/>
              </a:rPr>
              <a:t>Deploy Cloud Run processing services for OCR and quality validation. Create initial Vertex AI Search data stores for HOT/WARM/COLD tiers. Implement automated tier management with Cloud Composer DAGs. Test end-to-end document processing workflow.</a:t>
            </a:r>
            <a:endParaRPr lang="en-US" sz="950" dirty="0"/>
          </a:p>
        </p:txBody>
      </p:sp>
      <p:sp>
        <p:nvSpPr>
          <p:cNvPr id="15" name="Shape 13"/>
          <p:cNvSpPr/>
          <p:nvPr/>
        </p:nvSpPr>
        <p:spPr>
          <a:xfrm>
            <a:off x="6819186" y="3017163"/>
            <a:ext cx="371832" cy="15240"/>
          </a:xfrm>
          <a:prstGeom prst="roundRect">
            <a:avLst>
              <a:gd name="adj" fmla="val 122002"/>
            </a:avLst>
          </a:prstGeom>
          <a:solidFill>
            <a:srgbClr val="662E42"/>
          </a:solidFill>
          <a:ln/>
        </p:spPr>
      </p:sp>
      <p:sp>
        <p:nvSpPr>
          <p:cNvPr id="16" name="Shape 14"/>
          <p:cNvSpPr/>
          <p:nvPr/>
        </p:nvSpPr>
        <p:spPr>
          <a:xfrm>
            <a:off x="7175778" y="2885361"/>
            <a:ext cx="278844" cy="278844"/>
          </a:xfrm>
          <a:prstGeom prst="roundRect">
            <a:avLst>
              <a:gd name="adj" fmla="val 6668"/>
            </a:avLst>
          </a:prstGeom>
          <a:solidFill>
            <a:srgbClr val="4D1529"/>
          </a:solidFill>
          <a:ln/>
        </p:spPr>
      </p:sp>
      <p:sp>
        <p:nvSpPr>
          <p:cNvPr id="17" name="Text 15"/>
          <p:cNvSpPr/>
          <p:nvPr/>
        </p:nvSpPr>
        <p:spPr>
          <a:xfrm>
            <a:off x="7216080" y="2900839"/>
            <a:ext cx="198239" cy="247888"/>
          </a:xfrm>
          <a:prstGeom prst="rect">
            <a:avLst/>
          </a:prstGeom>
          <a:noFill/>
          <a:ln/>
        </p:spPr>
        <p:txBody>
          <a:bodyPr wrap="none" lIns="0" tIns="0" rIns="0" bIns="0" rtlCol="0" anchor="t"/>
          <a:lstStyle/>
          <a:p>
            <a:pPr algn="ctr" indent="0" marL="0">
              <a:lnSpc>
                <a:spcPts val="1550"/>
              </a:lnSpc>
              <a:buNone/>
            </a:pPr>
            <a:r>
              <a:rPr lang="en-US" sz="1550" b="1" dirty="0">
                <a:solidFill>
                  <a:srgbClr val="F4CAB8"/>
                </a:solidFill>
                <a:latin typeface="Brygada 1918 Bold" pitchFamily="34" charset="0"/>
                <a:ea typeface="Brygada 1918 Bold" pitchFamily="34" charset="-122"/>
                <a:cs typeface="Brygada 1918 Bold" pitchFamily="34" charset="-120"/>
              </a:rPr>
              <a:t>3</a:t>
            </a:r>
            <a:endParaRPr lang="en-US" sz="1550" dirty="0"/>
          </a:p>
        </p:txBody>
      </p:sp>
      <p:sp>
        <p:nvSpPr>
          <p:cNvPr id="18" name="Text 16"/>
          <p:cNvSpPr/>
          <p:nvPr/>
        </p:nvSpPr>
        <p:spPr>
          <a:xfrm>
            <a:off x="3664148" y="2927866"/>
            <a:ext cx="3031331" cy="206573"/>
          </a:xfrm>
          <a:prstGeom prst="rect">
            <a:avLst/>
          </a:prstGeom>
          <a:noFill/>
          <a:ln/>
        </p:spPr>
        <p:txBody>
          <a:bodyPr wrap="none" lIns="0" tIns="0" rIns="0" bIns="0" rtlCol="0" anchor="t"/>
          <a:lstStyle/>
          <a:p>
            <a:pPr algn="r" indent="0" marL="0">
              <a:lnSpc>
                <a:spcPts val="1600"/>
              </a:lnSpc>
              <a:buNone/>
            </a:pPr>
            <a:r>
              <a:rPr lang="en-US" sz="1300" b="1" dirty="0">
                <a:solidFill>
                  <a:srgbClr val="F4CAB8"/>
                </a:solidFill>
                <a:latin typeface="Brygada 1918 Bold" pitchFamily="34" charset="0"/>
                <a:ea typeface="Brygada 1918 Bold" pitchFamily="34" charset="-122"/>
                <a:cs typeface="Brygada 1918 Bold" pitchFamily="34" charset="-120"/>
              </a:rPr>
              <a:t>Weeks 5-6: Access Control &amp; Metadata</a:t>
            </a:r>
            <a:endParaRPr lang="en-US" sz="1300" dirty="0"/>
          </a:p>
        </p:txBody>
      </p:sp>
      <p:sp>
        <p:nvSpPr>
          <p:cNvPr id="19" name="Text 17"/>
          <p:cNvSpPr/>
          <p:nvPr/>
        </p:nvSpPr>
        <p:spPr>
          <a:xfrm>
            <a:off x="495776" y="3208734"/>
            <a:ext cx="6199703" cy="594717"/>
          </a:xfrm>
          <a:prstGeom prst="rect">
            <a:avLst/>
          </a:prstGeom>
          <a:noFill/>
          <a:ln/>
        </p:spPr>
        <p:txBody>
          <a:bodyPr wrap="square" lIns="0" tIns="0" rIns="0" bIns="0" rtlCol="0" anchor="t"/>
          <a:lstStyle/>
          <a:p>
            <a:pPr algn="r" indent="0" marL="0">
              <a:lnSpc>
                <a:spcPts val="1550"/>
              </a:lnSpc>
              <a:buNone/>
            </a:pPr>
            <a:r>
              <a:rPr lang="en-US" sz="950" dirty="0">
                <a:solidFill>
                  <a:srgbClr val="F4CAB8"/>
                </a:solidFill>
                <a:latin typeface="Montserrat Medium" pitchFamily="34" charset="0"/>
                <a:ea typeface="Montserrat Medium" pitchFamily="34" charset="-122"/>
                <a:cs typeface="Montserrat Medium" pitchFamily="34" charset="-120"/>
              </a:rPr>
              <a:t>Deploy BigQuery schemas for metadata and audit logging. Implement template-based access automation with IAM delegation. Build operational monitoring dashboards and alerting. Configure automated capacity management and scaling workflows.</a:t>
            </a:r>
            <a:endParaRPr lang="en-US" sz="950" dirty="0"/>
          </a:p>
        </p:txBody>
      </p:sp>
      <p:sp>
        <p:nvSpPr>
          <p:cNvPr id="20" name="Shape 18"/>
          <p:cNvSpPr/>
          <p:nvPr/>
        </p:nvSpPr>
        <p:spPr>
          <a:xfrm>
            <a:off x="7439382" y="3658195"/>
            <a:ext cx="371832" cy="15240"/>
          </a:xfrm>
          <a:prstGeom prst="roundRect">
            <a:avLst>
              <a:gd name="adj" fmla="val 122002"/>
            </a:avLst>
          </a:prstGeom>
          <a:solidFill>
            <a:srgbClr val="662E42"/>
          </a:solidFill>
          <a:ln/>
        </p:spPr>
      </p:sp>
      <p:sp>
        <p:nvSpPr>
          <p:cNvPr id="21" name="Shape 19"/>
          <p:cNvSpPr/>
          <p:nvPr/>
        </p:nvSpPr>
        <p:spPr>
          <a:xfrm>
            <a:off x="7175778" y="3526393"/>
            <a:ext cx="278844" cy="278844"/>
          </a:xfrm>
          <a:prstGeom prst="roundRect">
            <a:avLst>
              <a:gd name="adj" fmla="val 6668"/>
            </a:avLst>
          </a:prstGeom>
          <a:solidFill>
            <a:srgbClr val="4D1529"/>
          </a:solidFill>
          <a:ln/>
        </p:spPr>
      </p:sp>
      <p:sp>
        <p:nvSpPr>
          <p:cNvPr id="22" name="Text 20"/>
          <p:cNvSpPr/>
          <p:nvPr/>
        </p:nvSpPr>
        <p:spPr>
          <a:xfrm>
            <a:off x="7216080" y="3541871"/>
            <a:ext cx="198239" cy="247888"/>
          </a:xfrm>
          <a:prstGeom prst="rect">
            <a:avLst/>
          </a:prstGeom>
          <a:noFill/>
          <a:ln/>
        </p:spPr>
        <p:txBody>
          <a:bodyPr wrap="none" lIns="0" tIns="0" rIns="0" bIns="0" rtlCol="0" anchor="t"/>
          <a:lstStyle/>
          <a:p>
            <a:pPr algn="ctr" indent="0" marL="0">
              <a:lnSpc>
                <a:spcPts val="1550"/>
              </a:lnSpc>
              <a:buNone/>
            </a:pPr>
            <a:r>
              <a:rPr lang="en-US" sz="1550" b="1" dirty="0">
                <a:solidFill>
                  <a:srgbClr val="F4CAB8"/>
                </a:solidFill>
                <a:latin typeface="Brygada 1918 Bold" pitchFamily="34" charset="0"/>
                <a:ea typeface="Brygada 1918 Bold" pitchFamily="34" charset="-122"/>
                <a:cs typeface="Brygada 1918 Bold" pitchFamily="34" charset="-120"/>
              </a:rPr>
              <a:t>4</a:t>
            </a:r>
            <a:endParaRPr lang="en-US" sz="1550" dirty="0"/>
          </a:p>
        </p:txBody>
      </p:sp>
      <p:sp>
        <p:nvSpPr>
          <p:cNvPr id="23" name="Text 21"/>
          <p:cNvSpPr/>
          <p:nvPr/>
        </p:nvSpPr>
        <p:spPr>
          <a:xfrm>
            <a:off x="7934920" y="3568898"/>
            <a:ext cx="2191822" cy="206573"/>
          </a:xfrm>
          <a:prstGeom prst="rect">
            <a:avLst/>
          </a:prstGeom>
          <a:noFill/>
          <a:ln/>
        </p:spPr>
        <p:txBody>
          <a:bodyPr wrap="none" lIns="0" tIns="0" rIns="0" bIns="0" rtlCol="0" anchor="t"/>
          <a:lstStyle/>
          <a:p>
            <a:pPr algn="l" indent="0" marL="0">
              <a:lnSpc>
                <a:spcPts val="1600"/>
              </a:lnSpc>
              <a:buNone/>
            </a:pPr>
            <a:r>
              <a:rPr lang="en-US" sz="1300" b="1" dirty="0">
                <a:solidFill>
                  <a:srgbClr val="F4CAB8"/>
                </a:solidFill>
                <a:latin typeface="Brygada 1918 Bold" pitchFamily="34" charset="0"/>
                <a:ea typeface="Brygada 1918 Bold" pitchFamily="34" charset="-122"/>
                <a:cs typeface="Brygada 1918 Bold" pitchFamily="34" charset="-120"/>
              </a:rPr>
              <a:t>Weeks 7-8: Pilot Integration</a:t>
            </a:r>
            <a:endParaRPr lang="en-US" sz="1300" dirty="0"/>
          </a:p>
        </p:txBody>
      </p:sp>
      <p:sp>
        <p:nvSpPr>
          <p:cNvPr id="24" name="Text 22"/>
          <p:cNvSpPr/>
          <p:nvPr/>
        </p:nvSpPr>
        <p:spPr>
          <a:xfrm>
            <a:off x="7934920" y="3849767"/>
            <a:ext cx="6199703" cy="594717"/>
          </a:xfrm>
          <a:prstGeom prst="rect">
            <a:avLst/>
          </a:prstGeom>
          <a:noFill/>
          <a:ln/>
        </p:spPr>
        <p:txBody>
          <a:bodyPr wrap="square" lIns="0" tIns="0" rIns="0" bIns="0" rtlCol="0" anchor="t"/>
          <a:lstStyle/>
          <a:p>
            <a:pPr algn="l" indent="0" marL="0">
              <a:lnSpc>
                <a:spcPts val="1550"/>
              </a:lnSpc>
              <a:buNone/>
            </a:pPr>
            <a:r>
              <a:rPr lang="en-US" sz="950" dirty="0">
                <a:solidFill>
                  <a:srgbClr val="F4CAB8"/>
                </a:solidFill>
                <a:latin typeface="Montserrat Medium" pitchFamily="34" charset="0"/>
                <a:ea typeface="Montserrat Medium" pitchFamily="34" charset="-122"/>
                <a:cs typeface="Montserrat Medium" pitchFamily="34" charset="-120"/>
              </a:rPr>
              <a:t>Onboard first DS team (auto liability use case) with complete access provisioning. Integrate pilot AI agent with document search capabilities. Validate performance metrics and measure against SLA targets. Conduct full operational readiness review.</a:t>
            </a:r>
            <a:endParaRPr lang="en-US" sz="950" dirty="0"/>
          </a:p>
        </p:txBody>
      </p:sp>
      <p:sp>
        <p:nvSpPr>
          <p:cNvPr id="25" name="Shape 23"/>
          <p:cNvSpPr/>
          <p:nvPr/>
        </p:nvSpPr>
        <p:spPr>
          <a:xfrm>
            <a:off x="495776" y="4699992"/>
            <a:ext cx="6757392" cy="1451729"/>
          </a:xfrm>
          <a:prstGeom prst="roundRect">
            <a:avLst>
              <a:gd name="adj" fmla="val 1281"/>
            </a:avLst>
          </a:prstGeom>
          <a:solidFill>
            <a:srgbClr val="4D1529"/>
          </a:solidFill>
          <a:ln/>
        </p:spPr>
      </p:sp>
      <p:sp>
        <p:nvSpPr>
          <p:cNvPr id="26" name="Text 24"/>
          <p:cNvSpPr/>
          <p:nvPr/>
        </p:nvSpPr>
        <p:spPr>
          <a:xfrm>
            <a:off x="619720" y="4823936"/>
            <a:ext cx="1735217" cy="206573"/>
          </a:xfrm>
          <a:prstGeom prst="rect">
            <a:avLst/>
          </a:prstGeom>
          <a:noFill/>
          <a:ln/>
        </p:spPr>
        <p:txBody>
          <a:bodyPr wrap="none" lIns="0" tIns="0" rIns="0" bIns="0" rtlCol="0" anchor="t"/>
          <a:lstStyle/>
          <a:p>
            <a:pPr algn="l" indent="0" marL="0">
              <a:lnSpc>
                <a:spcPts val="1600"/>
              </a:lnSpc>
              <a:buNone/>
            </a:pPr>
            <a:r>
              <a:rPr lang="en-US" sz="1300" b="1" dirty="0">
                <a:solidFill>
                  <a:srgbClr val="F4CAB8"/>
                </a:solidFill>
                <a:latin typeface="Brygada 1918 Bold" pitchFamily="34" charset="0"/>
                <a:ea typeface="Brygada 1918 Bold" pitchFamily="34" charset="-122"/>
                <a:cs typeface="Brygada 1918 Bold" pitchFamily="34" charset="-120"/>
              </a:rPr>
              <a:t>Week 1-2 Deliverables</a:t>
            </a:r>
            <a:endParaRPr lang="en-US" sz="1300" dirty="0"/>
          </a:p>
        </p:txBody>
      </p:sp>
      <p:sp>
        <p:nvSpPr>
          <p:cNvPr id="27" name="Text 25"/>
          <p:cNvSpPr/>
          <p:nvPr/>
        </p:nvSpPr>
        <p:spPr>
          <a:xfrm>
            <a:off x="619720" y="5104805"/>
            <a:ext cx="6509504"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GCP project provisioned and configured</a:t>
            </a:r>
            <a:endParaRPr lang="en-US" sz="950" dirty="0"/>
          </a:p>
        </p:txBody>
      </p:sp>
      <p:sp>
        <p:nvSpPr>
          <p:cNvPr id="28" name="Text 26"/>
          <p:cNvSpPr/>
          <p:nvPr/>
        </p:nvSpPr>
        <p:spPr>
          <a:xfrm>
            <a:off x="619720" y="5346383"/>
            <a:ext cx="6509504"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Snowflake replication active and monitored</a:t>
            </a:r>
            <a:endParaRPr lang="en-US" sz="950" dirty="0"/>
          </a:p>
        </p:txBody>
      </p:sp>
      <p:sp>
        <p:nvSpPr>
          <p:cNvPr id="29" name="Text 27"/>
          <p:cNvSpPr/>
          <p:nvPr/>
        </p:nvSpPr>
        <p:spPr>
          <a:xfrm>
            <a:off x="619720" y="5587960"/>
            <a:ext cx="6509504"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Cross-cloud event routing operational</a:t>
            </a:r>
            <a:endParaRPr lang="en-US" sz="950" dirty="0"/>
          </a:p>
        </p:txBody>
      </p:sp>
      <p:sp>
        <p:nvSpPr>
          <p:cNvPr id="30" name="Text 28"/>
          <p:cNvSpPr/>
          <p:nvPr/>
        </p:nvSpPr>
        <p:spPr>
          <a:xfrm>
            <a:off x="619720" y="5829538"/>
            <a:ext cx="6509504"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Security and compliance frameworks deployed</a:t>
            </a:r>
            <a:endParaRPr lang="en-US" sz="950" dirty="0"/>
          </a:p>
        </p:txBody>
      </p:sp>
      <p:sp>
        <p:nvSpPr>
          <p:cNvPr id="31" name="Shape 29"/>
          <p:cNvSpPr/>
          <p:nvPr/>
        </p:nvSpPr>
        <p:spPr>
          <a:xfrm>
            <a:off x="7377113" y="4699992"/>
            <a:ext cx="6757511" cy="1451729"/>
          </a:xfrm>
          <a:prstGeom prst="roundRect">
            <a:avLst>
              <a:gd name="adj" fmla="val 1281"/>
            </a:avLst>
          </a:prstGeom>
          <a:solidFill>
            <a:srgbClr val="4D1529"/>
          </a:solidFill>
          <a:ln/>
        </p:spPr>
      </p:sp>
      <p:sp>
        <p:nvSpPr>
          <p:cNvPr id="32" name="Text 30"/>
          <p:cNvSpPr/>
          <p:nvPr/>
        </p:nvSpPr>
        <p:spPr>
          <a:xfrm>
            <a:off x="7501057" y="4823936"/>
            <a:ext cx="1758315" cy="206573"/>
          </a:xfrm>
          <a:prstGeom prst="rect">
            <a:avLst/>
          </a:prstGeom>
          <a:noFill/>
          <a:ln/>
        </p:spPr>
        <p:txBody>
          <a:bodyPr wrap="none" lIns="0" tIns="0" rIns="0" bIns="0" rtlCol="0" anchor="t"/>
          <a:lstStyle/>
          <a:p>
            <a:pPr algn="l" indent="0" marL="0">
              <a:lnSpc>
                <a:spcPts val="1600"/>
              </a:lnSpc>
              <a:buNone/>
            </a:pPr>
            <a:r>
              <a:rPr lang="en-US" sz="1300" b="1" dirty="0">
                <a:solidFill>
                  <a:srgbClr val="F4CAB8"/>
                </a:solidFill>
                <a:latin typeface="Brygada 1918 Bold" pitchFamily="34" charset="0"/>
                <a:ea typeface="Brygada 1918 Bold" pitchFamily="34" charset="-122"/>
                <a:cs typeface="Brygada 1918 Bold" pitchFamily="34" charset="-120"/>
              </a:rPr>
              <a:t>Week 3-4 Deliverables</a:t>
            </a:r>
            <a:endParaRPr lang="en-US" sz="1300" dirty="0"/>
          </a:p>
        </p:txBody>
      </p:sp>
      <p:sp>
        <p:nvSpPr>
          <p:cNvPr id="33" name="Text 31"/>
          <p:cNvSpPr/>
          <p:nvPr/>
        </p:nvSpPr>
        <p:spPr>
          <a:xfrm>
            <a:off x="7501057" y="5104805"/>
            <a:ext cx="6509623"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Document processing pipeline operational</a:t>
            </a:r>
            <a:endParaRPr lang="en-US" sz="950" dirty="0"/>
          </a:p>
        </p:txBody>
      </p:sp>
      <p:sp>
        <p:nvSpPr>
          <p:cNvPr id="34" name="Text 32"/>
          <p:cNvSpPr/>
          <p:nvPr/>
        </p:nvSpPr>
        <p:spPr>
          <a:xfrm>
            <a:off x="7501057" y="5346383"/>
            <a:ext cx="6509623"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Vertex AI Search stores configured</a:t>
            </a:r>
            <a:endParaRPr lang="en-US" sz="950" dirty="0"/>
          </a:p>
        </p:txBody>
      </p:sp>
      <p:sp>
        <p:nvSpPr>
          <p:cNvPr id="35" name="Text 33"/>
          <p:cNvSpPr/>
          <p:nvPr/>
        </p:nvSpPr>
        <p:spPr>
          <a:xfrm>
            <a:off x="7501057" y="5587960"/>
            <a:ext cx="6509623"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Tier management automation active</a:t>
            </a:r>
            <a:endParaRPr lang="en-US" sz="950" dirty="0"/>
          </a:p>
        </p:txBody>
      </p:sp>
      <p:sp>
        <p:nvSpPr>
          <p:cNvPr id="36" name="Text 34"/>
          <p:cNvSpPr/>
          <p:nvPr/>
        </p:nvSpPr>
        <p:spPr>
          <a:xfrm>
            <a:off x="7501057" y="5829538"/>
            <a:ext cx="6509623"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Processing workflow validated</a:t>
            </a:r>
            <a:endParaRPr lang="en-US" sz="950" dirty="0"/>
          </a:p>
        </p:txBody>
      </p:sp>
      <p:sp>
        <p:nvSpPr>
          <p:cNvPr id="37" name="Shape 35"/>
          <p:cNvSpPr/>
          <p:nvPr/>
        </p:nvSpPr>
        <p:spPr>
          <a:xfrm>
            <a:off x="495776" y="6275665"/>
            <a:ext cx="6757392" cy="1451729"/>
          </a:xfrm>
          <a:prstGeom prst="roundRect">
            <a:avLst>
              <a:gd name="adj" fmla="val 1281"/>
            </a:avLst>
          </a:prstGeom>
          <a:solidFill>
            <a:srgbClr val="4D1529"/>
          </a:solidFill>
          <a:ln/>
        </p:spPr>
      </p:sp>
      <p:sp>
        <p:nvSpPr>
          <p:cNvPr id="38" name="Text 36"/>
          <p:cNvSpPr/>
          <p:nvPr/>
        </p:nvSpPr>
        <p:spPr>
          <a:xfrm>
            <a:off x="619720" y="6399609"/>
            <a:ext cx="1759982" cy="206573"/>
          </a:xfrm>
          <a:prstGeom prst="rect">
            <a:avLst/>
          </a:prstGeom>
          <a:noFill/>
          <a:ln/>
        </p:spPr>
        <p:txBody>
          <a:bodyPr wrap="none" lIns="0" tIns="0" rIns="0" bIns="0" rtlCol="0" anchor="t"/>
          <a:lstStyle/>
          <a:p>
            <a:pPr algn="l" indent="0" marL="0">
              <a:lnSpc>
                <a:spcPts val="1600"/>
              </a:lnSpc>
              <a:buNone/>
            </a:pPr>
            <a:r>
              <a:rPr lang="en-US" sz="1300" b="1" dirty="0">
                <a:solidFill>
                  <a:srgbClr val="F4CAB8"/>
                </a:solidFill>
                <a:latin typeface="Brygada 1918 Bold" pitchFamily="34" charset="0"/>
                <a:ea typeface="Brygada 1918 Bold" pitchFamily="34" charset="-122"/>
                <a:cs typeface="Brygada 1918 Bold" pitchFamily="34" charset="-120"/>
              </a:rPr>
              <a:t>Week 5-6 Deliverables</a:t>
            </a:r>
            <a:endParaRPr lang="en-US" sz="1300" dirty="0"/>
          </a:p>
        </p:txBody>
      </p:sp>
      <p:sp>
        <p:nvSpPr>
          <p:cNvPr id="39" name="Text 37"/>
          <p:cNvSpPr/>
          <p:nvPr/>
        </p:nvSpPr>
        <p:spPr>
          <a:xfrm>
            <a:off x="619720" y="6680478"/>
            <a:ext cx="6509504"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Metadata layer fully operational</a:t>
            </a:r>
            <a:endParaRPr lang="en-US" sz="950" dirty="0"/>
          </a:p>
        </p:txBody>
      </p:sp>
      <p:sp>
        <p:nvSpPr>
          <p:cNvPr id="40" name="Text 38"/>
          <p:cNvSpPr/>
          <p:nvPr/>
        </p:nvSpPr>
        <p:spPr>
          <a:xfrm>
            <a:off x="619720" y="6922056"/>
            <a:ext cx="6509504"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Access automation implemented</a:t>
            </a:r>
            <a:endParaRPr lang="en-US" sz="950" dirty="0"/>
          </a:p>
        </p:txBody>
      </p:sp>
      <p:sp>
        <p:nvSpPr>
          <p:cNvPr id="41" name="Text 39"/>
          <p:cNvSpPr/>
          <p:nvPr/>
        </p:nvSpPr>
        <p:spPr>
          <a:xfrm>
            <a:off x="619720" y="7163633"/>
            <a:ext cx="6509504"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Monitoring dashboards deployed</a:t>
            </a:r>
            <a:endParaRPr lang="en-US" sz="950" dirty="0"/>
          </a:p>
        </p:txBody>
      </p:sp>
      <p:sp>
        <p:nvSpPr>
          <p:cNvPr id="42" name="Text 40"/>
          <p:cNvSpPr/>
          <p:nvPr/>
        </p:nvSpPr>
        <p:spPr>
          <a:xfrm>
            <a:off x="619720" y="7405211"/>
            <a:ext cx="6509504"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Scaling automation configured</a:t>
            </a:r>
            <a:endParaRPr lang="en-US" sz="950" dirty="0"/>
          </a:p>
        </p:txBody>
      </p:sp>
      <p:sp>
        <p:nvSpPr>
          <p:cNvPr id="43" name="Shape 41"/>
          <p:cNvSpPr/>
          <p:nvPr/>
        </p:nvSpPr>
        <p:spPr>
          <a:xfrm>
            <a:off x="7377113" y="6275665"/>
            <a:ext cx="6757511" cy="1451729"/>
          </a:xfrm>
          <a:prstGeom prst="roundRect">
            <a:avLst>
              <a:gd name="adj" fmla="val 1281"/>
            </a:avLst>
          </a:prstGeom>
          <a:solidFill>
            <a:srgbClr val="4D1529"/>
          </a:solidFill>
          <a:ln/>
        </p:spPr>
      </p:sp>
      <p:sp>
        <p:nvSpPr>
          <p:cNvPr id="44" name="Text 42"/>
          <p:cNvSpPr/>
          <p:nvPr/>
        </p:nvSpPr>
        <p:spPr>
          <a:xfrm>
            <a:off x="7501057" y="6399609"/>
            <a:ext cx="1740098" cy="206573"/>
          </a:xfrm>
          <a:prstGeom prst="rect">
            <a:avLst/>
          </a:prstGeom>
          <a:noFill/>
          <a:ln/>
        </p:spPr>
        <p:txBody>
          <a:bodyPr wrap="none" lIns="0" tIns="0" rIns="0" bIns="0" rtlCol="0" anchor="t"/>
          <a:lstStyle/>
          <a:p>
            <a:pPr algn="l" indent="0" marL="0">
              <a:lnSpc>
                <a:spcPts val="1600"/>
              </a:lnSpc>
              <a:buNone/>
            </a:pPr>
            <a:r>
              <a:rPr lang="en-US" sz="1300" b="1" dirty="0">
                <a:solidFill>
                  <a:srgbClr val="F4CAB8"/>
                </a:solidFill>
                <a:latin typeface="Brygada 1918 Bold" pitchFamily="34" charset="0"/>
                <a:ea typeface="Brygada 1918 Bold" pitchFamily="34" charset="-122"/>
                <a:cs typeface="Brygada 1918 Bold" pitchFamily="34" charset="-120"/>
              </a:rPr>
              <a:t>Week 7-8 Deliverables</a:t>
            </a:r>
            <a:endParaRPr lang="en-US" sz="1300" dirty="0"/>
          </a:p>
        </p:txBody>
      </p:sp>
      <p:sp>
        <p:nvSpPr>
          <p:cNvPr id="45" name="Text 43"/>
          <p:cNvSpPr/>
          <p:nvPr/>
        </p:nvSpPr>
        <p:spPr>
          <a:xfrm>
            <a:off x="7501057" y="6680478"/>
            <a:ext cx="6509623"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First DS team successfully onboarded</a:t>
            </a:r>
            <a:endParaRPr lang="en-US" sz="950" dirty="0"/>
          </a:p>
        </p:txBody>
      </p:sp>
      <p:sp>
        <p:nvSpPr>
          <p:cNvPr id="46" name="Text 44"/>
          <p:cNvSpPr/>
          <p:nvPr/>
        </p:nvSpPr>
        <p:spPr>
          <a:xfrm>
            <a:off x="7501057" y="6922056"/>
            <a:ext cx="6509623"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AI agent integration validated</a:t>
            </a:r>
            <a:endParaRPr lang="en-US" sz="950" dirty="0"/>
          </a:p>
        </p:txBody>
      </p:sp>
      <p:sp>
        <p:nvSpPr>
          <p:cNvPr id="47" name="Text 45"/>
          <p:cNvSpPr/>
          <p:nvPr/>
        </p:nvSpPr>
        <p:spPr>
          <a:xfrm>
            <a:off x="7501057" y="7163633"/>
            <a:ext cx="6509623"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Performance SLAs verified</a:t>
            </a:r>
            <a:endParaRPr lang="en-US" sz="950" dirty="0"/>
          </a:p>
        </p:txBody>
      </p:sp>
      <p:sp>
        <p:nvSpPr>
          <p:cNvPr id="48" name="Text 46"/>
          <p:cNvSpPr/>
          <p:nvPr/>
        </p:nvSpPr>
        <p:spPr>
          <a:xfrm>
            <a:off x="7501057" y="7405211"/>
            <a:ext cx="6509623" cy="1982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F4CAB8"/>
                </a:solidFill>
                <a:latin typeface="Montserrat Medium" pitchFamily="34" charset="0"/>
                <a:ea typeface="Montserrat Medium" pitchFamily="34" charset="-122"/>
                <a:cs typeface="Montserrat Medium" pitchFamily="34" charset="-120"/>
              </a:rPr>
              <a:t>Production readiness confirmed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72929" y="622340"/>
            <a:ext cx="6585704" cy="477441"/>
          </a:xfrm>
          <a:prstGeom prst="rect">
            <a:avLst/>
          </a:prstGeom>
          <a:noFill/>
          <a:ln/>
        </p:spPr>
        <p:txBody>
          <a:bodyPr wrap="none" lIns="0" tIns="0" rIns="0" bIns="0" rtlCol="0" anchor="t"/>
          <a:lstStyle/>
          <a:p>
            <a:pPr algn="l" indent="0" marL="0">
              <a:lnSpc>
                <a:spcPts val="3750"/>
              </a:lnSpc>
              <a:buNone/>
            </a:pPr>
            <a:r>
              <a:rPr lang="en-US" sz="3000" b="1" dirty="0">
                <a:solidFill>
                  <a:srgbClr val="FFB393"/>
                </a:solidFill>
                <a:latin typeface="Brygada 1918 Bold" pitchFamily="34" charset="0"/>
                <a:ea typeface="Brygada 1918 Bold" pitchFamily="34" charset="-122"/>
                <a:cs typeface="Brygada 1918 Bold" pitchFamily="34" charset="-120"/>
              </a:rPr>
              <a:t>Risk Mitigation and Success Factors</a:t>
            </a:r>
            <a:endParaRPr lang="en-US" sz="3000" dirty="0"/>
          </a:p>
        </p:txBody>
      </p:sp>
      <p:sp>
        <p:nvSpPr>
          <p:cNvPr id="3" name="Text 1"/>
          <p:cNvSpPr/>
          <p:nvPr/>
        </p:nvSpPr>
        <p:spPr>
          <a:xfrm>
            <a:off x="572929" y="1386245"/>
            <a:ext cx="13484543" cy="458153"/>
          </a:xfrm>
          <a:prstGeom prst="rect">
            <a:avLst/>
          </a:prstGeom>
          <a:noFill/>
          <a:ln/>
        </p:spPr>
        <p:txBody>
          <a:bodyPr wrap="square" lIns="0" tIns="0" rIns="0" bIns="0" rtlCol="0" anchor="t"/>
          <a:lstStyle/>
          <a:p>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Our implementation approach minimizes technical and operational risks through proven technologies, comprehensive monitoring, and phased rollout strategies. Critical success factors ensure sustainable platform operations and stakeholder alignment.</a:t>
            </a:r>
            <a:endParaRPr lang="en-US" sz="1100" dirty="0"/>
          </a:p>
        </p:txBody>
      </p:sp>
      <p:sp>
        <p:nvSpPr>
          <p:cNvPr id="4" name="Shape 2"/>
          <p:cNvSpPr/>
          <p:nvPr/>
        </p:nvSpPr>
        <p:spPr>
          <a:xfrm>
            <a:off x="572929" y="2005489"/>
            <a:ext cx="4399359" cy="2015966"/>
          </a:xfrm>
          <a:prstGeom prst="roundRect">
            <a:avLst>
              <a:gd name="adj" fmla="val 3629"/>
            </a:avLst>
          </a:prstGeom>
          <a:solidFill>
            <a:srgbClr val="5C2438"/>
          </a:solidFill>
          <a:ln w="15240">
            <a:solidFill>
              <a:srgbClr val="662E42"/>
            </a:solidFill>
            <a:prstDash val="solid"/>
          </a:ln>
        </p:spPr>
      </p:sp>
      <p:sp>
        <p:nvSpPr>
          <p:cNvPr id="5" name="Shape 3"/>
          <p:cNvSpPr/>
          <p:nvPr/>
        </p:nvSpPr>
        <p:spPr>
          <a:xfrm>
            <a:off x="557689" y="2005489"/>
            <a:ext cx="60960" cy="2015966"/>
          </a:xfrm>
          <a:prstGeom prst="roundRect">
            <a:avLst>
              <a:gd name="adj" fmla="val 35250"/>
            </a:avLst>
          </a:prstGeom>
          <a:solidFill>
            <a:srgbClr val="FFB393"/>
          </a:solidFill>
          <a:ln/>
        </p:spPr>
      </p:sp>
      <p:sp>
        <p:nvSpPr>
          <p:cNvPr id="6" name="Text 4"/>
          <p:cNvSpPr/>
          <p:nvPr/>
        </p:nvSpPr>
        <p:spPr>
          <a:xfrm>
            <a:off x="777121" y="2163961"/>
            <a:ext cx="2349341" cy="238720"/>
          </a:xfrm>
          <a:prstGeom prst="rect">
            <a:avLst/>
          </a:prstGeom>
          <a:noFill/>
          <a:ln/>
        </p:spPr>
        <p:txBody>
          <a:bodyPr wrap="none" lIns="0" tIns="0" rIns="0" bIns="0" rtlCol="0" anchor="t"/>
          <a:lstStyle/>
          <a:p>
            <a:pPr algn="l" indent="0" marL="0">
              <a:lnSpc>
                <a:spcPts val="1850"/>
              </a:lnSpc>
              <a:buNone/>
            </a:pPr>
            <a:r>
              <a:rPr lang="en-US" sz="1500" b="1" dirty="0">
                <a:solidFill>
                  <a:srgbClr val="F4CAB8"/>
                </a:solidFill>
                <a:latin typeface="Brygada 1918 Bold" pitchFamily="34" charset="0"/>
                <a:ea typeface="Brygada 1918 Bold" pitchFamily="34" charset="-122"/>
                <a:cs typeface="Brygada 1918 Bold" pitchFamily="34" charset="-120"/>
              </a:rPr>
              <a:t>Technical Risk Mitigation</a:t>
            </a:r>
            <a:endParaRPr lang="en-US" sz="1500" dirty="0"/>
          </a:p>
        </p:txBody>
      </p:sp>
      <p:sp>
        <p:nvSpPr>
          <p:cNvPr id="7" name="Text 5"/>
          <p:cNvSpPr/>
          <p:nvPr/>
        </p:nvSpPr>
        <p:spPr>
          <a:xfrm>
            <a:off x="777121" y="2488525"/>
            <a:ext cx="4036695" cy="1374458"/>
          </a:xfrm>
          <a:prstGeom prst="rect">
            <a:avLst/>
          </a:prstGeom>
          <a:noFill/>
          <a:ln/>
        </p:spPr>
        <p:txBody>
          <a:bodyPr wrap="square" lIns="0" tIns="0" rIns="0" bIns="0" rtlCol="0" anchor="t"/>
          <a:lstStyle/>
          <a:p>
            <a:pPr algn="l" indent="0" marL="0">
              <a:lnSpc>
                <a:spcPts val="1800"/>
              </a:lnSpc>
              <a:buNone/>
            </a:pPr>
            <a:r>
              <a:rPr lang="en-US" sz="1100" b="1" dirty="0">
                <a:solidFill>
                  <a:srgbClr val="F4CAB8"/>
                </a:solidFill>
                <a:latin typeface="Montserrat Medium" pitchFamily="34" charset="0"/>
                <a:ea typeface="Montserrat Medium" pitchFamily="34" charset="-122"/>
                <a:cs typeface="Montserrat Medium" pitchFamily="34" charset="-120"/>
              </a:rPr>
              <a:t>Proven Technology Stack:</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Leverage GA GCP services and Snowflake native features rather than custom solutions. </a:t>
            </a:r>
            <a:pPr algn="l" indent="0" marL="0">
              <a:lnSpc>
                <a:spcPts val="1800"/>
              </a:lnSpc>
              <a:buNone/>
            </a:pPr>
            <a:r>
              <a:rPr lang="en-US" sz="1100" b="1" dirty="0">
                <a:solidFill>
                  <a:srgbClr val="F4CAB8"/>
                </a:solidFill>
                <a:latin typeface="Montserrat Medium" pitchFamily="34" charset="0"/>
                <a:ea typeface="Montserrat Medium" pitchFamily="34" charset="-122"/>
                <a:cs typeface="Montserrat Medium" pitchFamily="34" charset="-120"/>
              </a:rPr>
              <a:t>Redundancy:</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Multiple data stores and automated failover capabilities. </a:t>
            </a:r>
            <a:pPr algn="l" indent="0" marL="0">
              <a:lnSpc>
                <a:spcPts val="1800"/>
              </a:lnSpc>
              <a:buNone/>
            </a:pPr>
            <a:r>
              <a:rPr lang="en-US" sz="1100" b="1" dirty="0">
                <a:solidFill>
                  <a:srgbClr val="F4CAB8"/>
                </a:solidFill>
                <a:latin typeface="Montserrat Medium" pitchFamily="34" charset="0"/>
                <a:ea typeface="Montserrat Medium" pitchFamily="34" charset="-122"/>
                <a:cs typeface="Montserrat Medium" pitchFamily="34" charset="-120"/>
              </a:rPr>
              <a:t>Monitoring:</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Comprehensive observability with proactive alerting for all critical paths.</a:t>
            </a:r>
            <a:endParaRPr lang="en-US" sz="1100" dirty="0"/>
          </a:p>
        </p:txBody>
      </p:sp>
      <p:sp>
        <p:nvSpPr>
          <p:cNvPr id="8" name="Shape 6"/>
          <p:cNvSpPr/>
          <p:nvPr/>
        </p:nvSpPr>
        <p:spPr>
          <a:xfrm>
            <a:off x="5115520" y="2005489"/>
            <a:ext cx="4399359" cy="2015966"/>
          </a:xfrm>
          <a:prstGeom prst="roundRect">
            <a:avLst>
              <a:gd name="adj" fmla="val 3629"/>
            </a:avLst>
          </a:prstGeom>
          <a:solidFill>
            <a:srgbClr val="5C2438"/>
          </a:solidFill>
          <a:ln w="15240">
            <a:solidFill>
              <a:srgbClr val="662E42"/>
            </a:solidFill>
            <a:prstDash val="solid"/>
          </a:ln>
        </p:spPr>
      </p:sp>
      <p:sp>
        <p:nvSpPr>
          <p:cNvPr id="9" name="Shape 7"/>
          <p:cNvSpPr/>
          <p:nvPr/>
        </p:nvSpPr>
        <p:spPr>
          <a:xfrm>
            <a:off x="5100280" y="2005489"/>
            <a:ext cx="60960" cy="2015966"/>
          </a:xfrm>
          <a:prstGeom prst="roundRect">
            <a:avLst>
              <a:gd name="adj" fmla="val 35250"/>
            </a:avLst>
          </a:prstGeom>
          <a:solidFill>
            <a:srgbClr val="FFB393"/>
          </a:solidFill>
          <a:ln/>
        </p:spPr>
      </p:sp>
      <p:sp>
        <p:nvSpPr>
          <p:cNvPr id="10" name="Text 8"/>
          <p:cNvSpPr/>
          <p:nvPr/>
        </p:nvSpPr>
        <p:spPr>
          <a:xfrm>
            <a:off x="5319713" y="2163961"/>
            <a:ext cx="2817138" cy="238720"/>
          </a:xfrm>
          <a:prstGeom prst="rect">
            <a:avLst/>
          </a:prstGeom>
          <a:noFill/>
          <a:ln/>
        </p:spPr>
        <p:txBody>
          <a:bodyPr wrap="none" lIns="0" tIns="0" rIns="0" bIns="0" rtlCol="0" anchor="t"/>
          <a:lstStyle/>
          <a:p>
            <a:pPr algn="l" indent="0" marL="0">
              <a:lnSpc>
                <a:spcPts val="1850"/>
              </a:lnSpc>
              <a:buNone/>
            </a:pPr>
            <a:r>
              <a:rPr lang="en-US" sz="1500" b="1" dirty="0">
                <a:solidFill>
                  <a:srgbClr val="F4CAB8"/>
                </a:solidFill>
                <a:latin typeface="Brygada 1918 Bold" pitchFamily="34" charset="0"/>
                <a:ea typeface="Brygada 1918 Bold" pitchFamily="34" charset="-122"/>
                <a:cs typeface="Brygada 1918 Bold" pitchFamily="34" charset="-120"/>
              </a:rPr>
              <a:t>Operational Risk Management</a:t>
            </a:r>
            <a:endParaRPr lang="en-US" sz="1500" dirty="0"/>
          </a:p>
        </p:txBody>
      </p:sp>
      <p:sp>
        <p:nvSpPr>
          <p:cNvPr id="11" name="Text 9"/>
          <p:cNvSpPr/>
          <p:nvPr/>
        </p:nvSpPr>
        <p:spPr>
          <a:xfrm>
            <a:off x="5319713" y="2488525"/>
            <a:ext cx="4036695" cy="1145381"/>
          </a:xfrm>
          <a:prstGeom prst="rect">
            <a:avLst/>
          </a:prstGeom>
          <a:noFill/>
          <a:ln/>
        </p:spPr>
        <p:txBody>
          <a:bodyPr wrap="square" lIns="0" tIns="0" rIns="0" bIns="0" rtlCol="0" anchor="t"/>
          <a:lstStyle/>
          <a:p>
            <a:pPr algn="l" indent="0" marL="0">
              <a:lnSpc>
                <a:spcPts val="1800"/>
              </a:lnSpc>
              <a:buNone/>
            </a:pPr>
            <a:r>
              <a:rPr lang="en-US" sz="1100" b="1" dirty="0">
                <a:solidFill>
                  <a:srgbClr val="F4CAB8"/>
                </a:solidFill>
                <a:latin typeface="Montserrat Medium" pitchFamily="34" charset="0"/>
                <a:ea typeface="Montserrat Medium" pitchFamily="34" charset="-122"/>
                <a:cs typeface="Montserrat Medium" pitchFamily="34" charset="-120"/>
              </a:rPr>
              <a:t>Automated Recovery:</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Self-healing systems for common failure modes. </a:t>
            </a:r>
            <a:pPr algn="l" indent="0" marL="0">
              <a:lnSpc>
                <a:spcPts val="1800"/>
              </a:lnSpc>
              <a:buNone/>
            </a:pPr>
            <a:r>
              <a:rPr lang="en-US" sz="1100" b="1" dirty="0">
                <a:solidFill>
                  <a:srgbClr val="F4CAB8"/>
                </a:solidFill>
                <a:latin typeface="Montserrat Medium" pitchFamily="34" charset="0"/>
                <a:ea typeface="Montserrat Medium" pitchFamily="34" charset="-122"/>
                <a:cs typeface="Montserrat Medium" pitchFamily="34" charset="-120"/>
              </a:rPr>
              <a:t>Rollback Capabilities:</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Version control and automated rollback for all infrastructure changes. </a:t>
            </a:r>
            <a:pPr algn="l" indent="0" marL="0">
              <a:lnSpc>
                <a:spcPts val="1800"/>
              </a:lnSpc>
              <a:buNone/>
            </a:pPr>
            <a:r>
              <a:rPr lang="en-US" sz="1100" b="1" dirty="0">
                <a:solidFill>
                  <a:srgbClr val="F4CAB8"/>
                </a:solidFill>
                <a:latin typeface="Montserrat Medium" pitchFamily="34" charset="0"/>
                <a:ea typeface="Montserrat Medium" pitchFamily="34" charset="-122"/>
                <a:cs typeface="Montserrat Medium" pitchFamily="34" charset="-120"/>
              </a:rPr>
              <a:t>Security Safeguards:</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Multiple approval layers for sensitive operations like deletions.</a:t>
            </a:r>
            <a:endParaRPr lang="en-US" sz="1100" dirty="0"/>
          </a:p>
        </p:txBody>
      </p:sp>
      <p:sp>
        <p:nvSpPr>
          <p:cNvPr id="12" name="Shape 10"/>
          <p:cNvSpPr/>
          <p:nvPr/>
        </p:nvSpPr>
        <p:spPr>
          <a:xfrm>
            <a:off x="9658112" y="2005489"/>
            <a:ext cx="4399359" cy="2015966"/>
          </a:xfrm>
          <a:prstGeom prst="roundRect">
            <a:avLst>
              <a:gd name="adj" fmla="val 3629"/>
            </a:avLst>
          </a:prstGeom>
          <a:solidFill>
            <a:srgbClr val="5C2438"/>
          </a:solidFill>
          <a:ln w="15240">
            <a:solidFill>
              <a:srgbClr val="662E42"/>
            </a:solidFill>
            <a:prstDash val="solid"/>
          </a:ln>
        </p:spPr>
      </p:sp>
      <p:sp>
        <p:nvSpPr>
          <p:cNvPr id="13" name="Shape 11"/>
          <p:cNvSpPr/>
          <p:nvPr/>
        </p:nvSpPr>
        <p:spPr>
          <a:xfrm>
            <a:off x="9642872" y="2005489"/>
            <a:ext cx="60960" cy="2015966"/>
          </a:xfrm>
          <a:prstGeom prst="roundRect">
            <a:avLst>
              <a:gd name="adj" fmla="val 35250"/>
            </a:avLst>
          </a:prstGeom>
          <a:solidFill>
            <a:srgbClr val="FFB393"/>
          </a:solidFill>
          <a:ln/>
        </p:spPr>
      </p:sp>
      <p:sp>
        <p:nvSpPr>
          <p:cNvPr id="14" name="Text 12"/>
          <p:cNvSpPr/>
          <p:nvPr/>
        </p:nvSpPr>
        <p:spPr>
          <a:xfrm>
            <a:off x="9862304" y="2163961"/>
            <a:ext cx="1910001" cy="238720"/>
          </a:xfrm>
          <a:prstGeom prst="rect">
            <a:avLst/>
          </a:prstGeom>
          <a:noFill/>
          <a:ln/>
        </p:spPr>
        <p:txBody>
          <a:bodyPr wrap="none" lIns="0" tIns="0" rIns="0" bIns="0" rtlCol="0" anchor="t"/>
          <a:lstStyle/>
          <a:p>
            <a:pPr algn="l" indent="0" marL="0">
              <a:lnSpc>
                <a:spcPts val="1850"/>
              </a:lnSpc>
              <a:buNone/>
            </a:pPr>
            <a:r>
              <a:rPr lang="en-US" sz="1500" b="1" dirty="0">
                <a:solidFill>
                  <a:srgbClr val="F4CAB8"/>
                </a:solidFill>
                <a:latin typeface="Brygada 1918 Bold" pitchFamily="34" charset="0"/>
                <a:ea typeface="Brygada 1918 Bold" pitchFamily="34" charset="-122"/>
                <a:cs typeface="Brygada 1918 Bold" pitchFamily="34" charset="-120"/>
              </a:rPr>
              <a:t>Scalability Planning</a:t>
            </a:r>
            <a:endParaRPr lang="en-US" sz="1500" dirty="0"/>
          </a:p>
        </p:txBody>
      </p:sp>
      <p:sp>
        <p:nvSpPr>
          <p:cNvPr id="15" name="Text 13"/>
          <p:cNvSpPr/>
          <p:nvPr/>
        </p:nvSpPr>
        <p:spPr>
          <a:xfrm>
            <a:off x="9862304" y="2488525"/>
            <a:ext cx="4036695" cy="1145381"/>
          </a:xfrm>
          <a:prstGeom prst="rect">
            <a:avLst/>
          </a:prstGeom>
          <a:noFill/>
          <a:ln/>
        </p:spPr>
        <p:txBody>
          <a:bodyPr wrap="square" lIns="0" tIns="0" rIns="0" bIns="0" rtlCol="0" anchor="t"/>
          <a:lstStyle/>
          <a:p>
            <a:pPr algn="l" indent="0" marL="0">
              <a:lnSpc>
                <a:spcPts val="1800"/>
              </a:lnSpc>
              <a:buNone/>
            </a:pPr>
            <a:r>
              <a:rPr lang="en-US" sz="1100" b="1" dirty="0">
                <a:solidFill>
                  <a:srgbClr val="F4CAB8"/>
                </a:solidFill>
                <a:latin typeface="Montserrat Medium" pitchFamily="34" charset="0"/>
                <a:ea typeface="Montserrat Medium" pitchFamily="34" charset="-122"/>
                <a:cs typeface="Montserrat Medium" pitchFamily="34" charset="-120"/>
              </a:rPr>
              <a:t>Capacity Monitoring:</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Automated scaling before performance impact. </a:t>
            </a:r>
            <a:pPr algn="l" indent="0" marL="0">
              <a:lnSpc>
                <a:spcPts val="1800"/>
              </a:lnSpc>
              <a:buNone/>
            </a:pPr>
            <a:r>
              <a:rPr lang="en-US" sz="1100" b="1" dirty="0">
                <a:solidFill>
                  <a:srgbClr val="F4CAB8"/>
                </a:solidFill>
                <a:latin typeface="Montserrat Medium" pitchFamily="34" charset="0"/>
                <a:ea typeface="Montserrat Medium" pitchFamily="34" charset="-122"/>
                <a:cs typeface="Montserrat Medium" pitchFamily="34" charset="-120"/>
              </a:rPr>
              <a:t>Load Testing:</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Validate performance under 10x expected load. </a:t>
            </a:r>
            <a:pPr algn="l" indent="0" marL="0">
              <a:lnSpc>
                <a:spcPts val="1800"/>
              </a:lnSpc>
              <a:buNone/>
            </a:pPr>
            <a:r>
              <a:rPr lang="en-US" sz="1100" b="1" dirty="0">
                <a:solidFill>
                  <a:srgbClr val="F4CAB8"/>
                </a:solidFill>
                <a:latin typeface="Montserrat Medium" pitchFamily="34" charset="0"/>
                <a:ea typeface="Montserrat Medium" pitchFamily="34" charset="-122"/>
                <a:cs typeface="Montserrat Medium" pitchFamily="34" charset="-120"/>
              </a:rPr>
              <a:t>Cost Controls:</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Automated budget alerts and resource optimization recommendations.</a:t>
            </a:r>
            <a:endParaRPr lang="en-US" sz="1100" dirty="0"/>
          </a:p>
        </p:txBody>
      </p:sp>
      <p:sp>
        <p:nvSpPr>
          <p:cNvPr id="16" name="Text 14"/>
          <p:cNvSpPr/>
          <p:nvPr/>
        </p:nvSpPr>
        <p:spPr>
          <a:xfrm>
            <a:off x="572929" y="4236244"/>
            <a:ext cx="2609493" cy="286464"/>
          </a:xfrm>
          <a:prstGeom prst="rect">
            <a:avLst/>
          </a:prstGeom>
          <a:noFill/>
          <a:ln/>
        </p:spPr>
        <p:txBody>
          <a:bodyPr wrap="none" lIns="0" tIns="0" rIns="0" bIns="0" rtlCol="0" anchor="t"/>
          <a:lstStyle/>
          <a:p>
            <a:pPr algn="l" indent="0" marL="0">
              <a:lnSpc>
                <a:spcPts val="2250"/>
              </a:lnSpc>
              <a:buNone/>
            </a:pPr>
            <a:r>
              <a:rPr lang="en-US" sz="1800" b="1" dirty="0">
                <a:solidFill>
                  <a:srgbClr val="FFB393"/>
                </a:solidFill>
                <a:latin typeface="Brygada 1918 Bold" pitchFamily="34" charset="0"/>
                <a:ea typeface="Brygada 1918 Bold" pitchFamily="34" charset="-122"/>
                <a:cs typeface="Brygada 1918 Bold" pitchFamily="34" charset="-120"/>
              </a:rPr>
              <a:t>Critical Success Factors</a:t>
            </a:r>
            <a:endParaRPr lang="en-US" sz="1800" dirty="0"/>
          </a:p>
        </p:txBody>
      </p:sp>
      <p:sp>
        <p:nvSpPr>
          <p:cNvPr id="17" name="Text 15"/>
          <p:cNvSpPr/>
          <p:nvPr/>
        </p:nvSpPr>
        <p:spPr>
          <a:xfrm>
            <a:off x="572929" y="4880729"/>
            <a:ext cx="2155269" cy="238720"/>
          </a:xfrm>
          <a:prstGeom prst="rect">
            <a:avLst/>
          </a:prstGeom>
          <a:noFill/>
          <a:ln/>
        </p:spPr>
        <p:txBody>
          <a:bodyPr wrap="none" lIns="0" tIns="0" rIns="0" bIns="0" rtlCol="0" anchor="t"/>
          <a:lstStyle/>
          <a:p>
            <a:pPr algn="l" indent="0" marL="0">
              <a:lnSpc>
                <a:spcPts val="1850"/>
              </a:lnSpc>
              <a:buNone/>
            </a:pPr>
            <a:r>
              <a:rPr lang="en-US" sz="1500" b="1" dirty="0">
                <a:solidFill>
                  <a:srgbClr val="FFB393"/>
                </a:solidFill>
                <a:latin typeface="Brygada 1918 Bold" pitchFamily="34" charset="0"/>
                <a:ea typeface="Brygada 1918 Bold" pitchFamily="34" charset="-122"/>
                <a:cs typeface="Brygada 1918 Bold" pitchFamily="34" charset="-120"/>
              </a:rPr>
              <a:t>Stakeholder Alignment</a:t>
            </a:r>
            <a:endParaRPr lang="en-US" sz="1500" dirty="0"/>
          </a:p>
        </p:txBody>
      </p:sp>
      <p:sp>
        <p:nvSpPr>
          <p:cNvPr id="18" name="Text 16"/>
          <p:cNvSpPr/>
          <p:nvPr/>
        </p:nvSpPr>
        <p:spPr>
          <a:xfrm>
            <a:off x="572929" y="5262682"/>
            <a:ext cx="6567607" cy="458153"/>
          </a:xfrm>
          <a:prstGeom prst="rect">
            <a:avLst/>
          </a:prstGeom>
          <a:noFill/>
          <a:ln/>
        </p:spPr>
        <p:txBody>
          <a:bodyPr wrap="square" lIns="0" tIns="0" rIns="0" bIns="0" rtlCol="0" anchor="t"/>
          <a:lstStyle/>
          <a:p>
            <a:pPr algn="l" marL="342900" indent="-342900">
              <a:lnSpc>
                <a:spcPts val="1800"/>
              </a:lnSpc>
              <a:buSzPct val="100000"/>
              <a:buChar char="•"/>
            </a:pPr>
            <a:r>
              <a:rPr lang="en-US" sz="1100" b="1" dirty="0">
                <a:solidFill>
                  <a:srgbClr val="F4CAB8"/>
                </a:solidFill>
                <a:latin typeface="Montserrat Medium" pitchFamily="34" charset="0"/>
                <a:ea typeface="Montserrat Medium" pitchFamily="34" charset="-122"/>
                <a:cs typeface="Montserrat Medium" pitchFamily="34" charset="-120"/>
              </a:rPr>
              <a:t>Platform Team:</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Resource commitment for infrastructure provisioning and ongoing support</a:t>
            </a:r>
            <a:endParaRPr lang="en-US" sz="1100" dirty="0"/>
          </a:p>
        </p:txBody>
      </p:sp>
      <p:sp>
        <p:nvSpPr>
          <p:cNvPr id="19" name="Text 17"/>
          <p:cNvSpPr/>
          <p:nvPr/>
        </p:nvSpPr>
        <p:spPr>
          <a:xfrm>
            <a:off x="572929" y="5770959"/>
            <a:ext cx="6567607"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F4CAB8"/>
                </a:solidFill>
                <a:latin typeface="Montserrat Medium" pitchFamily="34" charset="0"/>
                <a:ea typeface="Montserrat Medium" pitchFamily="34" charset="-122"/>
                <a:cs typeface="Montserrat Medium" pitchFamily="34" charset="-120"/>
              </a:rPr>
              <a:t>CIO Partnership:</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S3 event routing configuration and document governance alignment</a:t>
            </a:r>
            <a:endParaRPr lang="en-US" sz="1100" dirty="0"/>
          </a:p>
        </p:txBody>
      </p:sp>
      <p:sp>
        <p:nvSpPr>
          <p:cNvPr id="20" name="Text 18"/>
          <p:cNvSpPr/>
          <p:nvPr/>
        </p:nvSpPr>
        <p:spPr>
          <a:xfrm>
            <a:off x="572929" y="6050161"/>
            <a:ext cx="6567607"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F4CAB8"/>
                </a:solidFill>
                <a:latin typeface="Montserrat Medium" pitchFamily="34" charset="0"/>
                <a:ea typeface="Montserrat Medium" pitchFamily="34" charset="-122"/>
                <a:cs typeface="Montserrat Medium" pitchFamily="34" charset="-120"/>
              </a:rPr>
              <a:t>DS Team Engagement:</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Early adopter commitment for pilot validation and feedback</a:t>
            </a:r>
            <a:endParaRPr lang="en-US" sz="1100" dirty="0"/>
          </a:p>
        </p:txBody>
      </p:sp>
      <p:sp>
        <p:nvSpPr>
          <p:cNvPr id="21" name="Text 19"/>
          <p:cNvSpPr/>
          <p:nvPr/>
        </p:nvSpPr>
        <p:spPr>
          <a:xfrm>
            <a:off x="572929" y="6329363"/>
            <a:ext cx="6567607"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F4CAB8"/>
                </a:solidFill>
                <a:latin typeface="Montserrat Medium" pitchFamily="34" charset="0"/>
                <a:ea typeface="Montserrat Medium" pitchFamily="34" charset="-122"/>
                <a:cs typeface="Montserrat Medium" pitchFamily="34" charset="-120"/>
              </a:rPr>
              <a:t>Security Approval:</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IAM delegation model and cross-cloud data flow approval</a:t>
            </a:r>
            <a:endParaRPr lang="en-US" sz="1100" dirty="0"/>
          </a:p>
        </p:txBody>
      </p:sp>
      <p:sp>
        <p:nvSpPr>
          <p:cNvPr id="22" name="Text 20"/>
          <p:cNvSpPr/>
          <p:nvPr/>
        </p:nvSpPr>
        <p:spPr>
          <a:xfrm>
            <a:off x="7497485" y="4880729"/>
            <a:ext cx="2089547" cy="238720"/>
          </a:xfrm>
          <a:prstGeom prst="rect">
            <a:avLst/>
          </a:prstGeom>
          <a:noFill/>
          <a:ln/>
        </p:spPr>
        <p:txBody>
          <a:bodyPr wrap="none" lIns="0" tIns="0" rIns="0" bIns="0" rtlCol="0" anchor="t"/>
          <a:lstStyle/>
          <a:p>
            <a:pPr algn="l" indent="0" marL="0">
              <a:lnSpc>
                <a:spcPts val="1850"/>
              </a:lnSpc>
              <a:buNone/>
            </a:pPr>
            <a:r>
              <a:rPr lang="en-US" sz="1500" b="1" dirty="0">
                <a:solidFill>
                  <a:srgbClr val="FFB393"/>
                </a:solidFill>
                <a:latin typeface="Brygada 1918 Bold" pitchFamily="34" charset="0"/>
                <a:ea typeface="Brygada 1918 Bold" pitchFamily="34" charset="-122"/>
                <a:cs typeface="Brygada 1918 Bold" pitchFamily="34" charset="-120"/>
              </a:rPr>
              <a:t>Operational Readiness</a:t>
            </a:r>
            <a:endParaRPr lang="en-US" sz="1500" dirty="0"/>
          </a:p>
        </p:txBody>
      </p:sp>
      <p:sp>
        <p:nvSpPr>
          <p:cNvPr id="23" name="Text 21"/>
          <p:cNvSpPr/>
          <p:nvPr/>
        </p:nvSpPr>
        <p:spPr>
          <a:xfrm>
            <a:off x="7497485" y="5262682"/>
            <a:ext cx="6567607"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F4CAB8"/>
                </a:solidFill>
                <a:latin typeface="Montserrat Medium" pitchFamily="34" charset="0"/>
                <a:ea typeface="Montserrat Medium" pitchFamily="34" charset="-122"/>
                <a:cs typeface="Montserrat Medium" pitchFamily="34" charset="-120"/>
              </a:rPr>
              <a:t>Monitoring Systems:</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Complete observability across all platform components</a:t>
            </a:r>
            <a:endParaRPr lang="en-US" sz="1100" dirty="0"/>
          </a:p>
        </p:txBody>
      </p:sp>
      <p:sp>
        <p:nvSpPr>
          <p:cNvPr id="24" name="Text 22"/>
          <p:cNvSpPr/>
          <p:nvPr/>
        </p:nvSpPr>
        <p:spPr>
          <a:xfrm>
            <a:off x="7497485" y="5541883"/>
            <a:ext cx="6567607"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F4CAB8"/>
                </a:solidFill>
                <a:latin typeface="Montserrat Medium" pitchFamily="34" charset="0"/>
                <a:ea typeface="Montserrat Medium" pitchFamily="34" charset="-122"/>
                <a:cs typeface="Montserrat Medium" pitchFamily="34" charset="-120"/>
              </a:rPr>
              <a:t>Incident Response:</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Clear escalation paths and automated recovery procedures</a:t>
            </a:r>
            <a:endParaRPr lang="en-US" sz="1100" dirty="0"/>
          </a:p>
        </p:txBody>
      </p:sp>
      <p:sp>
        <p:nvSpPr>
          <p:cNvPr id="25" name="Text 23"/>
          <p:cNvSpPr/>
          <p:nvPr/>
        </p:nvSpPr>
        <p:spPr>
          <a:xfrm>
            <a:off x="7497485" y="5821085"/>
            <a:ext cx="6567607"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F4CAB8"/>
                </a:solidFill>
                <a:latin typeface="Montserrat Medium" pitchFamily="34" charset="0"/>
                <a:ea typeface="Montserrat Medium" pitchFamily="34" charset="-122"/>
                <a:cs typeface="Montserrat Medium" pitchFamily="34" charset="-120"/>
              </a:rPr>
              <a:t>Documentation:</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Comprehensive operational runbooks and troubleshooting guides</a:t>
            </a:r>
            <a:endParaRPr lang="en-US" sz="1100" dirty="0"/>
          </a:p>
        </p:txBody>
      </p:sp>
      <p:sp>
        <p:nvSpPr>
          <p:cNvPr id="26" name="Text 24"/>
          <p:cNvSpPr/>
          <p:nvPr/>
        </p:nvSpPr>
        <p:spPr>
          <a:xfrm>
            <a:off x="7497485" y="6100286"/>
            <a:ext cx="6567607"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F4CAB8"/>
                </a:solidFill>
                <a:latin typeface="Montserrat Medium" pitchFamily="34" charset="0"/>
                <a:ea typeface="Montserrat Medium" pitchFamily="34" charset="-122"/>
                <a:cs typeface="Montserrat Medium" pitchFamily="34" charset="-120"/>
              </a:rPr>
              <a:t>Training:</a:t>
            </a:r>
            <a:pPr algn="l" indent="0" marL="0">
              <a:lnSpc>
                <a:spcPts val="1800"/>
              </a:lnSpc>
              <a:buNone/>
            </a:pPr>
            <a:r>
              <a:rPr lang="en-US" sz="1100" dirty="0">
                <a:solidFill>
                  <a:srgbClr val="F4CAB8"/>
                </a:solidFill>
                <a:latin typeface="Montserrat Medium" pitchFamily="34" charset="0"/>
                <a:ea typeface="Montserrat Medium" pitchFamily="34" charset="-122"/>
                <a:cs typeface="Montserrat Medium" pitchFamily="34" charset="-120"/>
              </a:rPr>
              <a:t> Platform team knowledge transfer for ongoing maintenance</a:t>
            </a:r>
            <a:endParaRPr lang="en-US" sz="1100" dirty="0"/>
          </a:p>
        </p:txBody>
      </p:sp>
      <p:sp>
        <p:nvSpPr>
          <p:cNvPr id="27" name="Shape 25"/>
          <p:cNvSpPr/>
          <p:nvPr/>
        </p:nvSpPr>
        <p:spPr>
          <a:xfrm>
            <a:off x="572929" y="6769656"/>
            <a:ext cx="13484543" cy="837486"/>
          </a:xfrm>
          <a:prstGeom prst="roundRect">
            <a:avLst>
              <a:gd name="adj" fmla="val 2566"/>
            </a:avLst>
          </a:prstGeom>
          <a:solidFill>
            <a:srgbClr val="4D1700"/>
          </a:solidFill>
          <a:ln/>
        </p:spPr>
      </p:sp>
      <p:pic>
        <p:nvPicPr>
          <p:cNvPr id="28" name="Image 0" descr="preencoded.png">    </p:cNvPr>
          <p:cNvPicPr>
            <a:picLocks noChangeAspect="1"/>
          </p:cNvPicPr>
          <p:nvPr/>
        </p:nvPicPr>
        <p:blipFill>
          <a:blip r:embed="rId1"/>
          <a:stretch>
            <a:fillRect/>
          </a:stretch>
        </p:blipFill>
        <p:spPr>
          <a:xfrm>
            <a:off x="716161" y="6983254"/>
            <a:ext cx="178951" cy="143232"/>
          </a:xfrm>
          <a:prstGeom prst="rect">
            <a:avLst/>
          </a:prstGeom>
        </p:spPr>
      </p:pic>
      <p:sp>
        <p:nvSpPr>
          <p:cNvPr id="29" name="Text 26"/>
          <p:cNvSpPr/>
          <p:nvPr/>
        </p:nvSpPr>
        <p:spPr>
          <a:xfrm>
            <a:off x="1038344" y="6948607"/>
            <a:ext cx="12875895" cy="458153"/>
          </a:xfrm>
          <a:prstGeom prst="rect">
            <a:avLst/>
          </a:prstGeom>
          <a:noFill/>
          <a:ln/>
        </p:spPr>
        <p:txBody>
          <a:bodyPr wrap="square" lIns="0" tIns="0" rIns="0" bIns="0" rtlCol="0" anchor="t"/>
          <a:lstStyle/>
          <a:p>
            <a:pPr algn="l" indent="0" marL="0">
              <a:lnSpc>
                <a:spcPts val="1800"/>
              </a:lnSpc>
              <a:buNone/>
            </a:pPr>
            <a:r>
              <a:rPr lang="en-US" sz="1100" b="1" dirty="0">
                <a:solidFill>
                  <a:srgbClr val="FFB393"/>
                </a:solidFill>
                <a:latin typeface="Montserrat Medium" pitchFamily="34" charset="0"/>
                <a:ea typeface="Montserrat Medium" pitchFamily="34" charset="-122"/>
                <a:cs typeface="Montserrat Medium" pitchFamily="34" charset="-120"/>
              </a:rPr>
              <a:t>Risk Assessment:</a:t>
            </a:r>
            <a:pPr algn="l" indent="0" marL="0">
              <a:lnSpc>
                <a:spcPts val="1800"/>
              </a:lnSpc>
              <a:buNone/>
            </a:pPr>
            <a:r>
              <a:rPr lang="en-US" sz="1100" dirty="0">
                <a:solidFill>
                  <a:srgbClr val="FFFFFF"/>
                </a:solidFill>
                <a:latin typeface="Montserrat Medium" pitchFamily="34" charset="0"/>
                <a:ea typeface="Montserrat Medium" pitchFamily="34" charset="-122"/>
                <a:cs typeface="Montserrat Medium" pitchFamily="34" charset="-120"/>
              </a:rPr>
              <a:t> Low technical risk due to proven components. Primary risks center on stakeholder coordination and resource allocation rather than technical implementation challenges.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43865" y="659844"/>
            <a:ext cx="4384596" cy="369927"/>
          </a:xfrm>
          <a:prstGeom prst="rect">
            <a:avLst/>
          </a:prstGeom>
          <a:noFill/>
          <a:ln/>
        </p:spPr>
        <p:txBody>
          <a:bodyPr wrap="none" lIns="0" tIns="0" rIns="0" bIns="0" rtlCol="0" anchor="t"/>
          <a:lstStyle/>
          <a:p>
            <a:pPr algn="l" indent="0" marL="0">
              <a:lnSpc>
                <a:spcPts val="2900"/>
              </a:lnSpc>
              <a:buNone/>
            </a:pPr>
            <a:r>
              <a:rPr lang="en-US" sz="2300" b="1" dirty="0">
                <a:solidFill>
                  <a:srgbClr val="FFB393"/>
                </a:solidFill>
                <a:latin typeface="Brygada 1918 Bold" pitchFamily="34" charset="0"/>
                <a:ea typeface="Brygada 1918 Bold" pitchFamily="34" charset="-122"/>
                <a:cs typeface="Brygada 1918 Bold" pitchFamily="34" charset="-120"/>
              </a:rPr>
              <a:t>Next Steps and Decision Points</a:t>
            </a:r>
            <a:endParaRPr lang="en-US" sz="2300" dirty="0"/>
          </a:p>
        </p:txBody>
      </p:sp>
      <p:sp>
        <p:nvSpPr>
          <p:cNvPr id="3" name="Text 1"/>
          <p:cNvSpPr/>
          <p:nvPr/>
        </p:nvSpPr>
        <p:spPr>
          <a:xfrm>
            <a:off x="443865" y="1251704"/>
            <a:ext cx="13742670" cy="177522"/>
          </a:xfrm>
          <a:prstGeom prst="rect">
            <a:avLst/>
          </a:prstGeom>
          <a:noFill/>
          <a:ln/>
        </p:spPr>
        <p:txBody>
          <a:bodyPr wrap="none" lIns="0" tIns="0" rIns="0" bIns="0" rtlCol="0" anchor="t"/>
          <a:lstStyle/>
          <a:p>
            <a:pPr algn="l"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Immediate action required to maintain 8-week delivery timeline. Critical decisions and resource commitments must be finalized to begin infrastructure provisioning and stakeholder coordination activities.</a:t>
            </a:r>
            <a:endParaRPr lang="en-US" sz="850" dirty="0"/>
          </a:p>
        </p:txBody>
      </p:sp>
      <p:pic>
        <p:nvPicPr>
          <p:cNvPr id="4" name="Image 0" descr="preencoded.png">    </p:cNvPr>
          <p:cNvPicPr>
            <a:picLocks noChangeAspect="1"/>
          </p:cNvPicPr>
          <p:nvPr/>
        </p:nvPicPr>
        <p:blipFill>
          <a:blip r:embed="rId1"/>
          <a:stretch>
            <a:fillRect/>
          </a:stretch>
        </p:blipFill>
        <p:spPr>
          <a:xfrm>
            <a:off x="443865" y="1554004"/>
            <a:ext cx="4580811" cy="443865"/>
          </a:xfrm>
          <a:prstGeom prst="rect">
            <a:avLst/>
          </a:prstGeom>
        </p:spPr>
      </p:pic>
      <p:sp>
        <p:nvSpPr>
          <p:cNvPr id="5" name="Text 2"/>
          <p:cNvSpPr/>
          <p:nvPr/>
        </p:nvSpPr>
        <p:spPr>
          <a:xfrm>
            <a:off x="554831" y="2108835"/>
            <a:ext cx="2217777" cy="184904"/>
          </a:xfrm>
          <a:prstGeom prst="rect">
            <a:avLst/>
          </a:prstGeom>
          <a:noFill/>
          <a:ln/>
        </p:spPr>
        <p:txBody>
          <a:bodyPr wrap="none" lIns="0" tIns="0" rIns="0" bIns="0" rtlCol="0" anchor="t"/>
          <a:lstStyle/>
          <a:p>
            <a:pPr algn="l" indent="0" marL="0">
              <a:lnSpc>
                <a:spcPts val="1450"/>
              </a:lnSpc>
              <a:buNone/>
            </a:pPr>
            <a:r>
              <a:rPr lang="en-US" sz="1150" b="1" dirty="0">
                <a:solidFill>
                  <a:srgbClr val="F4CAB8"/>
                </a:solidFill>
                <a:latin typeface="Brygada 1918 Bold" pitchFamily="34" charset="0"/>
                <a:ea typeface="Brygada 1918 Bold" pitchFamily="34" charset="-122"/>
                <a:cs typeface="Brygada 1918 Bold" pitchFamily="34" charset="-120"/>
              </a:rPr>
              <a:t>Team &amp; Resource Commitment</a:t>
            </a:r>
            <a:endParaRPr lang="en-US" sz="1150" dirty="0"/>
          </a:p>
        </p:txBody>
      </p:sp>
      <p:sp>
        <p:nvSpPr>
          <p:cNvPr id="6" name="Text 3"/>
          <p:cNvSpPr/>
          <p:nvPr/>
        </p:nvSpPr>
        <p:spPr>
          <a:xfrm>
            <a:off x="554831" y="2360295"/>
            <a:ext cx="4358878" cy="355044"/>
          </a:xfrm>
          <a:prstGeom prst="rect">
            <a:avLst/>
          </a:prstGeom>
          <a:noFill/>
          <a:ln/>
        </p:spPr>
        <p:txBody>
          <a:bodyPr wrap="square" lIns="0" tIns="0" rIns="0" bIns="0" rtlCol="0" anchor="t"/>
          <a:lstStyle/>
          <a:p>
            <a:pPr algn="l"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Finalize dedicated team assignments and budget approvals for 8-week implementation timeline</a:t>
            </a:r>
            <a:endParaRPr lang="en-US" sz="850" dirty="0"/>
          </a:p>
        </p:txBody>
      </p:sp>
      <p:pic>
        <p:nvPicPr>
          <p:cNvPr id="7" name="Image 1" descr="preencoded.png">    </p:cNvPr>
          <p:cNvPicPr>
            <a:picLocks noChangeAspect="1"/>
          </p:cNvPicPr>
          <p:nvPr/>
        </p:nvPicPr>
        <p:blipFill>
          <a:blip r:embed="rId2"/>
          <a:stretch>
            <a:fillRect/>
          </a:stretch>
        </p:blipFill>
        <p:spPr>
          <a:xfrm>
            <a:off x="5024676" y="1554004"/>
            <a:ext cx="4580930" cy="443865"/>
          </a:xfrm>
          <a:prstGeom prst="rect">
            <a:avLst/>
          </a:prstGeom>
        </p:spPr>
      </p:pic>
      <p:sp>
        <p:nvSpPr>
          <p:cNvPr id="8" name="Text 4"/>
          <p:cNvSpPr/>
          <p:nvPr/>
        </p:nvSpPr>
        <p:spPr>
          <a:xfrm>
            <a:off x="5135642" y="2108835"/>
            <a:ext cx="1964888" cy="184904"/>
          </a:xfrm>
          <a:prstGeom prst="rect">
            <a:avLst/>
          </a:prstGeom>
          <a:noFill/>
          <a:ln/>
        </p:spPr>
        <p:txBody>
          <a:bodyPr wrap="none" lIns="0" tIns="0" rIns="0" bIns="0" rtlCol="0" anchor="t"/>
          <a:lstStyle/>
          <a:p>
            <a:pPr algn="l" indent="0" marL="0">
              <a:lnSpc>
                <a:spcPts val="1450"/>
              </a:lnSpc>
              <a:buNone/>
            </a:pPr>
            <a:r>
              <a:rPr lang="en-US" sz="1150" b="1" dirty="0">
                <a:solidFill>
                  <a:srgbClr val="F4CAB8"/>
                </a:solidFill>
                <a:latin typeface="Brygada 1918 Bold" pitchFamily="34" charset="0"/>
                <a:ea typeface="Brygada 1918 Bold" pitchFamily="34" charset="-122"/>
                <a:cs typeface="Brygada 1918 Bold" pitchFamily="34" charset="-120"/>
              </a:rPr>
              <a:t>Infrastructure Provisioning</a:t>
            </a:r>
            <a:endParaRPr lang="en-US" sz="1150" dirty="0"/>
          </a:p>
        </p:txBody>
      </p:sp>
      <p:sp>
        <p:nvSpPr>
          <p:cNvPr id="9" name="Text 5"/>
          <p:cNvSpPr/>
          <p:nvPr/>
        </p:nvSpPr>
        <p:spPr>
          <a:xfrm>
            <a:off x="5135642" y="2360295"/>
            <a:ext cx="4358997" cy="355044"/>
          </a:xfrm>
          <a:prstGeom prst="rect">
            <a:avLst/>
          </a:prstGeom>
          <a:noFill/>
          <a:ln/>
        </p:spPr>
        <p:txBody>
          <a:bodyPr wrap="square" lIns="0" tIns="0" rIns="0" bIns="0" rtlCol="0" anchor="t"/>
          <a:lstStyle/>
          <a:p>
            <a:pPr algn="l"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Begin Week 1 GCP project setup and Snowflake replication configuration immediately</a:t>
            </a:r>
            <a:endParaRPr lang="en-US" sz="850" dirty="0"/>
          </a:p>
        </p:txBody>
      </p:sp>
      <p:pic>
        <p:nvPicPr>
          <p:cNvPr id="10" name="Image 2" descr="preencoded.png">    </p:cNvPr>
          <p:cNvPicPr>
            <a:picLocks noChangeAspect="1"/>
          </p:cNvPicPr>
          <p:nvPr/>
        </p:nvPicPr>
        <p:blipFill>
          <a:blip r:embed="rId3"/>
          <a:stretch>
            <a:fillRect/>
          </a:stretch>
        </p:blipFill>
        <p:spPr>
          <a:xfrm>
            <a:off x="9605605" y="1554004"/>
            <a:ext cx="4580811" cy="443865"/>
          </a:xfrm>
          <a:prstGeom prst="rect">
            <a:avLst/>
          </a:prstGeom>
        </p:spPr>
      </p:pic>
      <p:sp>
        <p:nvSpPr>
          <p:cNvPr id="11" name="Text 6"/>
          <p:cNvSpPr/>
          <p:nvPr/>
        </p:nvSpPr>
        <p:spPr>
          <a:xfrm>
            <a:off x="9716572" y="2108835"/>
            <a:ext cx="1839516" cy="184904"/>
          </a:xfrm>
          <a:prstGeom prst="rect">
            <a:avLst/>
          </a:prstGeom>
          <a:noFill/>
          <a:ln/>
        </p:spPr>
        <p:txBody>
          <a:bodyPr wrap="none" lIns="0" tIns="0" rIns="0" bIns="0" rtlCol="0" anchor="t"/>
          <a:lstStyle/>
          <a:p>
            <a:pPr algn="l" indent="0" marL="0">
              <a:lnSpc>
                <a:spcPts val="1450"/>
              </a:lnSpc>
              <a:buNone/>
            </a:pPr>
            <a:r>
              <a:rPr lang="en-US" sz="1150" b="1" dirty="0">
                <a:solidFill>
                  <a:srgbClr val="F4CAB8"/>
                </a:solidFill>
                <a:latin typeface="Brygada 1918 Bold" pitchFamily="34" charset="0"/>
                <a:ea typeface="Brygada 1918 Bold" pitchFamily="34" charset="-122"/>
                <a:cs typeface="Brygada 1918 Bold" pitchFamily="34" charset="-120"/>
              </a:rPr>
              <a:t>Stakeholder Partnerships</a:t>
            </a:r>
            <a:endParaRPr lang="en-US" sz="1150" dirty="0"/>
          </a:p>
        </p:txBody>
      </p:sp>
      <p:sp>
        <p:nvSpPr>
          <p:cNvPr id="12" name="Text 7"/>
          <p:cNvSpPr/>
          <p:nvPr/>
        </p:nvSpPr>
        <p:spPr>
          <a:xfrm>
            <a:off x="9716572" y="2360295"/>
            <a:ext cx="4358878" cy="355044"/>
          </a:xfrm>
          <a:prstGeom prst="rect">
            <a:avLst/>
          </a:prstGeom>
          <a:noFill/>
          <a:ln/>
        </p:spPr>
        <p:txBody>
          <a:bodyPr wrap="square" lIns="0" tIns="0" rIns="0" bIns="0" rtlCol="0" anchor="t"/>
          <a:lstStyle/>
          <a:p>
            <a:pPr algn="l"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Establish formal partnerships with CIO and Platform teams for ongoing collaboration</a:t>
            </a:r>
            <a:endParaRPr lang="en-US" sz="850" dirty="0"/>
          </a:p>
        </p:txBody>
      </p:sp>
      <p:sp>
        <p:nvSpPr>
          <p:cNvPr id="13" name="Text 8"/>
          <p:cNvSpPr/>
          <p:nvPr/>
        </p:nvSpPr>
        <p:spPr>
          <a:xfrm>
            <a:off x="443865" y="2992755"/>
            <a:ext cx="3417213" cy="221813"/>
          </a:xfrm>
          <a:prstGeom prst="rect">
            <a:avLst/>
          </a:prstGeom>
          <a:noFill/>
          <a:ln/>
        </p:spPr>
        <p:txBody>
          <a:bodyPr wrap="none" lIns="0" tIns="0" rIns="0" bIns="0" rtlCol="0" anchor="t"/>
          <a:lstStyle/>
          <a:p>
            <a:pPr algn="l" indent="0" marL="0">
              <a:lnSpc>
                <a:spcPts val="1700"/>
              </a:lnSpc>
              <a:buNone/>
            </a:pPr>
            <a:r>
              <a:rPr lang="en-US" sz="1350" b="1" dirty="0">
                <a:solidFill>
                  <a:srgbClr val="FFB393"/>
                </a:solidFill>
                <a:latin typeface="Brygada 1918 Bold" pitchFamily="34" charset="0"/>
                <a:ea typeface="Brygada 1918 Bold" pitchFamily="34" charset="-122"/>
                <a:cs typeface="Brygada 1918 Bold" pitchFamily="34" charset="-120"/>
              </a:rPr>
              <a:t>Immediate Action Items (Next 48 Hours)</a:t>
            </a:r>
            <a:endParaRPr lang="en-US" sz="1350" dirty="0"/>
          </a:p>
        </p:txBody>
      </p:sp>
      <p:sp>
        <p:nvSpPr>
          <p:cNvPr id="14" name="Shape 9"/>
          <p:cNvSpPr/>
          <p:nvPr/>
        </p:nvSpPr>
        <p:spPr>
          <a:xfrm>
            <a:off x="443865" y="3381018"/>
            <a:ext cx="249674" cy="249674"/>
          </a:xfrm>
          <a:prstGeom prst="roundRect">
            <a:avLst>
              <a:gd name="adj" fmla="val 6667"/>
            </a:avLst>
          </a:prstGeom>
          <a:solidFill>
            <a:srgbClr val="4D1529"/>
          </a:solidFill>
          <a:ln/>
        </p:spPr>
      </p:sp>
      <p:sp>
        <p:nvSpPr>
          <p:cNvPr id="15" name="Text 10"/>
          <p:cNvSpPr/>
          <p:nvPr/>
        </p:nvSpPr>
        <p:spPr>
          <a:xfrm>
            <a:off x="479881" y="3394829"/>
            <a:ext cx="177522" cy="221933"/>
          </a:xfrm>
          <a:prstGeom prst="rect">
            <a:avLst/>
          </a:prstGeom>
          <a:noFill/>
          <a:ln/>
        </p:spPr>
        <p:txBody>
          <a:bodyPr wrap="none" lIns="0" tIns="0" rIns="0" bIns="0" rtlCol="0" anchor="t"/>
          <a:lstStyle/>
          <a:p>
            <a:pPr algn="ctr" indent="0" marL="0">
              <a:lnSpc>
                <a:spcPts val="1350"/>
              </a:lnSpc>
              <a:buNone/>
            </a:pPr>
            <a:r>
              <a:rPr lang="en-US" sz="1350" b="1" dirty="0">
                <a:solidFill>
                  <a:srgbClr val="F4CAB8"/>
                </a:solidFill>
                <a:latin typeface="Brygada 1918 Bold" pitchFamily="34" charset="0"/>
                <a:ea typeface="Brygada 1918 Bold" pitchFamily="34" charset="-122"/>
                <a:cs typeface="Brygada 1918 Bold" pitchFamily="34" charset="-120"/>
              </a:rPr>
              <a:t>1</a:t>
            </a:r>
            <a:endParaRPr lang="en-US" sz="1350" dirty="0"/>
          </a:p>
        </p:txBody>
      </p:sp>
      <p:sp>
        <p:nvSpPr>
          <p:cNvPr id="16" name="Text 11"/>
          <p:cNvSpPr/>
          <p:nvPr/>
        </p:nvSpPr>
        <p:spPr>
          <a:xfrm>
            <a:off x="804505" y="3419118"/>
            <a:ext cx="1479590" cy="184904"/>
          </a:xfrm>
          <a:prstGeom prst="rect">
            <a:avLst/>
          </a:prstGeom>
          <a:noFill/>
          <a:ln/>
        </p:spPr>
        <p:txBody>
          <a:bodyPr wrap="none" lIns="0" tIns="0" rIns="0" bIns="0" rtlCol="0" anchor="t"/>
          <a:lstStyle/>
          <a:p>
            <a:pPr algn="l" indent="0" marL="0">
              <a:lnSpc>
                <a:spcPts val="1450"/>
              </a:lnSpc>
              <a:buNone/>
            </a:pPr>
            <a:r>
              <a:rPr lang="en-US" sz="1150" b="1" dirty="0">
                <a:solidFill>
                  <a:srgbClr val="F4CAB8"/>
                </a:solidFill>
                <a:latin typeface="Brygada 1918 Bold" pitchFamily="34" charset="0"/>
                <a:ea typeface="Brygada 1918 Bold" pitchFamily="34" charset="-122"/>
                <a:cs typeface="Brygada 1918 Bold" pitchFamily="34" charset="-120"/>
              </a:rPr>
              <a:t>Executive Approval</a:t>
            </a:r>
            <a:endParaRPr lang="en-US" sz="1150" dirty="0"/>
          </a:p>
        </p:txBody>
      </p:sp>
      <p:sp>
        <p:nvSpPr>
          <p:cNvPr id="17" name="Text 12"/>
          <p:cNvSpPr/>
          <p:nvPr/>
        </p:nvSpPr>
        <p:spPr>
          <a:xfrm>
            <a:off x="804505" y="3670578"/>
            <a:ext cx="4127778" cy="532567"/>
          </a:xfrm>
          <a:prstGeom prst="rect">
            <a:avLst/>
          </a:prstGeom>
          <a:noFill/>
          <a:ln/>
        </p:spPr>
        <p:txBody>
          <a:bodyPr wrap="square" lIns="0" tIns="0" rIns="0" bIns="0" rtlCol="0" anchor="t"/>
          <a:lstStyle/>
          <a:p>
            <a:pPr algn="l"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Secure final budget approval and resource allocation for 8-week implementation. Confirm dedicated team members and their availability for full-time assignment to platform development.</a:t>
            </a:r>
            <a:endParaRPr lang="en-US" sz="850" dirty="0"/>
          </a:p>
        </p:txBody>
      </p:sp>
      <p:sp>
        <p:nvSpPr>
          <p:cNvPr id="18" name="Shape 13"/>
          <p:cNvSpPr/>
          <p:nvPr/>
        </p:nvSpPr>
        <p:spPr>
          <a:xfrm>
            <a:off x="5070991" y="3381018"/>
            <a:ext cx="249674" cy="249674"/>
          </a:xfrm>
          <a:prstGeom prst="roundRect">
            <a:avLst>
              <a:gd name="adj" fmla="val 6667"/>
            </a:avLst>
          </a:prstGeom>
          <a:solidFill>
            <a:srgbClr val="4D1529"/>
          </a:solidFill>
          <a:ln/>
        </p:spPr>
      </p:sp>
      <p:sp>
        <p:nvSpPr>
          <p:cNvPr id="19" name="Text 14"/>
          <p:cNvSpPr/>
          <p:nvPr/>
        </p:nvSpPr>
        <p:spPr>
          <a:xfrm>
            <a:off x="5107007" y="3394829"/>
            <a:ext cx="177522" cy="221933"/>
          </a:xfrm>
          <a:prstGeom prst="rect">
            <a:avLst/>
          </a:prstGeom>
          <a:noFill/>
          <a:ln/>
        </p:spPr>
        <p:txBody>
          <a:bodyPr wrap="none" lIns="0" tIns="0" rIns="0" bIns="0" rtlCol="0" anchor="t"/>
          <a:lstStyle/>
          <a:p>
            <a:pPr algn="ctr" indent="0" marL="0">
              <a:lnSpc>
                <a:spcPts val="1350"/>
              </a:lnSpc>
              <a:buNone/>
            </a:pPr>
            <a:r>
              <a:rPr lang="en-US" sz="1350" b="1" dirty="0">
                <a:solidFill>
                  <a:srgbClr val="F4CAB8"/>
                </a:solidFill>
                <a:latin typeface="Brygada 1918 Bold" pitchFamily="34" charset="0"/>
                <a:ea typeface="Brygada 1918 Bold" pitchFamily="34" charset="-122"/>
                <a:cs typeface="Brygada 1918 Bold" pitchFamily="34" charset="-120"/>
              </a:rPr>
              <a:t>2</a:t>
            </a:r>
            <a:endParaRPr lang="en-US" sz="1350" dirty="0"/>
          </a:p>
        </p:txBody>
      </p:sp>
      <p:sp>
        <p:nvSpPr>
          <p:cNvPr id="20" name="Text 15"/>
          <p:cNvSpPr/>
          <p:nvPr/>
        </p:nvSpPr>
        <p:spPr>
          <a:xfrm>
            <a:off x="5431631" y="3419118"/>
            <a:ext cx="2046565" cy="184904"/>
          </a:xfrm>
          <a:prstGeom prst="rect">
            <a:avLst/>
          </a:prstGeom>
          <a:noFill/>
          <a:ln/>
        </p:spPr>
        <p:txBody>
          <a:bodyPr wrap="none" lIns="0" tIns="0" rIns="0" bIns="0" rtlCol="0" anchor="t"/>
          <a:lstStyle/>
          <a:p>
            <a:pPr algn="l" indent="0" marL="0">
              <a:lnSpc>
                <a:spcPts val="1450"/>
              </a:lnSpc>
              <a:buNone/>
            </a:pPr>
            <a:r>
              <a:rPr lang="en-US" sz="1150" b="1" dirty="0">
                <a:solidFill>
                  <a:srgbClr val="F4CAB8"/>
                </a:solidFill>
                <a:latin typeface="Brygada 1918 Bold" pitchFamily="34" charset="0"/>
                <a:ea typeface="Brygada 1918 Bold" pitchFamily="34" charset="-122"/>
                <a:cs typeface="Brygada 1918 Bold" pitchFamily="34" charset="-120"/>
              </a:rPr>
              <a:t>Platform Team Coordination</a:t>
            </a:r>
            <a:endParaRPr lang="en-US" sz="1150" dirty="0"/>
          </a:p>
        </p:txBody>
      </p:sp>
      <p:sp>
        <p:nvSpPr>
          <p:cNvPr id="21" name="Text 16"/>
          <p:cNvSpPr/>
          <p:nvPr/>
        </p:nvSpPr>
        <p:spPr>
          <a:xfrm>
            <a:off x="5431631" y="3670578"/>
            <a:ext cx="4127778" cy="532567"/>
          </a:xfrm>
          <a:prstGeom prst="rect">
            <a:avLst/>
          </a:prstGeom>
          <a:noFill/>
          <a:ln/>
        </p:spPr>
        <p:txBody>
          <a:bodyPr wrap="square" lIns="0" tIns="0" rIns="0" bIns="0" rtlCol="0" anchor="t"/>
          <a:lstStyle/>
          <a:p>
            <a:pPr algn="l"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Schedule kick-off meeting with Platform team for GCP project provisioning. Review infrastructure requirements and confirm service account creation processes.</a:t>
            </a:r>
            <a:endParaRPr lang="en-US" sz="850" dirty="0"/>
          </a:p>
        </p:txBody>
      </p:sp>
      <p:sp>
        <p:nvSpPr>
          <p:cNvPr id="22" name="Shape 17"/>
          <p:cNvSpPr/>
          <p:nvPr/>
        </p:nvSpPr>
        <p:spPr>
          <a:xfrm>
            <a:off x="9698117" y="3381018"/>
            <a:ext cx="249674" cy="249674"/>
          </a:xfrm>
          <a:prstGeom prst="roundRect">
            <a:avLst>
              <a:gd name="adj" fmla="val 6667"/>
            </a:avLst>
          </a:prstGeom>
          <a:solidFill>
            <a:srgbClr val="4D1529"/>
          </a:solidFill>
          <a:ln/>
        </p:spPr>
      </p:sp>
      <p:sp>
        <p:nvSpPr>
          <p:cNvPr id="23" name="Text 18"/>
          <p:cNvSpPr/>
          <p:nvPr/>
        </p:nvSpPr>
        <p:spPr>
          <a:xfrm>
            <a:off x="9734133" y="3394829"/>
            <a:ext cx="177522" cy="221933"/>
          </a:xfrm>
          <a:prstGeom prst="rect">
            <a:avLst/>
          </a:prstGeom>
          <a:noFill/>
          <a:ln/>
        </p:spPr>
        <p:txBody>
          <a:bodyPr wrap="none" lIns="0" tIns="0" rIns="0" bIns="0" rtlCol="0" anchor="t"/>
          <a:lstStyle/>
          <a:p>
            <a:pPr algn="ctr" indent="0" marL="0">
              <a:lnSpc>
                <a:spcPts val="1350"/>
              </a:lnSpc>
              <a:buNone/>
            </a:pPr>
            <a:r>
              <a:rPr lang="en-US" sz="1350" b="1" dirty="0">
                <a:solidFill>
                  <a:srgbClr val="F4CAB8"/>
                </a:solidFill>
                <a:latin typeface="Brygada 1918 Bold" pitchFamily="34" charset="0"/>
                <a:ea typeface="Brygada 1918 Bold" pitchFamily="34" charset="-122"/>
                <a:cs typeface="Brygada 1918 Bold" pitchFamily="34" charset="-120"/>
              </a:rPr>
              <a:t>3</a:t>
            </a:r>
            <a:endParaRPr lang="en-US" sz="1350" dirty="0"/>
          </a:p>
        </p:txBody>
      </p:sp>
      <p:sp>
        <p:nvSpPr>
          <p:cNvPr id="24" name="Text 19"/>
          <p:cNvSpPr/>
          <p:nvPr/>
        </p:nvSpPr>
        <p:spPr>
          <a:xfrm>
            <a:off x="10058757" y="3419118"/>
            <a:ext cx="1986677" cy="184904"/>
          </a:xfrm>
          <a:prstGeom prst="rect">
            <a:avLst/>
          </a:prstGeom>
          <a:noFill/>
          <a:ln/>
        </p:spPr>
        <p:txBody>
          <a:bodyPr wrap="none" lIns="0" tIns="0" rIns="0" bIns="0" rtlCol="0" anchor="t"/>
          <a:lstStyle/>
          <a:p>
            <a:pPr algn="l" indent="0" marL="0">
              <a:lnSpc>
                <a:spcPts val="1450"/>
              </a:lnSpc>
              <a:buNone/>
            </a:pPr>
            <a:r>
              <a:rPr lang="en-US" sz="1150" b="1" dirty="0">
                <a:solidFill>
                  <a:srgbClr val="F4CAB8"/>
                </a:solidFill>
                <a:latin typeface="Brygada 1918 Bold" pitchFamily="34" charset="0"/>
                <a:ea typeface="Brygada 1918 Bold" pitchFamily="34" charset="-122"/>
                <a:cs typeface="Brygada 1918 Bold" pitchFamily="34" charset="-120"/>
              </a:rPr>
              <a:t>CIO Partnership Agreement</a:t>
            </a:r>
            <a:endParaRPr lang="en-US" sz="1150" dirty="0"/>
          </a:p>
        </p:txBody>
      </p:sp>
      <p:sp>
        <p:nvSpPr>
          <p:cNvPr id="25" name="Text 20"/>
          <p:cNvSpPr/>
          <p:nvPr/>
        </p:nvSpPr>
        <p:spPr>
          <a:xfrm>
            <a:off x="10058757" y="3670578"/>
            <a:ext cx="4127778" cy="532567"/>
          </a:xfrm>
          <a:prstGeom prst="rect">
            <a:avLst/>
          </a:prstGeom>
          <a:noFill/>
          <a:ln/>
        </p:spPr>
        <p:txBody>
          <a:bodyPr wrap="square" lIns="0" tIns="0" rIns="0" bIns="0" rtlCol="0" anchor="t"/>
          <a:lstStyle/>
          <a:p>
            <a:pPr algn="l"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Finalize S3 event routing configuration requirements and document governance policies. Establish ongoing collaboration framework for document lifecycle management.</a:t>
            </a:r>
            <a:endParaRPr lang="en-US" sz="850" dirty="0"/>
          </a:p>
        </p:txBody>
      </p:sp>
      <p:sp>
        <p:nvSpPr>
          <p:cNvPr id="26" name="Text 21"/>
          <p:cNvSpPr/>
          <p:nvPr/>
        </p:nvSpPr>
        <p:spPr>
          <a:xfrm>
            <a:off x="443865" y="4369594"/>
            <a:ext cx="2019776" cy="221813"/>
          </a:xfrm>
          <a:prstGeom prst="rect">
            <a:avLst/>
          </a:prstGeom>
          <a:noFill/>
          <a:ln/>
        </p:spPr>
        <p:txBody>
          <a:bodyPr wrap="none" lIns="0" tIns="0" rIns="0" bIns="0" rtlCol="0" anchor="t"/>
          <a:lstStyle/>
          <a:p>
            <a:pPr algn="l" indent="0" marL="0">
              <a:lnSpc>
                <a:spcPts val="1700"/>
              </a:lnSpc>
              <a:buNone/>
            </a:pPr>
            <a:r>
              <a:rPr lang="en-US" sz="1350" b="1" dirty="0">
                <a:solidFill>
                  <a:srgbClr val="FFB393"/>
                </a:solidFill>
                <a:latin typeface="Brygada 1918 Bold" pitchFamily="34" charset="0"/>
                <a:ea typeface="Brygada 1918 Bold" pitchFamily="34" charset="-122"/>
                <a:cs typeface="Brygada 1918 Bold" pitchFamily="34" charset="-120"/>
              </a:rPr>
              <a:t>Week 1 Success Criteria</a:t>
            </a:r>
            <a:endParaRPr lang="en-US" sz="1350" dirty="0"/>
          </a:p>
        </p:txBody>
      </p:sp>
      <p:sp>
        <p:nvSpPr>
          <p:cNvPr id="27" name="Text 22"/>
          <p:cNvSpPr/>
          <p:nvPr/>
        </p:nvSpPr>
        <p:spPr>
          <a:xfrm>
            <a:off x="2005489" y="5479137"/>
            <a:ext cx="1364933" cy="277416"/>
          </a:xfrm>
          <a:prstGeom prst="rect">
            <a:avLst/>
          </a:prstGeom>
          <a:noFill/>
          <a:ln/>
        </p:spPr>
        <p:txBody>
          <a:bodyPr wrap="none" lIns="0" tIns="0" rIns="0" bIns="0" rtlCol="0" anchor="t"/>
          <a:lstStyle/>
          <a:p>
            <a:pPr algn="ctr" indent="0" marL="0">
              <a:lnSpc>
                <a:spcPts val="2150"/>
              </a:lnSpc>
              <a:buNone/>
            </a:pPr>
            <a:r>
              <a:rPr lang="en-US" sz="2150" b="1" dirty="0">
                <a:solidFill>
                  <a:srgbClr val="F4CAB8"/>
                </a:solidFill>
                <a:latin typeface="Brygada 1918 Bold" pitchFamily="34" charset="0"/>
                <a:ea typeface="Brygada 1918 Bold" pitchFamily="34" charset="-122"/>
                <a:cs typeface="Brygada 1918 Bold" pitchFamily="34" charset="-120"/>
              </a:rPr>
              <a:t>100%</a:t>
            </a:r>
            <a:endParaRPr lang="en-US" sz="2150" dirty="0"/>
          </a:p>
        </p:txBody>
      </p:sp>
      <p:pic>
        <p:nvPicPr>
          <p:cNvPr id="28" name="Image 3" descr="preencoded.png">    </p:cNvPr>
          <p:cNvPicPr>
            <a:picLocks noChangeAspect="1"/>
          </p:cNvPicPr>
          <p:nvPr/>
        </p:nvPicPr>
        <p:blipFill>
          <a:blip r:embed="rId4"/>
          <a:stretch>
            <a:fillRect/>
          </a:stretch>
        </p:blipFill>
        <p:spPr>
          <a:xfrm>
            <a:off x="1855708" y="4785598"/>
            <a:ext cx="1664613" cy="1664613"/>
          </a:xfrm>
          <a:prstGeom prst="rect">
            <a:avLst/>
          </a:prstGeom>
        </p:spPr>
      </p:pic>
      <p:sp>
        <p:nvSpPr>
          <p:cNvPr id="29" name="Text 23"/>
          <p:cNvSpPr/>
          <p:nvPr/>
        </p:nvSpPr>
        <p:spPr>
          <a:xfrm>
            <a:off x="1791533" y="6588919"/>
            <a:ext cx="1793081" cy="184904"/>
          </a:xfrm>
          <a:prstGeom prst="rect">
            <a:avLst/>
          </a:prstGeom>
          <a:noFill/>
          <a:ln/>
        </p:spPr>
        <p:txBody>
          <a:bodyPr wrap="none" lIns="0" tIns="0" rIns="0" bIns="0" rtlCol="0" anchor="t"/>
          <a:lstStyle/>
          <a:p>
            <a:pPr algn="ctr" indent="0" marL="0">
              <a:lnSpc>
                <a:spcPts val="1450"/>
              </a:lnSpc>
              <a:buNone/>
            </a:pPr>
            <a:r>
              <a:rPr lang="en-US" sz="1150" b="1" dirty="0">
                <a:solidFill>
                  <a:srgbClr val="F4CAB8"/>
                </a:solidFill>
                <a:latin typeface="Brygada 1918 Bold" pitchFamily="34" charset="0"/>
                <a:ea typeface="Brygada 1918 Bold" pitchFamily="34" charset="-122"/>
                <a:cs typeface="Brygada 1918 Bold" pitchFamily="34" charset="-120"/>
              </a:rPr>
              <a:t>Infrastructure Readiness</a:t>
            </a:r>
            <a:endParaRPr lang="en-US" sz="1150" dirty="0"/>
          </a:p>
        </p:txBody>
      </p:sp>
      <p:sp>
        <p:nvSpPr>
          <p:cNvPr id="30" name="Text 24"/>
          <p:cNvSpPr/>
          <p:nvPr/>
        </p:nvSpPr>
        <p:spPr>
          <a:xfrm>
            <a:off x="443865" y="6840379"/>
            <a:ext cx="4488418" cy="177522"/>
          </a:xfrm>
          <a:prstGeom prst="rect">
            <a:avLst/>
          </a:prstGeom>
          <a:noFill/>
          <a:ln/>
        </p:spPr>
        <p:txBody>
          <a:bodyPr wrap="none" lIns="0" tIns="0" rIns="0" bIns="0" rtlCol="0" anchor="t"/>
          <a:lstStyle/>
          <a:p>
            <a:pPr algn="ctr"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GCP project provisioned with all required services enabled and configured</a:t>
            </a:r>
            <a:endParaRPr lang="en-US" sz="850" dirty="0"/>
          </a:p>
        </p:txBody>
      </p:sp>
      <p:sp>
        <p:nvSpPr>
          <p:cNvPr id="31" name="Text 25"/>
          <p:cNvSpPr/>
          <p:nvPr/>
        </p:nvSpPr>
        <p:spPr>
          <a:xfrm>
            <a:off x="6632615" y="5479137"/>
            <a:ext cx="1364933" cy="277416"/>
          </a:xfrm>
          <a:prstGeom prst="rect">
            <a:avLst/>
          </a:prstGeom>
          <a:noFill/>
          <a:ln/>
        </p:spPr>
        <p:txBody>
          <a:bodyPr wrap="none" lIns="0" tIns="0" rIns="0" bIns="0" rtlCol="0" anchor="t"/>
          <a:lstStyle/>
          <a:p>
            <a:pPr algn="ctr" indent="0" marL="0">
              <a:lnSpc>
                <a:spcPts val="2150"/>
              </a:lnSpc>
              <a:buNone/>
            </a:pPr>
            <a:r>
              <a:rPr lang="en-US" sz="2150" b="1" dirty="0">
                <a:solidFill>
                  <a:srgbClr val="F4CAB8"/>
                </a:solidFill>
                <a:latin typeface="Brygada 1918 Bold" pitchFamily="34" charset="0"/>
                <a:ea typeface="Brygada 1918 Bold" pitchFamily="34" charset="-122"/>
                <a:cs typeface="Brygada 1918 Bold" pitchFamily="34" charset="-120"/>
              </a:rPr>
              <a:t>5min</a:t>
            </a:r>
            <a:endParaRPr lang="en-US" sz="2150" dirty="0"/>
          </a:p>
        </p:txBody>
      </p:sp>
      <p:pic>
        <p:nvPicPr>
          <p:cNvPr id="32" name="Image 4" descr="preencoded.png">    </p:cNvPr>
          <p:cNvPicPr>
            <a:picLocks noChangeAspect="1"/>
          </p:cNvPicPr>
          <p:nvPr/>
        </p:nvPicPr>
        <p:blipFill>
          <a:blip r:embed="rId5"/>
          <a:stretch>
            <a:fillRect/>
          </a:stretch>
        </p:blipFill>
        <p:spPr>
          <a:xfrm>
            <a:off x="6482834" y="4785598"/>
            <a:ext cx="1664613" cy="1664613"/>
          </a:xfrm>
          <a:prstGeom prst="rect">
            <a:avLst/>
          </a:prstGeom>
        </p:spPr>
      </p:pic>
      <p:sp>
        <p:nvSpPr>
          <p:cNvPr id="33" name="Text 26"/>
          <p:cNvSpPr/>
          <p:nvPr/>
        </p:nvSpPr>
        <p:spPr>
          <a:xfrm>
            <a:off x="6575346" y="6588919"/>
            <a:ext cx="1479590" cy="184904"/>
          </a:xfrm>
          <a:prstGeom prst="rect">
            <a:avLst/>
          </a:prstGeom>
          <a:noFill/>
          <a:ln/>
        </p:spPr>
        <p:txBody>
          <a:bodyPr wrap="none" lIns="0" tIns="0" rIns="0" bIns="0" rtlCol="0" anchor="t"/>
          <a:lstStyle/>
          <a:p>
            <a:pPr algn="ctr" indent="0" marL="0">
              <a:lnSpc>
                <a:spcPts val="1450"/>
              </a:lnSpc>
              <a:buNone/>
            </a:pPr>
            <a:r>
              <a:rPr lang="en-US" sz="1150" b="1" dirty="0">
                <a:solidFill>
                  <a:srgbClr val="F4CAB8"/>
                </a:solidFill>
                <a:latin typeface="Brygada 1918 Bold" pitchFamily="34" charset="0"/>
                <a:ea typeface="Brygada 1918 Bold" pitchFamily="34" charset="-122"/>
                <a:cs typeface="Brygada 1918 Bold" pitchFamily="34" charset="-120"/>
              </a:rPr>
              <a:t>Replication Lag</a:t>
            </a:r>
            <a:endParaRPr lang="en-US" sz="1150" dirty="0"/>
          </a:p>
        </p:txBody>
      </p:sp>
      <p:sp>
        <p:nvSpPr>
          <p:cNvPr id="34" name="Text 27"/>
          <p:cNvSpPr/>
          <p:nvPr/>
        </p:nvSpPr>
        <p:spPr>
          <a:xfrm>
            <a:off x="5070991" y="6840379"/>
            <a:ext cx="4488418" cy="177522"/>
          </a:xfrm>
          <a:prstGeom prst="rect">
            <a:avLst/>
          </a:prstGeom>
          <a:noFill/>
          <a:ln/>
        </p:spPr>
        <p:txBody>
          <a:bodyPr wrap="none" lIns="0" tIns="0" rIns="0" bIns="0" rtlCol="0" anchor="t"/>
          <a:lstStyle/>
          <a:p>
            <a:pPr algn="ctr"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Snowflake replication active with sub-5-minute lag verification</a:t>
            </a:r>
            <a:endParaRPr lang="en-US" sz="850" dirty="0"/>
          </a:p>
        </p:txBody>
      </p:sp>
      <p:sp>
        <p:nvSpPr>
          <p:cNvPr id="35" name="Text 28"/>
          <p:cNvSpPr/>
          <p:nvPr/>
        </p:nvSpPr>
        <p:spPr>
          <a:xfrm>
            <a:off x="11259741" y="5479137"/>
            <a:ext cx="1364933" cy="277416"/>
          </a:xfrm>
          <a:prstGeom prst="rect">
            <a:avLst/>
          </a:prstGeom>
          <a:noFill/>
          <a:ln/>
        </p:spPr>
        <p:txBody>
          <a:bodyPr wrap="none" lIns="0" tIns="0" rIns="0" bIns="0" rtlCol="0" anchor="t"/>
          <a:lstStyle/>
          <a:p>
            <a:pPr algn="ctr" indent="0" marL="0">
              <a:lnSpc>
                <a:spcPts val="2150"/>
              </a:lnSpc>
              <a:buNone/>
            </a:pPr>
            <a:r>
              <a:rPr lang="en-US" sz="2150" b="1" dirty="0">
                <a:solidFill>
                  <a:srgbClr val="F4CAB8"/>
                </a:solidFill>
                <a:latin typeface="Brygada 1918 Bold" pitchFamily="34" charset="0"/>
                <a:ea typeface="Brygada 1918 Bold" pitchFamily="34" charset="-122"/>
                <a:cs typeface="Brygada 1918 Bold" pitchFamily="34" charset="-120"/>
              </a:rPr>
              <a:t>3</a:t>
            </a:r>
            <a:endParaRPr lang="en-US" sz="2150" dirty="0"/>
          </a:p>
        </p:txBody>
      </p:sp>
      <p:pic>
        <p:nvPicPr>
          <p:cNvPr id="36" name="Image 5" descr="preencoded.png">    </p:cNvPr>
          <p:cNvPicPr>
            <a:picLocks noChangeAspect="1"/>
          </p:cNvPicPr>
          <p:nvPr/>
        </p:nvPicPr>
        <p:blipFill>
          <a:blip r:embed="rId6"/>
          <a:stretch>
            <a:fillRect/>
          </a:stretch>
        </p:blipFill>
        <p:spPr>
          <a:xfrm>
            <a:off x="11109960" y="4785598"/>
            <a:ext cx="1664613" cy="1664613"/>
          </a:xfrm>
          <a:prstGeom prst="rect">
            <a:avLst/>
          </a:prstGeom>
        </p:spPr>
      </p:pic>
      <p:sp>
        <p:nvSpPr>
          <p:cNvPr id="37" name="Text 29"/>
          <p:cNvSpPr/>
          <p:nvPr/>
        </p:nvSpPr>
        <p:spPr>
          <a:xfrm>
            <a:off x="11202472" y="6588919"/>
            <a:ext cx="1479590" cy="184904"/>
          </a:xfrm>
          <a:prstGeom prst="rect">
            <a:avLst/>
          </a:prstGeom>
          <a:noFill/>
          <a:ln/>
        </p:spPr>
        <p:txBody>
          <a:bodyPr wrap="none" lIns="0" tIns="0" rIns="0" bIns="0" rtlCol="0" anchor="t"/>
          <a:lstStyle/>
          <a:p>
            <a:pPr algn="ctr" indent="0" marL="0">
              <a:lnSpc>
                <a:spcPts val="1450"/>
              </a:lnSpc>
              <a:buNone/>
            </a:pPr>
            <a:r>
              <a:rPr lang="en-US" sz="1150" b="1" dirty="0">
                <a:solidFill>
                  <a:srgbClr val="F4CAB8"/>
                </a:solidFill>
                <a:latin typeface="Brygada 1918 Bold" pitchFamily="34" charset="0"/>
                <a:ea typeface="Brygada 1918 Bold" pitchFamily="34" charset="-122"/>
                <a:cs typeface="Brygada 1918 Bold" pitchFamily="34" charset="-120"/>
              </a:rPr>
              <a:t>Team Integration</a:t>
            </a:r>
            <a:endParaRPr lang="en-US" sz="1150" dirty="0"/>
          </a:p>
        </p:txBody>
      </p:sp>
      <p:sp>
        <p:nvSpPr>
          <p:cNvPr id="38" name="Text 30"/>
          <p:cNvSpPr/>
          <p:nvPr/>
        </p:nvSpPr>
        <p:spPr>
          <a:xfrm>
            <a:off x="9698117" y="6840379"/>
            <a:ext cx="4488418" cy="177522"/>
          </a:xfrm>
          <a:prstGeom prst="rect">
            <a:avLst/>
          </a:prstGeom>
          <a:noFill/>
          <a:ln/>
        </p:spPr>
        <p:txBody>
          <a:bodyPr wrap="none" lIns="0" tIns="0" rIns="0" bIns="0" rtlCol="0" anchor="t"/>
          <a:lstStyle/>
          <a:p>
            <a:pPr algn="ctr"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Platform, EDS, and CIO teams aligned with clear communication channels</a:t>
            </a:r>
            <a:endParaRPr lang="en-US" sz="850" dirty="0"/>
          </a:p>
        </p:txBody>
      </p:sp>
      <p:sp>
        <p:nvSpPr>
          <p:cNvPr id="39" name="Text 31"/>
          <p:cNvSpPr/>
          <p:nvPr/>
        </p:nvSpPr>
        <p:spPr>
          <a:xfrm>
            <a:off x="610314" y="7267456"/>
            <a:ext cx="13576221" cy="177522"/>
          </a:xfrm>
          <a:prstGeom prst="rect">
            <a:avLst/>
          </a:prstGeom>
          <a:noFill/>
          <a:ln/>
        </p:spPr>
        <p:txBody>
          <a:bodyPr wrap="none" lIns="0" tIns="0" rIns="0" bIns="0" rtlCol="0" anchor="t"/>
          <a:lstStyle/>
          <a:p>
            <a:pPr algn="l" indent="0" marL="0">
              <a:lnSpc>
                <a:spcPts val="1350"/>
              </a:lnSpc>
              <a:buNone/>
            </a:pPr>
            <a:r>
              <a:rPr lang="en-US" sz="850" b="1" dirty="0">
                <a:solidFill>
                  <a:srgbClr val="FFB393"/>
                </a:solidFill>
                <a:latin typeface="Montserrat Medium" pitchFamily="34" charset="0"/>
                <a:ea typeface="Montserrat Medium" pitchFamily="34" charset="-122"/>
                <a:cs typeface="Montserrat Medium" pitchFamily="34" charset="-120"/>
              </a:rPr>
              <a:t>Commitment Required:</a:t>
            </a:r>
            <a:pPr algn="l" indent="0" marL="0">
              <a:lnSpc>
                <a:spcPts val="1350"/>
              </a:lnSpc>
              <a:buNone/>
            </a:pPr>
            <a:r>
              <a:rPr lang="en-US" sz="850" dirty="0">
                <a:solidFill>
                  <a:srgbClr val="F4CAB8"/>
                </a:solidFill>
                <a:latin typeface="Montserrat Medium" pitchFamily="34" charset="0"/>
                <a:ea typeface="Montserrat Medium" pitchFamily="34" charset="-122"/>
                <a:cs typeface="Montserrat Medium" pitchFamily="34" charset="-120"/>
              </a:rPr>
              <a:t> Success depends on immediate stakeholder alignment and resource commitment. Delays in decision-making directly impact 8-week delivery timeline and pilot DS team integration schedule.</a:t>
            </a:r>
            <a:endParaRPr lang="en-US" sz="850" dirty="0"/>
          </a:p>
        </p:txBody>
      </p:sp>
      <p:sp>
        <p:nvSpPr>
          <p:cNvPr id="40" name="Shape 32"/>
          <p:cNvSpPr/>
          <p:nvPr/>
        </p:nvSpPr>
        <p:spPr>
          <a:xfrm>
            <a:off x="443865" y="7142678"/>
            <a:ext cx="15240" cy="427077"/>
          </a:xfrm>
          <a:prstGeom prst="rect">
            <a:avLst/>
          </a:prstGeom>
          <a:solidFill>
            <a:srgbClr val="FFB393"/>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49260" y="1588532"/>
            <a:ext cx="4995743" cy="624483"/>
          </a:xfrm>
          <a:prstGeom prst="rect">
            <a:avLst/>
          </a:prstGeom>
          <a:noFill/>
          <a:ln/>
        </p:spPr>
        <p:txBody>
          <a:bodyPr wrap="none" lIns="0" tIns="0" rIns="0" bIns="0" rtlCol="0" anchor="t"/>
          <a:lstStyle/>
          <a:p>
            <a:pPr algn="l" indent="0" marL="0">
              <a:lnSpc>
                <a:spcPts val="4900"/>
              </a:lnSpc>
              <a:buNone/>
            </a:pPr>
            <a:r>
              <a:rPr lang="en-US" sz="3900" b="1" dirty="0">
                <a:solidFill>
                  <a:srgbClr val="FFB393"/>
                </a:solidFill>
                <a:latin typeface="Brygada 1918 Bold" pitchFamily="34" charset="0"/>
                <a:ea typeface="Brygada 1918 Bold" pitchFamily="34" charset="-122"/>
                <a:cs typeface="Brygada 1918 Bold" pitchFamily="34" charset="-120"/>
              </a:rPr>
              <a:t>Key Takeaways</a:t>
            </a:r>
            <a:endParaRPr lang="en-US" sz="3900" dirty="0"/>
          </a:p>
        </p:txBody>
      </p:sp>
      <p:sp>
        <p:nvSpPr>
          <p:cNvPr id="3" name="Text 1"/>
          <p:cNvSpPr/>
          <p:nvPr/>
        </p:nvSpPr>
        <p:spPr>
          <a:xfrm>
            <a:off x="749260" y="2587585"/>
            <a:ext cx="13131879" cy="599123"/>
          </a:xfrm>
          <a:prstGeom prst="rect">
            <a:avLst/>
          </a:prstGeom>
          <a:noFill/>
          <a:ln/>
        </p:spPr>
        <p:txBody>
          <a:bodyPr wrap="square" lIns="0" tIns="0" rIns="0" bIns="0" rtlCol="0" anchor="t"/>
          <a:lstStyle/>
          <a:p>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Our proposed EDS AI Data Platform architecture delivers a robust, scalable, and secure foundation for advanced data analytics and AI/ML initiatives. Success hinges on a clear path forward and immediate collaboration.</a:t>
            </a:r>
            <a:endParaRPr lang="en-US" sz="1450" dirty="0"/>
          </a:p>
        </p:txBody>
      </p:sp>
      <p:pic>
        <p:nvPicPr>
          <p:cNvPr id="4" name="Image 0" descr="preencoded.png">    </p:cNvPr>
          <p:cNvPicPr>
            <a:picLocks noChangeAspect="1"/>
          </p:cNvPicPr>
          <p:nvPr/>
        </p:nvPicPr>
        <p:blipFill>
          <a:blip r:embed="rId1"/>
          <a:stretch>
            <a:fillRect/>
          </a:stretch>
        </p:blipFill>
        <p:spPr>
          <a:xfrm>
            <a:off x="749260" y="3397448"/>
            <a:ext cx="468273" cy="468273"/>
          </a:xfrm>
          <a:prstGeom prst="rect">
            <a:avLst/>
          </a:prstGeom>
        </p:spPr>
      </p:pic>
      <p:sp>
        <p:nvSpPr>
          <p:cNvPr id="5" name="Text 2"/>
          <p:cNvSpPr/>
          <p:nvPr/>
        </p:nvSpPr>
        <p:spPr>
          <a:xfrm>
            <a:off x="1451610" y="3508653"/>
            <a:ext cx="2497812" cy="312182"/>
          </a:xfrm>
          <a:prstGeom prst="rect">
            <a:avLst/>
          </a:prstGeom>
          <a:noFill/>
          <a:ln/>
        </p:spPr>
        <p:txBody>
          <a:bodyPr wrap="none" lIns="0" tIns="0" rIns="0" bIns="0" rtlCol="0" anchor="t"/>
          <a:lstStyle/>
          <a:p>
            <a:pPr algn="l" indent="0" marL="0">
              <a:lnSpc>
                <a:spcPts val="2450"/>
              </a:lnSpc>
              <a:buNone/>
            </a:pPr>
            <a:r>
              <a:rPr lang="en-US" sz="1950" b="1" dirty="0">
                <a:solidFill>
                  <a:srgbClr val="F4CAB8"/>
                </a:solidFill>
                <a:latin typeface="Brygada 1918 Bold" pitchFamily="34" charset="0"/>
                <a:ea typeface="Brygada 1918 Bold" pitchFamily="34" charset="-122"/>
                <a:cs typeface="Brygada 1918 Bold" pitchFamily="34" charset="-120"/>
              </a:rPr>
              <a:t>Robust Architecture</a:t>
            </a:r>
            <a:endParaRPr lang="en-US" sz="1950" dirty="0"/>
          </a:p>
        </p:txBody>
      </p:sp>
      <p:sp>
        <p:nvSpPr>
          <p:cNvPr id="6" name="Text 3"/>
          <p:cNvSpPr/>
          <p:nvPr/>
        </p:nvSpPr>
        <p:spPr>
          <a:xfrm>
            <a:off x="1451610" y="3933230"/>
            <a:ext cx="5746552" cy="898684"/>
          </a:xfrm>
          <a:prstGeom prst="rect">
            <a:avLst/>
          </a:prstGeom>
          <a:noFill/>
          <a:ln/>
        </p:spPr>
        <p:txBody>
          <a:bodyPr wrap="square" lIns="0" tIns="0" rIns="0" bIns="0" rtlCol="0" anchor="t"/>
          <a:lstStyle/>
          <a:p>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A comprehensive platform leveraging proven GCP and Snowflake technologies to ensure scalability, reliability, and security for all data needs.</a:t>
            </a:r>
            <a:endParaRPr lang="en-US" sz="1450" dirty="0"/>
          </a:p>
        </p:txBody>
      </p:sp>
      <p:pic>
        <p:nvPicPr>
          <p:cNvPr id="7" name="Image 1" descr="preencoded.png">    </p:cNvPr>
          <p:cNvPicPr>
            <a:picLocks noChangeAspect="1"/>
          </p:cNvPicPr>
          <p:nvPr/>
        </p:nvPicPr>
        <p:blipFill>
          <a:blip r:embed="rId2"/>
          <a:stretch>
            <a:fillRect/>
          </a:stretch>
        </p:blipFill>
        <p:spPr>
          <a:xfrm>
            <a:off x="7432238" y="3397448"/>
            <a:ext cx="468273" cy="468273"/>
          </a:xfrm>
          <a:prstGeom prst="rect">
            <a:avLst/>
          </a:prstGeom>
        </p:spPr>
      </p:pic>
      <p:sp>
        <p:nvSpPr>
          <p:cNvPr id="8" name="Text 4"/>
          <p:cNvSpPr/>
          <p:nvPr/>
        </p:nvSpPr>
        <p:spPr>
          <a:xfrm>
            <a:off x="8134588" y="3508653"/>
            <a:ext cx="2497812" cy="312182"/>
          </a:xfrm>
          <a:prstGeom prst="rect">
            <a:avLst/>
          </a:prstGeom>
          <a:noFill/>
          <a:ln/>
        </p:spPr>
        <p:txBody>
          <a:bodyPr wrap="none" lIns="0" tIns="0" rIns="0" bIns="0" rtlCol="0" anchor="t"/>
          <a:lstStyle/>
          <a:p>
            <a:pPr algn="l" indent="0" marL="0">
              <a:lnSpc>
                <a:spcPts val="2450"/>
              </a:lnSpc>
              <a:buNone/>
            </a:pPr>
            <a:r>
              <a:rPr lang="en-US" sz="1950" b="1" dirty="0">
                <a:solidFill>
                  <a:srgbClr val="F4CAB8"/>
                </a:solidFill>
                <a:latin typeface="Brygada 1918 Bold" pitchFamily="34" charset="0"/>
                <a:ea typeface="Brygada 1918 Bold" pitchFamily="34" charset="-122"/>
                <a:cs typeface="Brygada 1918 Bold" pitchFamily="34" charset="-120"/>
              </a:rPr>
              <a:t>Accelerated Delivery</a:t>
            </a:r>
            <a:endParaRPr lang="en-US" sz="1950" dirty="0"/>
          </a:p>
        </p:txBody>
      </p:sp>
      <p:sp>
        <p:nvSpPr>
          <p:cNvPr id="9" name="Text 5"/>
          <p:cNvSpPr/>
          <p:nvPr/>
        </p:nvSpPr>
        <p:spPr>
          <a:xfrm>
            <a:off x="8134588" y="3933230"/>
            <a:ext cx="5746552" cy="898684"/>
          </a:xfrm>
          <a:prstGeom prst="rect">
            <a:avLst/>
          </a:prstGeom>
          <a:noFill/>
          <a:ln/>
        </p:spPr>
        <p:txBody>
          <a:bodyPr wrap="square" lIns="0" tIns="0" rIns="0" bIns="0" rtlCol="0" anchor="t"/>
          <a:lstStyle/>
          <a:p>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An 8-week phased implementation timeline ensures rapid deployment, continuous validation, and integration of critical components with minimal risk.</a:t>
            </a:r>
            <a:endParaRPr lang="en-US" sz="1450" dirty="0"/>
          </a:p>
        </p:txBody>
      </p:sp>
      <p:pic>
        <p:nvPicPr>
          <p:cNvPr id="10" name="Image 2" descr="preencoded.png">    </p:cNvPr>
          <p:cNvPicPr>
            <a:picLocks noChangeAspect="1"/>
          </p:cNvPicPr>
          <p:nvPr/>
        </p:nvPicPr>
        <p:blipFill>
          <a:blip r:embed="rId3"/>
          <a:stretch>
            <a:fillRect/>
          </a:stretch>
        </p:blipFill>
        <p:spPr>
          <a:xfrm>
            <a:off x="749260" y="5206484"/>
            <a:ext cx="468273" cy="468273"/>
          </a:xfrm>
          <a:prstGeom prst="rect">
            <a:avLst/>
          </a:prstGeom>
        </p:spPr>
      </p:pic>
      <p:sp>
        <p:nvSpPr>
          <p:cNvPr id="11" name="Text 6"/>
          <p:cNvSpPr/>
          <p:nvPr/>
        </p:nvSpPr>
        <p:spPr>
          <a:xfrm>
            <a:off x="1451610" y="5317688"/>
            <a:ext cx="2497812" cy="312182"/>
          </a:xfrm>
          <a:prstGeom prst="rect">
            <a:avLst/>
          </a:prstGeom>
          <a:noFill/>
          <a:ln/>
        </p:spPr>
        <p:txBody>
          <a:bodyPr wrap="none" lIns="0" tIns="0" rIns="0" bIns="0" rtlCol="0" anchor="t"/>
          <a:lstStyle/>
          <a:p>
            <a:pPr algn="l" indent="0" marL="0">
              <a:lnSpc>
                <a:spcPts val="2450"/>
              </a:lnSpc>
              <a:buNone/>
            </a:pPr>
            <a:r>
              <a:rPr lang="en-US" sz="1950" b="1" dirty="0">
                <a:solidFill>
                  <a:srgbClr val="F4CAB8"/>
                </a:solidFill>
                <a:latin typeface="Brygada 1918 Bold" pitchFamily="34" charset="0"/>
                <a:ea typeface="Brygada 1918 Bold" pitchFamily="34" charset="-122"/>
                <a:cs typeface="Brygada 1918 Bold" pitchFamily="34" charset="-120"/>
              </a:rPr>
              <a:t>Empowering AI/ML</a:t>
            </a:r>
            <a:endParaRPr lang="en-US" sz="1950" dirty="0"/>
          </a:p>
        </p:txBody>
      </p:sp>
      <p:sp>
        <p:nvSpPr>
          <p:cNvPr id="12" name="Text 7"/>
          <p:cNvSpPr/>
          <p:nvPr/>
        </p:nvSpPr>
        <p:spPr>
          <a:xfrm>
            <a:off x="1451610" y="5742265"/>
            <a:ext cx="5746552" cy="898684"/>
          </a:xfrm>
          <a:prstGeom prst="rect">
            <a:avLst/>
          </a:prstGeom>
          <a:noFill/>
          <a:ln/>
        </p:spPr>
        <p:txBody>
          <a:bodyPr wrap="square" lIns="0" tIns="0" rIns="0" bIns="0" rtlCol="0" anchor="t"/>
          <a:lstStyle/>
          <a:p>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The platform unlocks powerful capabilities for data science teams, enabling faster experimentation, model training, and deployment of AI-driven solutions.</a:t>
            </a:r>
            <a:endParaRPr lang="en-US" sz="1450" dirty="0"/>
          </a:p>
        </p:txBody>
      </p:sp>
      <p:pic>
        <p:nvPicPr>
          <p:cNvPr id="13" name="Image 3" descr="preencoded.png">    </p:cNvPr>
          <p:cNvPicPr>
            <a:picLocks noChangeAspect="1"/>
          </p:cNvPicPr>
          <p:nvPr/>
        </p:nvPicPr>
        <p:blipFill>
          <a:blip r:embed="rId4"/>
          <a:stretch>
            <a:fillRect/>
          </a:stretch>
        </p:blipFill>
        <p:spPr>
          <a:xfrm>
            <a:off x="7432238" y="5206484"/>
            <a:ext cx="468273" cy="468273"/>
          </a:xfrm>
          <a:prstGeom prst="rect">
            <a:avLst/>
          </a:prstGeom>
        </p:spPr>
      </p:pic>
      <p:sp>
        <p:nvSpPr>
          <p:cNvPr id="14" name="Text 8"/>
          <p:cNvSpPr/>
          <p:nvPr/>
        </p:nvSpPr>
        <p:spPr>
          <a:xfrm>
            <a:off x="8134588" y="5317688"/>
            <a:ext cx="2611874" cy="312182"/>
          </a:xfrm>
          <a:prstGeom prst="rect">
            <a:avLst/>
          </a:prstGeom>
          <a:noFill/>
          <a:ln/>
        </p:spPr>
        <p:txBody>
          <a:bodyPr wrap="none" lIns="0" tIns="0" rIns="0" bIns="0" rtlCol="0" anchor="t"/>
          <a:lstStyle/>
          <a:p>
            <a:pPr algn="l" indent="0" marL="0">
              <a:lnSpc>
                <a:spcPts val="2450"/>
              </a:lnSpc>
              <a:buNone/>
            </a:pPr>
            <a:r>
              <a:rPr lang="en-US" sz="1950" b="1" dirty="0">
                <a:solidFill>
                  <a:srgbClr val="F4CAB8"/>
                </a:solidFill>
                <a:latin typeface="Brygada 1918 Bold" pitchFamily="34" charset="0"/>
                <a:ea typeface="Brygada 1918 Bold" pitchFamily="34" charset="-122"/>
                <a:cs typeface="Brygada 1918 Bold" pitchFamily="34" charset="-120"/>
              </a:rPr>
              <a:t>Collaborative Success</a:t>
            </a:r>
            <a:endParaRPr lang="en-US" sz="1950" dirty="0"/>
          </a:p>
        </p:txBody>
      </p:sp>
      <p:sp>
        <p:nvSpPr>
          <p:cNvPr id="15" name="Text 9"/>
          <p:cNvSpPr/>
          <p:nvPr/>
        </p:nvSpPr>
        <p:spPr>
          <a:xfrm>
            <a:off x="8134588" y="5742265"/>
            <a:ext cx="5746552" cy="898684"/>
          </a:xfrm>
          <a:prstGeom prst="rect">
            <a:avLst/>
          </a:prstGeom>
          <a:noFill/>
          <a:ln/>
        </p:spPr>
        <p:txBody>
          <a:bodyPr wrap="square" lIns="0" tIns="0" rIns="0" bIns="0" rtlCol="0" anchor="t"/>
          <a:lstStyle/>
          <a:p>
            <a:pPr algn="l" indent="0" marL="0">
              <a:lnSpc>
                <a:spcPts val="2350"/>
              </a:lnSpc>
              <a:buNone/>
            </a:pPr>
            <a:r>
              <a:rPr lang="en-US" sz="1450" dirty="0">
                <a:solidFill>
                  <a:srgbClr val="F4CAB8"/>
                </a:solidFill>
                <a:latin typeface="Montserrat Medium" pitchFamily="34" charset="0"/>
                <a:ea typeface="Montserrat Medium" pitchFamily="34" charset="-122"/>
                <a:cs typeface="Montserrat Medium" pitchFamily="34" charset="-120"/>
              </a:rPr>
              <a:t>Achieving our goals requires immediate resource commitment and strong partnership across EDS, CIO, and Platform teams for seamless execution.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2025-10-01T17:30:21Z</dcterms:created>
  <dcterms:modified xsi:type="dcterms:W3CDTF">2025-10-01T17:30:21Z</dcterms:modified>
</cp:coreProperties>
</file>